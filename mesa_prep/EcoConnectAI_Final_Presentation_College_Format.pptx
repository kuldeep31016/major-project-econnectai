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9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9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
  </p:notesMasterIdLst>
  <p:sldIdLst>
    <p:sldId id="257" r:id="rId5"/>
    <p:sldId id="258" r:id="rId3"/>
    <p:sldId id="259" r:id="rId2"/>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56" r:id="rId4"/>
    <p:sldId id="280" r:id="rId31"/>
    <p:sldId id="281" r:id="rId3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13" autoAdjust="0"/>
    <p:restoredTop sz="94769" autoAdjust="0"/>
  </p:normalViewPr>
  <p:slideViewPr>
    <p:cSldViewPr>
      <p:cViewPr varScale="1">
        <p:scale>
          <a:sx n="106" d="100"/>
          <a:sy n="106" d="100"/>
        </p:scale>
        <p:origin x="1840" y="184"/>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4.xml"/><Relationship Id="rId3" Type="http://schemas.openxmlformats.org/officeDocument/2006/relationships/slide" Target="slides/slide3.xml"/><Relationship Id="rId4" Type="http://schemas.openxmlformats.org/officeDocument/2006/relationships/slide" Target="slides/slide999.xml"/><Relationship Id="rId5" Type="http://schemas.openxmlformats.org/officeDocument/2006/relationships/slide" Target="slides/slide2.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Test IoU</c:v>
                </c:pt>
              </c:strCache>
            </c:strRef>
          </c:tx>
          <c:spPr>
            <a:solidFill>
              <a:srgbClr val="0D3889"/>
            </a:solidFill>
          </c:spPr>
          <c:dLbls>
            <c:numFmt formatCode="0.000" sourceLinked="0"/>
            <c:txPr>
              <a:bodyPr/>
              <a:lstStyle/>
              <a:p>
                <a:pPr>
                  <a:defRPr sz="1000" b="1"/>
                </a:pPr>
              </a:p>
            </c:txPr>
            <c:dLblPos val="outEnd"/>
            <c:showLegendKey val="0"/>
            <c:showVal val="1"/>
            <c:showCatName val="0"/>
            <c:showSerName val="0"/>
            <c:showPercent val="0"/>
            <c:showBubbleSize val="0"/>
            <c:showLeaderLines val="1"/>
          </c:dLbls>
          <c:cat>
            <c:strRef>
              <c:f>Sheet1!$A$2:$A$5</c:f>
              <c:strCache>
                <c:ptCount val="4"/>
                <c:pt idx="0">
                  <c:v>4 areas · radar</c:v>
                </c:pt>
                <c:pt idx="1">
                  <c:v>Kerala · radar</c:v>
                </c:pt>
                <c:pt idx="2">
                  <c:v>Kerala · optical</c:v>
                </c:pt>
                <c:pt idx="3">
                  <c:v>Kerala · radar+optical</c:v>
                </c:pt>
              </c:strCache>
            </c:strRef>
          </c:cat>
          <c:val>
            <c:numRef>
              <c:f>Sheet1!$B$2:$B$5</c:f>
              <c:numCache>
                <c:formatCode>General</c:formatCode>
                <c:ptCount val="4"/>
                <c:pt idx="0">
                  <c:v>0.842</c:v>
                </c:pt>
                <c:pt idx="1">
                  <c:v>0.023</c:v>
                </c:pt>
                <c:pt idx="2">
                  <c:v>0.054</c:v>
                </c:pt>
                <c:pt idx="3">
                  <c:v>0.053</c:v>
                </c:pt>
              </c:numCache>
            </c:numRef>
          </c:val>
        </c:ser>
        <c:axId val="-2068027336"/>
        <c:axId val="-2113994440"/>
      </c:barChart>
      <c:catAx>
        <c:axId val="-2068027336"/>
        <c:scaling>
          <c:orientation val="maxMin"/>
        </c:scaling>
        <c:delete val="0"/>
        <c:axPos val="l"/>
        <c:majorTickMark val="out"/>
        <c:minorTickMark val="none"/>
        <c:tickLblPos val="nextTo"/>
        <c:spPr>
          <a:ln>
            <a:solidFill>
              <a:srgbClr val="C9D3E6"/>
            </a:solidFill>
          </a:ln>
        </c:spPr>
        <c:txPr>
          <a:bodyPr/>
          <a:lstStyle/>
          <a:p>
            <a:pPr>
              <a:defRPr sz="1000"/>
            </a:pPr>
          </a:p>
        </c:txPr>
        <c:crossAx val="-2113994440"/>
        <c:crosses val="autoZero"/>
        <c:auto val="1"/>
        <c:lblAlgn val="ctr"/>
        <c:lblOffset val="100"/>
        <c:noMultiLvlLbl val="0"/>
      </c:catAx>
      <c:valAx>
        <c:axId val="-2113994440"/>
        <c:scaling>
          <c:max val="1.0"/>
          <c:min val="0.0"/>
        </c:scaling>
        <c:delete/>
        <c:axPos val="b"/>
        <c:majorTickMark val="out"/>
        <c:minorTickMark val="none"/>
        <c:tickLblPos val="nextTo"/>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Habitat lost (%)</c:v>
                </c:pt>
              </c:strCache>
            </c:strRef>
          </c:tx>
          <c:spPr>
            <a:solidFill>
              <a:srgbClr val="5A6370"/>
            </a:solidFill>
          </c:spPr>
          <c:dLbls>
            <c:numFmt formatCode="0.0&quot;%&quot;" sourceLinked="0"/>
            <c:txPr>
              <a:bodyPr/>
              <a:lstStyle/>
              <a:p>
                <a:pPr>
                  <a:defRPr sz="1000" b="1"/>
                </a:pPr>
              </a:p>
            </c:txPr>
            <c:dLblPos val="outEnd"/>
            <c:showLegendKey val="0"/>
            <c:showVal val="1"/>
            <c:showCatName val="0"/>
            <c:showSerName val="0"/>
            <c:showPercent val="0"/>
            <c:showBubbleSize val="0"/>
            <c:showLeaderLines val="1"/>
          </c:dLbls>
          <c:cat>
            <c:strRef>
              <c:f>Sheet1!$A$2:$A$3</c:f>
              <c:strCache>
                <c:ptCount val="2"/>
                <c:pt idx="0">
                  <c:v>Remove P17 (3.1 ha)</c:v>
                </c:pt>
                <c:pt idx="1">
                  <c:v>Remove P01 (35.1 ha)</c:v>
                </c:pt>
              </c:strCache>
            </c:strRef>
          </c:cat>
          <c:val>
            <c:numRef>
              <c:f>Sheet1!$B$2:$B$3</c:f>
              <c:numCache>
                <c:formatCode>General</c:formatCode>
                <c:ptCount val="2"/>
                <c:pt idx="0">
                  <c:v>1.4</c:v>
                </c:pt>
                <c:pt idx="1">
                  <c:v>16.0</c:v>
                </c:pt>
              </c:numCache>
            </c:numRef>
          </c:val>
        </c:ser>
        <c:ser>
          <c:idx val="1"/>
          <c:order val="1"/>
          <c:tx>
            <c:strRef>
              <c:f>Sheet1!$C$1</c:f>
              <c:strCache>
                <c:ptCount val="1"/>
                <c:pt idx="0">
                  <c:v>Connectivity lost (%)</c:v>
                </c:pt>
              </c:strCache>
            </c:strRef>
          </c:tx>
          <c:spPr>
            <a:solidFill>
              <a:srgbClr val="D96A2B"/>
            </a:solidFill>
          </c:spPr>
          <c:dLbls>
            <c:numFmt formatCode="0.0&quot;%&quot;" sourceLinked="0"/>
            <c:txPr>
              <a:bodyPr/>
              <a:lstStyle/>
              <a:p>
                <a:pPr>
                  <a:defRPr sz="1000" b="1"/>
                </a:pPr>
              </a:p>
            </c:txPr>
            <c:dLblPos val="outEnd"/>
            <c:showLegendKey val="0"/>
            <c:showVal val="1"/>
            <c:showCatName val="0"/>
            <c:showSerName val="0"/>
            <c:showPercent val="0"/>
            <c:showBubbleSize val="0"/>
            <c:showLeaderLines val="1"/>
          </c:dLbls>
          <c:cat>
            <c:strRef>
              <c:f>Sheet1!$A$2:$A$3</c:f>
              <c:strCache>
                <c:ptCount val="2"/>
                <c:pt idx="0">
                  <c:v>Remove P17 (3.1 ha)</c:v>
                </c:pt>
                <c:pt idx="1">
                  <c:v>Remove P01 (35.1 ha)</c:v>
                </c:pt>
              </c:strCache>
            </c:strRef>
          </c:cat>
          <c:val>
            <c:numRef>
              <c:f>Sheet1!$C$2:$C$3</c:f>
              <c:numCache>
                <c:formatCode>General</c:formatCode>
                <c:ptCount val="2"/>
                <c:pt idx="0">
                  <c:v>27.0</c:v>
                </c:pt>
                <c:pt idx="1">
                  <c:v>30.7</c:v>
                </c:pt>
              </c:numCache>
            </c:numRef>
          </c:val>
        </c:ser>
        <c:axId val="-2068027336"/>
        <c:axId val="-2113994440"/>
      </c:barChart>
      <c:catAx>
        <c:axId val="-2068027336"/>
        <c:scaling>
          <c:orientation val="minMax"/>
        </c:scaling>
        <c:delete val="0"/>
        <c:axPos val="b"/>
        <c:majorTickMark val="out"/>
        <c:minorTickMark val="none"/>
        <c:tickLblPos val="nextTo"/>
        <c:spPr>
          <a:ln>
            <a:solidFill>
              <a:srgbClr val="C9D3E6"/>
            </a:solidFill>
          </a:ln>
        </c:spPr>
        <c:txPr>
          <a:bodyPr/>
          <a:lstStyle/>
          <a:p>
            <a:pPr>
              <a:defRPr sz="1000"/>
            </a:pPr>
          </a:p>
        </c:txPr>
        <c:crossAx val="-2113994440"/>
        <c:crosses val="autoZero"/>
        <c:auto val="1"/>
        <c:lblAlgn val="ctr"/>
        <c:lblOffset val="100"/>
        <c:noMultiLvlLbl val="0"/>
      </c:catAx>
      <c:valAx>
        <c:axId val="-2113994440"/>
        <c:scaling>
          <c:max val="36.0"/>
        </c:scaling>
        <c:delete/>
        <c:axPos val="l"/>
        <c:majorTickMark val="out"/>
        <c:minorTickMark val="none"/>
        <c:tickLblPos val="nextTo"/>
        <c:crossAx val="-2068027336"/>
        <c:crosses val="autoZero"/>
      </c:valAx>
    </c:plotArea>
    <c:legend>
      <c:legendPos val="b"/>
      <c:overlay val="0"/>
      <c:txPr>
        <a:bodyPr/>
        <a:lstStyle/>
        <a:p>
          <a:pPr>
            <a:defRPr sz="10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F083DEC-4FB4-854B-9C86-E75863D8048E}" type="datetimeFigureOut">
              <a:rPr lang="en-US" smtClean="0"/>
              <a:pPr/>
              <a:t>9/22/26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1D4B63CF-BC74-BB4F-BE74-3DD12509833F}" type="slidenum">
              <a:rPr lang="en-US" smtClean="0"/>
              <a:pPr/>
              <a:t>‹#›</a:t>
            </a:fld>
            <a:endParaRPr lang="en-US"/>
          </a:p>
        </p:txBody>
      </p:sp>
    </p:spTree>
    <p:extLst>
      <p:ext uri="{BB962C8B-B14F-4D97-AF65-F5344CB8AC3E}">
        <p14:creationId xmlns:p14="http://schemas.microsoft.com/office/powerpoint/2010/main" val="2569720237"/>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9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9.xml"/></Relationship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project is EcoConnectAI — a tool that uses satellite images and AI to find mangrove habitat and then works out which habitat patches matter most for keeping the coastal ecosystem connected.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Problem: maps show where mangroves are, not which patches matter. Our solution: detect mangroves from radar images, turn them into a network of patches, and test what is lost if each patch disappears. Key result: our development model reaches IoU 0.842 against reference labels, and a 3.1-hectare patch turned out to be one of the most important in Kerala.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survey part 1 of 7 — Mangrove &amp; habitat mapping. For each paper: what they did, what they found, and what is missing that our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survey part 2 of 7 — Deep-learning segmentation models. For each paper: what they did, what they found, and what is missing that our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survey part 3 of 7 — Transformers &amp; change detection. For each paper: what they did, what they found, and what is missing that our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survey part 4 of 7 — Graph-based landscape connectivity. For each paper: what they did, what they found, and what is missing that our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survey part 5 of 7 — Connectivity indices. For each paper: what they did, what they found, and what is missing that our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survey part 6 of 7 — Graph learning on networks. For each paper: what they did, what they found, and what is missing that our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Literature survey part 7 of 7 — Explainable AI in remote sensing. For each paper: what they did, what they found, and what is missing that our project addresses.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problem: finding where mangroves are is not enough. Our objectives: detect the habitat, split it into patches, find the important connecting patches, and support protection and restoration decisions.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 habitat is studied with tools like Google Earth Engine, ArcGIS or QGIS: an expert processes the images and produces a static habitat map such as Global Mangrove Watch. This answers where the mangroves are, but not which patches matter.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drawbacks: existing tools show location but not importance, cannot run what-if tests, do not rank restoration sites, need GIS experts, depend on cloud-free optical images, and give no explanation or link to field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the analysis flow from satellite data to the web dashboard. Bottom: the software — Python and PyTorch for the AI, a FastAPI backend with a SQLite database, and a Next.js/React frontend with a Leaflet map and a React Flow network 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with the existing system, ours shows which patches matter, runs what-if tests instantly, ranks restoration areas, works through cloud, explains every result, and is usable through one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system has six modules: data acquisition, mangrove detection, patch extraction, the connectivity network, criticality and what-if analysis, and restoration with the dashboard.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algorithms: a U-Net deep-learning model for mangrove detection, connected-component labelling to form patches, a nearest-neighbour network within 5 km, the Integral Index of Connectivity as the network score, a remove-one-patch test for criticality, and an add-one-candidate test for restoration.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development model scores test IoU 0.842 and F1 0.914 on 200 test tiles, measured against Global Mangrove Watch reference labels. The comparison shows that training on four areas is much better than Kerala only. Most of the strength comes from the Sundarbans; thin Kerala mangroves remain difficult.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real screens from our application for the Kerala study area: the dashboard map with patches and links, and the network view. The run found 24 patches, 43 links, about 220 hectares of mangrove and 4 restoration candidates.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key finding: P01 is the largest patch, but P17 is only 3.1 hectares and 17th by size — yet removing it cuts connectivity by 27% and splits the network into three groups. The same pattern appears in Odisha. And the ranking stays stable when we change the 5 km link distance to 3 or 8 km.</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removing P17 loses only 1.4% of habitat but 27% of connectivity; removing P01 loses 16% of habitat and 30.7% of connectivity. These are simulations. Right: adding candidate area C1 improves connectivity by 1.29% with three new links. Candidates are not field-confirmed and there is no cost data yet.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summarise, EcoConnectAI goes from satellite images to a decision-support network. Our key findings are the working system, the development model result and the fact that small patches can be critical. Next: train the full UNB7 model, validate in the field, add cost data and scale up.</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 the bracketed fields with your co-guide's name, meeting dates and discussion points, and insert the meeting photos or signed log.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project maps mainly to SDG 14, Life Below Water, because mangroves support coastal marine life; SDG 13, Climate Action, because mangroves store carbon and protect coasts; and SDG 15, Life on Land, because we address habitat fragmentation and restoration.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References in IEEE style.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happy to take questions.</a:t>
            </a:r>
          </a:p>
        </p:txBody>
      </p:sp>
      <p:sp>
        <p:nvSpPr>
          <p:cNvPr id="4" name="Slide Number Placeholder 3"/>
          <p:cNvSpPr>
            <a:spLocks noGrp="1"/>
          </p:cNvSpPr>
          <p:nvPr>
            <p:ph type="sldNum" idx="5" sz="quarter"/>
          </p:nvPr>
        </p:nvSpPr>
        <p:spPr/>
      </p:sp>
    </p:spTree>
  </p:cSld>
  <p:clrMapOvr>
    <a:masterClrMapping/>
  </p:clrMapOvr>
</p:notes>
</file>

<file path=ppt/notesSlides/notesSlide9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Client: the problem comes from the research gap; the intended client is coastal forest and wetland departments — they are not sponsors. End users are range officers, GIS analysts and researchers. Other stakeholders are coastal communities, NGOs and policymakers. Our difference: existing tools show where mangroves are; ours shows which patches matter and lets you test loss and restoration.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6A95433-0BD4-4BE6-A958-BEB9EC929D98}"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35C14A-568F-47A9-BCE1-1856ED0B75A1}" type="slidenum">
              <a:rPr lang="en-US" smtClean="0"/>
              <a:pPr/>
              <a:t>‹#›</a:t>
            </a:fld>
            <a:endParaRPr lang="en-US"/>
          </a:p>
        </p:txBody>
      </p:sp>
    </p:spTree>
    <p:extLst>
      <p:ext uri="{BB962C8B-B14F-4D97-AF65-F5344CB8AC3E}">
        <p14:creationId xmlns:p14="http://schemas.microsoft.com/office/powerpoint/2010/main" val="316065413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95433-0BD4-4BE6-A958-BEB9EC929D98}"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35C14A-568F-47A9-BCE1-1856ED0B75A1}" type="slidenum">
              <a:rPr lang="en-US" smtClean="0"/>
              <a:pPr/>
              <a:t>‹#›</a:t>
            </a:fld>
            <a:endParaRPr lang="en-US"/>
          </a:p>
        </p:txBody>
      </p:sp>
    </p:spTree>
    <p:extLst>
      <p:ext uri="{BB962C8B-B14F-4D97-AF65-F5344CB8AC3E}">
        <p14:creationId xmlns:p14="http://schemas.microsoft.com/office/powerpoint/2010/main" val="17686834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6A95433-0BD4-4BE6-A958-BEB9EC929D98}"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35C14A-568F-47A9-BCE1-1856ED0B75A1}" type="slidenum">
              <a:rPr lang="en-US" smtClean="0"/>
              <a:pPr/>
              <a:t>‹#›</a:t>
            </a:fld>
            <a:endParaRPr lang="en-US"/>
          </a:p>
        </p:txBody>
      </p:sp>
    </p:spTree>
    <p:extLst>
      <p:ext uri="{BB962C8B-B14F-4D97-AF65-F5344CB8AC3E}">
        <p14:creationId xmlns:p14="http://schemas.microsoft.com/office/powerpoint/2010/main" val="13414194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6A95433-0BD4-4BE6-A958-BEB9EC929D98}" type="datetimeFigureOut">
              <a:rPr lang="en-US" smtClean="0"/>
              <a:pPr/>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35C14A-568F-47A9-BCE1-1856ED0B75A1}" type="slidenum">
              <a:rPr lang="en-US" smtClean="0"/>
              <a:pPr/>
              <a:t>‹#›</a:t>
            </a:fld>
            <a:endParaRPr lang="en-US"/>
          </a:p>
        </p:txBody>
      </p:sp>
    </p:spTree>
    <p:extLst>
      <p:ext uri="{BB962C8B-B14F-4D97-AF65-F5344CB8AC3E}">
        <p14:creationId xmlns:p14="http://schemas.microsoft.com/office/powerpoint/2010/main" val="39499698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6A95433-0BD4-4BE6-A958-BEB9EC929D98}" type="datetimeFigureOut">
              <a:rPr lang="en-US" smtClean="0"/>
              <a:pPr/>
              <a:t>9/22/26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F35C14A-568F-47A9-BCE1-1856ED0B75A1}" type="slidenum">
              <a:rPr lang="en-US" smtClean="0"/>
              <a:pPr/>
              <a:t>‹#›</a:t>
            </a:fld>
            <a:endParaRPr lang="en-US"/>
          </a:p>
        </p:txBody>
      </p:sp>
    </p:spTree>
    <p:extLst>
      <p:ext uri="{BB962C8B-B14F-4D97-AF65-F5344CB8AC3E}">
        <p14:creationId xmlns:p14="http://schemas.microsoft.com/office/powerpoint/2010/main" val="3675791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6A95433-0BD4-4BE6-A958-BEB9EC929D98}" type="datetimeFigureOut">
              <a:rPr lang="en-US" smtClean="0"/>
              <a:pPr/>
              <a:t>9/22/26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F35C14A-568F-47A9-BCE1-1856ED0B75A1}" type="slidenum">
              <a:rPr lang="en-US" smtClean="0"/>
              <a:pPr/>
              <a:t>‹#›</a:t>
            </a:fld>
            <a:endParaRPr lang="en-US"/>
          </a:p>
        </p:txBody>
      </p:sp>
    </p:spTree>
    <p:extLst>
      <p:ext uri="{BB962C8B-B14F-4D97-AF65-F5344CB8AC3E}">
        <p14:creationId xmlns:p14="http://schemas.microsoft.com/office/powerpoint/2010/main" val="28863897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6A95433-0BD4-4BE6-A958-BEB9EC929D98}" type="datetimeFigureOut">
              <a:rPr lang="en-US" smtClean="0"/>
              <a:pPr/>
              <a:t>9/22/26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F35C14A-568F-47A9-BCE1-1856ED0B75A1}" type="slidenum">
              <a:rPr lang="en-US" smtClean="0"/>
              <a:pPr/>
              <a:t>‹#›</a:t>
            </a:fld>
            <a:endParaRPr lang="en-US"/>
          </a:p>
        </p:txBody>
      </p:sp>
    </p:spTree>
    <p:extLst>
      <p:ext uri="{BB962C8B-B14F-4D97-AF65-F5344CB8AC3E}">
        <p14:creationId xmlns:p14="http://schemas.microsoft.com/office/powerpoint/2010/main" val="5650584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95433-0BD4-4BE6-A958-BEB9EC929D98}" type="datetimeFigureOut">
              <a:rPr lang="en-US" smtClean="0"/>
              <a:pPr/>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35C14A-568F-47A9-BCE1-1856ED0B75A1}" type="slidenum">
              <a:rPr lang="en-US" smtClean="0"/>
              <a:pPr/>
              <a:t>‹#›</a:t>
            </a:fld>
            <a:endParaRPr lang="en-US"/>
          </a:p>
        </p:txBody>
      </p:sp>
    </p:spTree>
    <p:extLst>
      <p:ext uri="{BB962C8B-B14F-4D97-AF65-F5344CB8AC3E}">
        <p14:creationId xmlns:p14="http://schemas.microsoft.com/office/powerpoint/2010/main" val="38350612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6A95433-0BD4-4BE6-A958-BEB9EC929D98}" type="datetimeFigureOut">
              <a:rPr lang="en-US" smtClean="0"/>
              <a:pPr/>
              <a:t>9/22/26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F35C14A-568F-47A9-BCE1-1856ED0B75A1}" type="slidenum">
              <a:rPr lang="en-US" smtClean="0"/>
              <a:pPr/>
              <a:t>‹#›</a:t>
            </a:fld>
            <a:endParaRPr lang="en-US"/>
          </a:p>
        </p:txBody>
      </p:sp>
    </p:spTree>
    <p:extLst>
      <p:ext uri="{BB962C8B-B14F-4D97-AF65-F5344CB8AC3E}">
        <p14:creationId xmlns:p14="http://schemas.microsoft.com/office/powerpoint/2010/main" val="1361093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95433-0BD4-4BE6-A958-BEB9EC929D98}"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35C14A-568F-47A9-BCE1-1856ED0B75A1}" type="slidenum">
              <a:rPr lang="en-US" smtClean="0"/>
              <a:pPr/>
              <a:t>‹#›</a:t>
            </a:fld>
            <a:endParaRPr lang="en-US"/>
          </a:p>
        </p:txBody>
      </p:sp>
    </p:spTree>
    <p:extLst>
      <p:ext uri="{BB962C8B-B14F-4D97-AF65-F5344CB8AC3E}">
        <p14:creationId xmlns:p14="http://schemas.microsoft.com/office/powerpoint/2010/main" val="15410283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6A95433-0BD4-4BE6-A958-BEB9EC929D98}" type="datetimeFigureOut">
              <a:rPr lang="en-US" smtClean="0"/>
              <a:pPr/>
              <a:t>9/22/26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F35C14A-568F-47A9-BCE1-1856ED0B75A1}" type="slidenum">
              <a:rPr lang="en-US" smtClean="0"/>
              <a:pPr/>
              <a:t>‹#›</a:t>
            </a:fld>
            <a:endParaRPr lang="en-US"/>
          </a:p>
        </p:txBody>
      </p:sp>
    </p:spTree>
    <p:extLst>
      <p:ext uri="{BB962C8B-B14F-4D97-AF65-F5344CB8AC3E}">
        <p14:creationId xmlns:p14="http://schemas.microsoft.com/office/powerpoint/2010/main" val="11063858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63829478"/>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86A95433-0BD4-4BE6-A958-BEB9EC929D98}" type="datetimeFigureOut">
              <a:rPr lang="en-US" smtClean="0"/>
              <a:pPr/>
              <a:t>9/22/26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35C14A-568F-47A9-BCE1-1856ED0B75A1}" type="slidenum">
              <a:rPr lang="en-US" smtClean="0"/>
              <a:pPr/>
              <a:t>‹#›</a:t>
            </a:fld>
            <a:endParaRPr lang="en-US"/>
          </a:p>
        </p:txBody>
      </p:sp>
    </p:spTree>
    <p:extLst>
      <p:ext uri="{BB962C8B-B14F-4D97-AF65-F5344CB8AC3E}">
        <p14:creationId xmlns:p14="http://schemas.microsoft.com/office/powerpoint/2010/main" val="394107178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4.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2.xml"/><Relationship Id="rId3" Type="http://schemas.openxmlformats.org/officeDocument/2006/relationships/image" Target="../media/image5.png"/><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6.xml"/></Relationships>
</file>

<file path=ppt/slides/_rels/slide99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99.xml"/></Relationships>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4400" b="0">
                <a:solidFill>
                  <a:srgbClr val="1A1A1A"/>
                </a:solidFill>
                <a:latin typeface="Calibri"/>
              </a:rPr>
              <a:t>EcoConnectAI</a:t>
            </a:r>
          </a:p>
        </p:txBody>
      </p:sp>
      <p:sp>
        <p:nvSpPr>
          <p:cNvPr id="3" name="TextBox 2"/>
          <p:cNvSpPr txBox="1"/>
          <p:nvPr/>
        </p:nvSpPr>
        <p:spPr>
          <a:xfrm>
            <a:off x="1234440" y="1051560"/>
            <a:ext cx="7406640" cy="822960"/>
          </a:xfrm>
          <a:prstGeom prst="rect">
            <a:avLst/>
          </a:prstGeom>
          <a:noFill/>
        </p:spPr>
        <p:txBody>
          <a:bodyPr wrap="square" lIns="36576" rIns="36576" tIns="18288" bIns="18288" anchor="t">
            <a:spAutoFit/>
          </a:bodyPr>
          <a:lstStyle/>
          <a:p>
            <a:pPr algn="ctr">
              <a:spcAft>
                <a:spcPts val="0"/>
              </a:spcAft>
            </a:pPr>
            <a:r>
              <a:rPr sz="1900" b="0" i="1">
                <a:solidFill>
                  <a:srgbClr val="0D3889"/>
                </a:solidFill>
                <a:latin typeface="Calibri"/>
              </a:rPr>
              <a:t>A Satellite-Driven Framework for Coastal Ecosystem Connectivity</a:t>
            </a:r>
          </a:p>
          <a:p>
            <a:pPr algn="ctr">
              <a:spcAft>
                <a:spcPts val="0"/>
              </a:spcAft>
            </a:pPr>
            <a:r>
              <a:rPr sz="1900" b="0" i="1">
                <a:solidFill>
                  <a:srgbClr val="0D3889"/>
                </a:solidFill>
                <a:latin typeface="Calibri"/>
              </a:rPr>
              <a:t>and Conservation Decision Support</a:t>
            </a:r>
          </a:p>
        </p:txBody>
      </p:sp>
      <p:sp>
        <p:nvSpPr>
          <p:cNvPr id="4" name="TextBox 3"/>
          <p:cNvSpPr txBox="1"/>
          <p:nvPr/>
        </p:nvSpPr>
        <p:spPr>
          <a:xfrm>
            <a:off x="1234440" y="2148840"/>
            <a:ext cx="7406640" cy="1097280"/>
          </a:xfrm>
          <a:prstGeom prst="rect">
            <a:avLst/>
          </a:prstGeom>
          <a:noFill/>
        </p:spPr>
        <p:txBody>
          <a:bodyPr wrap="square" lIns="36576" rIns="36576" tIns="18288" bIns="18288" anchor="t">
            <a:spAutoFit/>
          </a:bodyPr>
          <a:lstStyle/>
          <a:p>
            <a:pPr algn="ctr">
              <a:spcAft>
                <a:spcPts val="200"/>
              </a:spcAft>
            </a:pPr>
            <a:r>
              <a:rPr sz="1200" b="0" i="0">
                <a:solidFill>
                  <a:srgbClr val="5A6370"/>
                </a:solidFill>
                <a:latin typeface="Calibri"/>
              </a:rPr>
              <a:t>Presented by</a:t>
            </a:r>
          </a:p>
          <a:p>
            <a:pPr algn="ctr">
              <a:spcAft>
                <a:spcPts val="200"/>
              </a:spcAft>
            </a:pPr>
            <a:r>
              <a:rPr sz="1500" b="0" i="0">
                <a:solidFill>
                  <a:srgbClr val="1A1A1A"/>
                </a:solidFill>
                <a:latin typeface="Calibri"/>
              </a:rPr>
              <a:t>Kuldeep Raj  (1DS23CS112)</a:t>
            </a:r>
          </a:p>
          <a:p>
            <a:pPr algn="ctr">
              <a:spcAft>
                <a:spcPts val="200"/>
              </a:spcAft>
            </a:pPr>
            <a:r>
              <a:rPr sz="1500" b="0" i="0">
                <a:solidFill>
                  <a:srgbClr val="1A1A1A"/>
                </a:solidFill>
                <a:latin typeface="Calibri"/>
              </a:rPr>
              <a:t>Ruhinaaz  (1DS23CS187)</a:t>
            </a:r>
          </a:p>
        </p:txBody>
      </p:sp>
      <p:sp>
        <p:nvSpPr>
          <p:cNvPr id="5" name="TextBox 4"/>
          <p:cNvSpPr txBox="1"/>
          <p:nvPr/>
        </p:nvSpPr>
        <p:spPr>
          <a:xfrm>
            <a:off x="1234440" y="3429000"/>
            <a:ext cx="7406640" cy="685800"/>
          </a:xfrm>
          <a:prstGeom prst="rect">
            <a:avLst/>
          </a:prstGeom>
          <a:noFill/>
        </p:spPr>
        <p:txBody>
          <a:bodyPr wrap="square" lIns="36576" rIns="36576" tIns="18288" bIns="18288" anchor="t">
            <a:spAutoFit/>
          </a:bodyPr>
          <a:lstStyle/>
          <a:p>
            <a:pPr algn="ctr">
              <a:spcAft>
                <a:spcPts val="200"/>
              </a:spcAft>
            </a:pPr>
            <a:r>
              <a:rPr sz="1200" b="0" i="0">
                <a:solidFill>
                  <a:srgbClr val="5A6370"/>
                </a:solidFill>
                <a:latin typeface="Calibri"/>
              </a:rPr>
              <a:t>Guided by</a:t>
            </a:r>
          </a:p>
          <a:p>
            <a:pPr algn="ctr">
              <a:spcAft>
                <a:spcPts val="200"/>
              </a:spcAft>
            </a:pPr>
            <a:r>
              <a:rPr sz="1500" b="0" i="0">
                <a:solidFill>
                  <a:srgbClr val="1A1A1A"/>
                </a:solidFill>
                <a:latin typeface="Calibri"/>
              </a:rPr>
              <a:t>Dr. Anusha Preetham  (Associate Professor)</a:t>
            </a:r>
          </a:p>
        </p:txBody>
      </p:sp>
      <p:sp>
        <p:nvSpPr>
          <p:cNvPr id="6" name="TextBox 5"/>
          <p:cNvSpPr txBox="1"/>
          <p:nvPr/>
        </p:nvSpPr>
        <p:spPr>
          <a:xfrm>
            <a:off x="1234440" y="4343400"/>
            <a:ext cx="7406640" cy="822960"/>
          </a:xfrm>
          <a:prstGeom prst="rect">
            <a:avLst/>
          </a:prstGeom>
          <a:noFill/>
        </p:spPr>
        <p:txBody>
          <a:bodyPr wrap="square" lIns="36576" rIns="36576" tIns="18288" bIns="18288" anchor="t">
            <a:spAutoFit/>
          </a:bodyPr>
          <a:lstStyle/>
          <a:p>
            <a:pPr algn="ctr">
              <a:spcAft>
                <a:spcPts val="100"/>
              </a:spcAft>
            </a:pPr>
            <a:r>
              <a:rPr sz="1250" b="0" i="0">
                <a:solidFill>
                  <a:srgbClr val="5A6370"/>
                </a:solidFill>
                <a:latin typeface="Calibri"/>
              </a:rPr>
              <a:t>Department of Computer Science and Engineering</a:t>
            </a:r>
          </a:p>
          <a:p>
            <a:pPr algn="ctr">
              <a:spcAft>
                <a:spcPts val="100"/>
              </a:spcAft>
            </a:pPr>
            <a:r>
              <a:rPr sz="1250" b="0" i="0">
                <a:solidFill>
                  <a:srgbClr val="5A6370"/>
                </a:solidFill>
                <a:latin typeface="Calibri"/>
              </a:rPr>
              <a:t>Dayananda Sagar College of Engineering</a:t>
            </a:r>
          </a:p>
          <a:p>
            <a:pPr algn="ctr">
              <a:spcAft>
                <a:spcPts val="100"/>
              </a:spcAft>
            </a:pPr>
            <a:r>
              <a:rPr sz="1250" b="0" i="0">
                <a:solidFill>
                  <a:srgbClr val="5A6370"/>
                </a:solidFill>
                <a:latin typeface="Calibri"/>
              </a:rPr>
              <a:t>Final Year Project Evaluation · 2026</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3000" b="0">
                <a:solidFill>
                  <a:srgbClr val="1A1A1A"/>
                </a:solidFill>
                <a:latin typeface="Calibri"/>
              </a:rPr>
              <a:t>Abstract</a:t>
            </a:r>
          </a:p>
        </p:txBody>
      </p:sp>
      <p:sp>
        <p:nvSpPr>
          <p:cNvPr id="3" name="Rounded Rectangle 2"/>
          <p:cNvSpPr/>
          <p:nvPr/>
        </p:nvSpPr>
        <p:spPr>
          <a:xfrm>
            <a:off x="1188720" y="1188720"/>
            <a:ext cx="7589520" cy="1261872"/>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261872"/>
            <a:ext cx="7223760" cy="1170432"/>
          </a:xfrm>
          <a:prstGeom prst="rect">
            <a:avLst/>
          </a:prstGeom>
          <a:noFill/>
        </p:spPr>
        <p:txBody>
          <a:bodyPr wrap="square" lIns="36576" rIns="36576" tIns="18288" bIns="18288" anchor="t">
            <a:spAutoFit/>
          </a:bodyPr>
          <a:lstStyle/>
          <a:p>
            <a:pPr algn="l">
              <a:spcAft>
                <a:spcPts val="300"/>
              </a:spcAft>
            </a:pPr>
            <a:r>
              <a:rPr sz="1500" b="1" i="0">
                <a:solidFill>
                  <a:srgbClr val="D96A2B"/>
                </a:solidFill>
                <a:latin typeface="Calibri"/>
              </a:rPr>
              <a:t>Problem overview</a:t>
            </a:r>
          </a:p>
          <a:p>
            <a:pPr algn="l">
              <a:spcAft>
                <a:spcPts val="300"/>
              </a:spcAft>
            </a:pPr>
            <a:r>
              <a:rPr sz="1300" b="0" i="0">
                <a:solidFill>
                  <a:srgbClr val="1A1A1A"/>
                </a:solidFill>
                <a:latin typeface="Calibri"/>
              </a:rPr>
              <a:t>Mangrove maps show where habitat is, but not which patches hold the coastal network together. Losing one small linking patch can cut the network apart.</a:t>
            </a:r>
          </a:p>
        </p:txBody>
      </p:sp>
      <p:sp>
        <p:nvSpPr>
          <p:cNvPr id="5" name="Rounded Rectangle 4"/>
          <p:cNvSpPr/>
          <p:nvPr/>
        </p:nvSpPr>
        <p:spPr>
          <a:xfrm>
            <a:off x="1188720" y="2560320"/>
            <a:ext cx="7589520" cy="1261872"/>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71600" y="2633472"/>
            <a:ext cx="7223760" cy="1170432"/>
          </a:xfrm>
          <a:prstGeom prst="rect">
            <a:avLst/>
          </a:prstGeom>
          <a:noFill/>
        </p:spPr>
        <p:txBody>
          <a:bodyPr wrap="square" lIns="36576" rIns="36576" tIns="18288" bIns="18288" anchor="t">
            <a:spAutoFit/>
          </a:bodyPr>
          <a:lstStyle/>
          <a:p>
            <a:pPr algn="l">
              <a:spcAft>
                <a:spcPts val="300"/>
              </a:spcAft>
            </a:pPr>
            <a:r>
              <a:rPr sz="1500" b="1" i="0">
                <a:solidFill>
                  <a:srgbClr val="0D3889"/>
                </a:solidFill>
                <a:latin typeface="Calibri"/>
              </a:rPr>
              <a:t>Proposed solution</a:t>
            </a:r>
          </a:p>
          <a:p>
            <a:pPr algn="l">
              <a:spcAft>
                <a:spcPts val="300"/>
              </a:spcAft>
            </a:pPr>
            <a:r>
              <a:rPr sz="1300" b="0" i="0">
                <a:solidFill>
                  <a:srgbClr val="1A1A1A"/>
                </a:solidFill>
                <a:latin typeface="Calibri"/>
              </a:rPr>
              <a:t>Detect mangroves from Sentinel-1 satellite images with a deep-learning model, split them into patches, connect nearby patches into a network, and remove one patch at a time to see how much connectivity is lost. A web dashboard supports what-if and restoration questions.</a:t>
            </a:r>
          </a:p>
        </p:txBody>
      </p:sp>
      <p:sp>
        <p:nvSpPr>
          <p:cNvPr id="7" name="Rounded Rectangle 6"/>
          <p:cNvSpPr/>
          <p:nvPr/>
        </p:nvSpPr>
        <p:spPr>
          <a:xfrm>
            <a:off x="1188720" y="3931920"/>
            <a:ext cx="7589520" cy="1261872"/>
          </a:xfrm>
          <a:prstGeom prst="roundRect">
            <a:avLst>
              <a:gd name="adj" fmla="val 12000"/>
            </a:avLst>
          </a:prstGeom>
          <a:solidFill>
            <a:srgbClr val="E7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371600" y="4005072"/>
            <a:ext cx="7223760" cy="1170432"/>
          </a:xfrm>
          <a:prstGeom prst="rect">
            <a:avLst/>
          </a:prstGeom>
          <a:noFill/>
        </p:spPr>
        <p:txBody>
          <a:bodyPr wrap="square" lIns="36576" rIns="36576" tIns="18288" bIns="18288" anchor="t">
            <a:spAutoFit/>
          </a:bodyPr>
          <a:lstStyle/>
          <a:p>
            <a:pPr algn="l">
              <a:spcAft>
                <a:spcPts val="300"/>
              </a:spcAft>
            </a:pPr>
            <a:r>
              <a:rPr sz="1500" b="1" i="0">
                <a:solidFill>
                  <a:srgbClr val="0E9E74"/>
                </a:solidFill>
                <a:latin typeface="Calibri"/>
              </a:rPr>
              <a:t>Key results</a:t>
            </a:r>
          </a:p>
          <a:p>
            <a:pPr algn="l">
              <a:spcAft>
                <a:spcPts val="300"/>
              </a:spcAft>
            </a:pPr>
            <a:r>
              <a:rPr sz="1300" b="0" i="0">
                <a:solidFill>
                  <a:srgbClr val="1A1A1A"/>
                </a:solidFill>
                <a:latin typeface="Calibri"/>
              </a:rPr>
              <a:t>Development model: test IoU 0.842, F1 0.914 against Global Mangrove Watch reference labels. Example: patch P17 is only 3.1 ha, yet removing it cuts connectivity by 27% — size alone does not show importance.</a:t>
            </a:r>
          </a:p>
        </p:txBody>
      </p:sp>
      <p:sp>
        <p:nvSpPr>
          <p:cNvPr id="9" name="Rounded Rectangle 8"/>
          <p:cNvSpPr/>
          <p:nvPr/>
        </p:nvSpPr>
        <p:spPr>
          <a:xfrm>
            <a:off x="1188720" y="5349240"/>
            <a:ext cx="7589520" cy="411480"/>
          </a:xfrm>
          <a:prstGeom prst="roundRect">
            <a:avLst>
              <a:gd name="adj" fmla="val 18000"/>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50" b="1" i="0">
                <a:solidFill>
                  <a:srgbClr val="FFD54A"/>
                </a:solidFill>
                <a:latin typeface="Calibri"/>
              </a:rPr>
              <a:t>In short:  </a:t>
            </a:r>
            <a:r>
              <a:rPr sz="1250" b="0" i="0">
                <a:solidFill>
                  <a:srgbClr val="FFFFFF"/>
                </a:solidFill>
                <a:latin typeface="Calibri"/>
              </a:rPr>
              <a:t>from “where are the mangroves?” to “which mangrove patch matters most?”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Literature Survey (1/7)</a:t>
            </a:r>
          </a:p>
        </p:txBody>
      </p:sp>
      <p:sp>
        <p:nvSpPr>
          <p:cNvPr id="3" name="TextBox 2"/>
          <p:cNvSpPr txBox="1"/>
          <p:nvPr/>
        </p:nvSpPr>
        <p:spPr>
          <a:xfrm>
            <a:off x="1188720" y="1005840"/>
            <a:ext cx="7589520" cy="320040"/>
          </a:xfrm>
          <a:prstGeom prst="rect">
            <a:avLst/>
          </a:prstGeom>
          <a:noFill/>
        </p:spPr>
        <p:txBody>
          <a:bodyPr wrap="square" lIns="36576" rIns="36576" tIns="18288" bIns="18288" anchor="t">
            <a:spAutoFit/>
          </a:bodyPr>
          <a:lstStyle/>
          <a:p>
            <a:pPr algn="l">
              <a:spcAft>
                <a:spcPts val="400"/>
              </a:spcAft>
            </a:pPr>
            <a:r>
              <a:rPr sz="1400" b="1" i="0">
                <a:solidFill>
                  <a:srgbClr val="0D3889"/>
                </a:solidFill>
                <a:latin typeface="Calibri"/>
              </a:rPr>
              <a:t>Mangrove &amp; habitat mapping</a:t>
            </a:r>
          </a:p>
        </p:txBody>
      </p:sp>
      <p:graphicFrame>
        <p:nvGraphicFramePr>
          <p:cNvPr id="4" name="Table 3"/>
          <p:cNvGraphicFramePr>
            <a:graphicFrameLocks noGrp="1"/>
          </p:cNvGraphicFramePr>
          <p:nvPr/>
        </p:nvGraphicFramePr>
        <p:xfrm>
          <a:off x="1188720" y="1371600"/>
          <a:ext cx="7589520" cy="3291840"/>
        </p:xfrm>
        <a:graphic>
          <a:graphicData uri="http://schemas.openxmlformats.org/drawingml/2006/table">
            <a:tbl>
              <a:tblPr firstRow="1" bandRow="0">
                <a:tableStyleId>{5C22544A-7EE6-4342-B048-85BDC9FD1C3A}</a:tableStyleId>
              </a:tblPr>
              <a:tblGrid>
                <a:gridCol w="1600200"/>
                <a:gridCol w="2057400"/>
                <a:gridCol w="1965960"/>
                <a:gridCol w="1965960"/>
              </a:tblGrid>
              <a:tr h="365760">
                <a:tc>
                  <a:txBody>
                    <a:bodyPr wrap="square"/>
                    <a:lstStyle/>
                    <a:p>
                      <a:r>
                        <a:rPr sz="1300" b="1" i="0">
                          <a:solidFill>
                            <a:srgbClr val="FFFFFF"/>
                          </a:solidFill>
                          <a:latin typeface="Calibri"/>
                        </a:rPr>
                        <a:t>Author &amp; Year</a:t>
                      </a:r>
                    </a:p>
                  </a:txBody>
                  <a:tcPr marL="64008" marR="64008" marT="45720" marB="45720">
                    <a:solidFill>
                      <a:srgbClr val="0D3889"/>
                    </a:solidFill>
                  </a:tcPr>
                </a:tc>
                <a:tc>
                  <a:txBody>
                    <a:bodyPr wrap="square"/>
                    <a:lstStyle/>
                    <a:p>
                      <a:r>
                        <a:rPr sz="1300" b="1" i="0">
                          <a:solidFill>
                            <a:srgbClr val="FFFFFF"/>
                          </a:solidFill>
                          <a:latin typeface="Calibri"/>
                        </a:rPr>
                        <a:t>Methodology</a:t>
                      </a:r>
                    </a:p>
                  </a:txBody>
                  <a:tcPr marL="64008" marR="64008" marT="45720" marB="45720">
                    <a:solidFill>
                      <a:srgbClr val="0D3889"/>
                    </a:solidFill>
                  </a:tcPr>
                </a:tc>
                <a:tc>
                  <a:txBody>
                    <a:bodyPr wrap="square"/>
                    <a:lstStyle/>
                    <a:p>
                      <a:r>
                        <a:rPr sz="1300" b="1" i="0">
                          <a:solidFill>
                            <a:srgbClr val="FFFFFF"/>
                          </a:solidFill>
                          <a:latin typeface="Calibri"/>
                        </a:rPr>
                        <a:t>Key Findings</a:t>
                      </a:r>
                    </a:p>
                  </a:txBody>
                  <a:tcPr marL="64008" marR="64008" marT="45720" marB="45720">
                    <a:solidFill>
                      <a:srgbClr val="0D3889"/>
                    </a:solidFill>
                  </a:tcPr>
                </a:tc>
                <a:tc>
                  <a:txBody>
                    <a:bodyPr wrap="square"/>
                    <a:lstStyle/>
                    <a:p>
                      <a:r>
                        <a:rPr sz="1300" b="1" i="0">
                          <a:solidFill>
                            <a:srgbClr val="FFFFFF"/>
                          </a:solidFill>
                          <a:latin typeface="Calibri"/>
                        </a:rPr>
                        <a:t>Limitations</a:t>
                      </a:r>
                    </a:p>
                  </a:txBody>
                  <a:tcPr marL="64008" marR="64008" marT="45720" marB="45720">
                    <a:solidFill>
                      <a:srgbClr val="0D3889"/>
                    </a:solidFill>
                  </a:tcPr>
                </a:tc>
              </a:tr>
              <a:tr h="1463040">
                <a:tc>
                  <a:txBody>
                    <a:bodyPr wrap="square"/>
                    <a:lstStyle/>
                    <a:p>
                      <a:r>
                        <a:rPr sz="1250" b="1" i="0">
                          <a:solidFill>
                            <a:srgbClr val="1A1A1A"/>
                          </a:solidFill>
                          <a:latin typeface="Calibri"/>
                        </a:rPr>
                        <a:t>Ghorbanian et al., 2025</a:t>
                      </a:r>
                    </a:p>
                    <a:p>
                      <a:r>
                        <a:rPr sz="900" b="0" i="1">
                          <a:solidFill>
                            <a:srgbClr val="1A1A1A"/>
                          </a:solidFill>
                          <a:latin typeface="Calibri"/>
                        </a:rPr>
                        <a:t>IEEE JSTARS ★ foundation paper</a:t>
                      </a:r>
                    </a:p>
                  </a:txBody>
                  <a:tcPr marL="64008" marR="64008" marT="45720" marB="45720">
                    <a:solidFill>
                      <a:srgbClr val="EEF2F8"/>
                    </a:solidFill>
                  </a:tcPr>
                </a:tc>
                <a:tc>
                  <a:txBody>
                    <a:bodyPr wrap="square"/>
                    <a:lstStyle/>
                    <a:p>
                      <a:r>
                        <a:rPr sz="1250" b="0" i="0">
                          <a:solidFill>
                            <a:srgbClr val="1A1A1A"/>
                          </a:solidFill>
                          <a:latin typeface="Calibri"/>
                        </a:rPr>
                        <a:t>Weakly supervised U-Net + EfficientNet-B7 (UNB7) on time-series Sentinel-1 radar (VV/VH).</a:t>
                      </a:r>
                    </a:p>
                  </a:txBody>
                  <a:tcPr marL="64008" marR="64008" marT="45720" marB="45720">
                    <a:solidFill>
                      <a:srgbClr val="EEF2F8"/>
                    </a:solidFill>
                  </a:tcPr>
                </a:tc>
                <a:tc>
                  <a:txBody>
                    <a:bodyPr wrap="square"/>
                    <a:lstStyle/>
                    <a:p>
                      <a:r>
                        <a:rPr sz="1250" b="0" i="0">
                          <a:solidFill>
                            <a:srgbClr val="1A1A1A"/>
                          </a:solidFill>
                          <a:latin typeface="Calibri"/>
                        </a:rPr>
                        <a:t>About 95.56% overall accuracy on their 2020 data; clean maps even from imperfect labels.</a:t>
                      </a:r>
                    </a:p>
                  </a:txBody>
                  <a:tcPr marL="64008" marR="64008" marT="45720" marB="45720">
                    <a:solidFill>
                      <a:srgbClr val="EEF2F8"/>
                    </a:solidFill>
                  </a:tcPr>
                </a:tc>
                <a:tc>
                  <a:txBody>
                    <a:bodyPr wrap="square"/>
                    <a:lstStyle/>
                    <a:p>
                      <a:r>
                        <a:rPr sz="1250" b="0" i="0">
                          <a:solidFill>
                            <a:srgbClr val="1A1A1A"/>
                          </a:solidFill>
                          <a:latin typeface="Calibri"/>
                        </a:rPr>
                        <a:t>Gives a habitat map only — no patch or network analysis; sparse mangroves harder.</a:t>
                      </a:r>
                    </a:p>
                  </a:txBody>
                  <a:tcPr marL="64008" marR="64008" marT="45720" marB="45720">
                    <a:solidFill>
                      <a:srgbClr val="EEF2F8"/>
                    </a:solidFill>
                  </a:tcPr>
                </a:tc>
              </a:tr>
              <a:tr h="1463040">
                <a:tc>
                  <a:txBody>
                    <a:bodyPr wrap="square"/>
                    <a:lstStyle/>
                    <a:p>
                      <a:r>
                        <a:rPr sz="1250" b="1" i="0">
                          <a:solidFill>
                            <a:srgbClr val="1A1A1A"/>
                          </a:solidFill>
                          <a:latin typeface="Calibri"/>
                        </a:rPr>
                        <a:t>Bunting et al., 2018</a:t>
                      </a:r>
                    </a:p>
                    <a:p>
                      <a:r>
                        <a:rPr sz="900" b="0" i="1">
                          <a:solidFill>
                            <a:srgbClr val="1A1A1A"/>
                          </a:solidFill>
                          <a:latin typeface="Calibri"/>
                        </a:rPr>
                        <a:t>Remote Sensing (Global Mangrove Watch)</a:t>
                      </a:r>
                    </a:p>
                  </a:txBody>
                  <a:tcPr marL="64008" marR="64008" marT="45720" marB="45720">
                    <a:solidFill>
                      <a:srgbClr val="FFFFFF"/>
                    </a:solidFill>
                  </a:tcPr>
                </a:tc>
                <a:tc>
                  <a:txBody>
                    <a:bodyPr wrap="square"/>
                    <a:lstStyle/>
                    <a:p>
                      <a:r>
                        <a:rPr sz="1250" b="0" i="0">
                          <a:solidFill>
                            <a:srgbClr val="1A1A1A"/>
                          </a:solidFill>
                          <a:latin typeface="Calibri"/>
                        </a:rPr>
                        <a:t>Classified ALOS radar + Landsat images to map mangrove extent worldwide.</a:t>
                      </a:r>
                    </a:p>
                  </a:txBody>
                  <a:tcPr marL="64008" marR="64008" marT="45720" marB="45720">
                    <a:solidFill>
                      <a:srgbClr val="FFFFFF"/>
                    </a:solidFill>
                  </a:tcPr>
                </a:tc>
                <a:tc>
                  <a:txBody>
                    <a:bodyPr wrap="square"/>
                    <a:lstStyle/>
                    <a:p>
                      <a:r>
                        <a:rPr sz="1250" b="0" i="0">
                          <a:solidFill>
                            <a:srgbClr val="1A1A1A"/>
                          </a:solidFill>
                          <a:latin typeface="Calibri"/>
                        </a:rPr>
                        <a:t>First consistent global mangrove baseline map; widely used by researchers and agencies.</a:t>
                      </a:r>
                    </a:p>
                  </a:txBody>
                  <a:tcPr marL="64008" marR="64008" marT="45720" marB="45720">
                    <a:solidFill>
                      <a:srgbClr val="FFFFFF"/>
                    </a:solidFill>
                  </a:tcPr>
                </a:tc>
                <a:tc>
                  <a:txBody>
                    <a:bodyPr wrap="square"/>
                    <a:lstStyle/>
                    <a:p>
                      <a:r>
                        <a:rPr sz="1250" b="0" i="0">
                          <a:solidFill>
                            <a:srgbClr val="1A1A1A"/>
                          </a:solidFill>
                          <a:latin typeface="Calibri"/>
                        </a:rPr>
                        <a:t>Shows where mangroves are, not how important each area is for connectivity.</a:t>
                      </a:r>
                    </a:p>
                  </a:txBody>
                  <a:tcPr marL="64008" marR="64008" marT="45720" marB="45720">
                    <a:solidFill>
                      <a:srgbClr val="FFFFFF"/>
                    </a:solidFill>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Literature Survey (2/7)</a:t>
            </a:r>
          </a:p>
        </p:txBody>
      </p:sp>
      <p:sp>
        <p:nvSpPr>
          <p:cNvPr id="3" name="TextBox 2"/>
          <p:cNvSpPr txBox="1"/>
          <p:nvPr/>
        </p:nvSpPr>
        <p:spPr>
          <a:xfrm>
            <a:off x="1188720" y="1005840"/>
            <a:ext cx="7589520" cy="320040"/>
          </a:xfrm>
          <a:prstGeom prst="rect">
            <a:avLst/>
          </a:prstGeom>
          <a:noFill/>
        </p:spPr>
        <p:txBody>
          <a:bodyPr wrap="square" lIns="36576" rIns="36576" tIns="18288" bIns="18288" anchor="t">
            <a:spAutoFit/>
          </a:bodyPr>
          <a:lstStyle/>
          <a:p>
            <a:pPr algn="l">
              <a:spcAft>
                <a:spcPts val="400"/>
              </a:spcAft>
            </a:pPr>
            <a:r>
              <a:rPr sz="1400" b="1" i="0">
                <a:solidFill>
                  <a:srgbClr val="0D3889"/>
                </a:solidFill>
                <a:latin typeface="Calibri"/>
              </a:rPr>
              <a:t>Deep-learning segmentation models</a:t>
            </a:r>
          </a:p>
        </p:txBody>
      </p:sp>
      <p:graphicFrame>
        <p:nvGraphicFramePr>
          <p:cNvPr id="4" name="Table 3"/>
          <p:cNvGraphicFramePr>
            <a:graphicFrameLocks noGrp="1"/>
          </p:cNvGraphicFramePr>
          <p:nvPr/>
        </p:nvGraphicFramePr>
        <p:xfrm>
          <a:off x="1188720" y="1371600"/>
          <a:ext cx="7589520" cy="3291840"/>
        </p:xfrm>
        <a:graphic>
          <a:graphicData uri="http://schemas.openxmlformats.org/drawingml/2006/table">
            <a:tbl>
              <a:tblPr firstRow="1" bandRow="0">
                <a:tableStyleId>{5C22544A-7EE6-4342-B048-85BDC9FD1C3A}</a:tableStyleId>
              </a:tblPr>
              <a:tblGrid>
                <a:gridCol w="1600200"/>
                <a:gridCol w="2057400"/>
                <a:gridCol w="1965960"/>
                <a:gridCol w="1965960"/>
              </a:tblGrid>
              <a:tr h="365760">
                <a:tc>
                  <a:txBody>
                    <a:bodyPr wrap="square"/>
                    <a:lstStyle/>
                    <a:p>
                      <a:r>
                        <a:rPr sz="1300" b="1" i="0">
                          <a:solidFill>
                            <a:srgbClr val="FFFFFF"/>
                          </a:solidFill>
                          <a:latin typeface="Calibri"/>
                        </a:rPr>
                        <a:t>Author &amp; Year</a:t>
                      </a:r>
                    </a:p>
                  </a:txBody>
                  <a:tcPr marL="64008" marR="64008" marT="45720" marB="45720">
                    <a:solidFill>
                      <a:srgbClr val="0D3889"/>
                    </a:solidFill>
                  </a:tcPr>
                </a:tc>
                <a:tc>
                  <a:txBody>
                    <a:bodyPr wrap="square"/>
                    <a:lstStyle/>
                    <a:p>
                      <a:r>
                        <a:rPr sz="1300" b="1" i="0">
                          <a:solidFill>
                            <a:srgbClr val="FFFFFF"/>
                          </a:solidFill>
                          <a:latin typeface="Calibri"/>
                        </a:rPr>
                        <a:t>Methodology</a:t>
                      </a:r>
                    </a:p>
                  </a:txBody>
                  <a:tcPr marL="64008" marR="64008" marT="45720" marB="45720">
                    <a:solidFill>
                      <a:srgbClr val="0D3889"/>
                    </a:solidFill>
                  </a:tcPr>
                </a:tc>
                <a:tc>
                  <a:txBody>
                    <a:bodyPr wrap="square"/>
                    <a:lstStyle/>
                    <a:p>
                      <a:r>
                        <a:rPr sz="1300" b="1" i="0">
                          <a:solidFill>
                            <a:srgbClr val="FFFFFF"/>
                          </a:solidFill>
                          <a:latin typeface="Calibri"/>
                        </a:rPr>
                        <a:t>Key Findings</a:t>
                      </a:r>
                    </a:p>
                  </a:txBody>
                  <a:tcPr marL="64008" marR="64008" marT="45720" marB="45720">
                    <a:solidFill>
                      <a:srgbClr val="0D3889"/>
                    </a:solidFill>
                  </a:tcPr>
                </a:tc>
                <a:tc>
                  <a:txBody>
                    <a:bodyPr wrap="square"/>
                    <a:lstStyle/>
                    <a:p>
                      <a:r>
                        <a:rPr sz="1300" b="1" i="0">
                          <a:solidFill>
                            <a:srgbClr val="FFFFFF"/>
                          </a:solidFill>
                          <a:latin typeface="Calibri"/>
                        </a:rPr>
                        <a:t>Limitations</a:t>
                      </a:r>
                    </a:p>
                  </a:txBody>
                  <a:tcPr marL="64008" marR="64008" marT="45720" marB="45720">
                    <a:solidFill>
                      <a:srgbClr val="0D3889"/>
                    </a:solidFill>
                  </a:tcPr>
                </a:tc>
              </a:tr>
              <a:tr h="1463040">
                <a:tc>
                  <a:txBody>
                    <a:bodyPr wrap="square"/>
                    <a:lstStyle/>
                    <a:p>
                      <a:r>
                        <a:rPr sz="1250" b="1" i="0">
                          <a:solidFill>
                            <a:srgbClr val="1A1A1A"/>
                          </a:solidFill>
                          <a:latin typeface="Calibri"/>
                        </a:rPr>
                        <a:t>Ronneberger et al., 2015</a:t>
                      </a:r>
                    </a:p>
                    <a:p>
                      <a:r>
                        <a:rPr sz="900" b="0" i="1">
                          <a:solidFill>
                            <a:srgbClr val="1A1A1A"/>
                          </a:solidFill>
                          <a:latin typeface="Calibri"/>
                        </a:rPr>
                        <a:t>MICCAI (U-Net)</a:t>
                      </a:r>
                    </a:p>
                  </a:txBody>
                  <a:tcPr marL="64008" marR="64008" marT="45720" marB="45720">
                    <a:solidFill>
                      <a:srgbClr val="EEF2F8"/>
                    </a:solidFill>
                  </a:tcPr>
                </a:tc>
                <a:tc>
                  <a:txBody>
                    <a:bodyPr wrap="square"/>
                    <a:lstStyle/>
                    <a:p>
                      <a:r>
                        <a:rPr sz="1250" b="0" i="0">
                          <a:solidFill>
                            <a:srgbClr val="1A1A1A"/>
                          </a:solidFill>
                          <a:latin typeface="Calibri"/>
                        </a:rPr>
                        <a:t>Encoder–decoder network with skip connections that labels every pixel.</a:t>
                      </a:r>
                    </a:p>
                  </a:txBody>
                  <a:tcPr marL="64008" marR="64008" marT="45720" marB="45720">
                    <a:solidFill>
                      <a:srgbClr val="EEF2F8"/>
                    </a:solidFill>
                  </a:tcPr>
                </a:tc>
                <a:tc>
                  <a:txBody>
                    <a:bodyPr wrap="square"/>
                    <a:lstStyle/>
                    <a:p>
                      <a:r>
                        <a:rPr sz="1250" b="0" i="0">
                          <a:solidFill>
                            <a:srgbClr val="1A1A1A"/>
                          </a:solidFill>
                          <a:latin typeface="Calibri"/>
                        </a:rPr>
                        <a:t>Accurate pixel-level segmentation even with little training data; now a standard model.</a:t>
                      </a:r>
                    </a:p>
                  </a:txBody>
                  <a:tcPr marL="64008" marR="64008" marT="45720" marB="45720">
                    <a:solidFill>
                      <a:srgbClr val="EEF2F8"/>
                    </a:solidFill>
                  </a:tcPr>
                </a:tc>
                <a:tc>
                  <a:txBody>
                    <a:bodyPr wrap="square"/>
                    <a:lstStyle/>
                    <a:p>
                      <a:r>
                        <a:rPr sz="1250" b="0" i="0">
                          <a:solidFill>
                            <a:srgbClr val="1A1A1A"/>
                          </a:solidFill>
                          <a:latin typeface="Calibri"/>
                        </a:rPr>
                        <a:t>Built for medical images; needs labelled masks; no idea of habitat networks.</a:t>
                      </a:r>
                    </a:p>
                  </a:txBody>
                  <a:tcPr marL="64008" marR="64008" marT="45720" marB="45720">
                    <a:solidFill>
                      <a:srgbClr val="EEF2F8"/>
                    </a:solidFill>
                  </a:tcPr>
                </a:tc>
              </a:tr>
              <a:tr h="1463040">
                <a:tc>
                  <a:txBody>
                    <a:bodyPr wrap="square"/>
                    <a:lstStyle/>
                    <a:p>
                      <a:r>
                        <a:rPr sz="1250" b="1" i="0">
                          <a:solidFill>
                            <a:srgbClr val="1A1A1A"/>
                          </a:solidFill>
                          <a:latin typeface="Calibri"/>
                        </a:rPr>
                        <a:t>Tan &amp; Le, 2019</a:t>
                      </a:r>
                    </a:p>
                    <a:p>
                      <a:r>
                        <a:rPr sz="900" b="0" i="1">
                          <a:solidFill>
                            <a:srgbClr val="1A1A1A"/>
                          </a:solidFill>
                          <a:latin typeface="Calibri"/>
                        </a:rPr>
                        <a:t>ICML (EfficientNet)</a:t>
                      </a:r>
                    </a:p>
                  </a:txBody>
                  <a:tcPr marL="64008" marR="64008" marT="45720" marB="45720">
                    <a:solidFill>
                      <a:srgbClr val="FFFFFF"/>
                    </a:solidFill>
                  </a:tcPr>
                </a:tc>
                <a:tc>
                  <a:txBody>
                    <a:bodyPr wrap="square"/>
                    <a:lstStyle/>
                    <a:p>
                      <a:r>
                        <a:rPr sz="1250" b="0" i="0">
                          <a:solidFill>
                            <a:srgbClr val="1A1A1A"/>
                          </a:solidFill>
                          <a:latin typeface="Calibri"/>
                        </a:rPr>
                        <a:t>Scales network depth, width and image size together (models B0 to B7).</a:t>
                      </a:r>
                    </a:p>
                  </a:txBody>
                  <a:tcPr marL="64008" marR="64008" marT="45720" marB="45720">
                    <a:solidFill>
                      <a:srgbClr val="FFFFFF"/>
                    </a:solidFill>
                  </a:tcPr>
                </a:tc>
                <a:tc>
                  <a:txBody>
                    <a:bodyPr wrap="square"/>
                    <a:lstStyle/>
                    <a:p>
                      <a:r>
                        <a:rPr sz="1250" b="0" i="0">
                          <a:solidFill>
                            <a:srgbClr val="1A1A1A"/>
                          </a:solidFill>
                          <a:latin typeface="Calibri"/>
                        </a:rPr>
                        <a:t>Higher accuracy with fewer parameters than earlier image-recognition networks.</a:t>
                      </a:r>
                    </a:p>
                  </a:txBody>
                  <a:tcPr marL="64008" marR="64008" marT="45720" marB="45720">
                    <a:solidFill>
                      <a:srgbClr val="FFFFFF"/>
                    </a:solidFill>
                  </a:tcPr>
                </a:tc>
                <a:tc>
                  <a:txBody>
                    <a:bodyPr wrap="square"/>
                    <a:lstStyle/>
                    <a:p>
                      <a:r>
                        <a:rPr sz="1250" b="0" i="0">
                          <a:solidFill>
                            <a:srgbClr val="1A1A1A"/>
                          </a:solidFill>
                          <a:latin typeface="Calibri"/>
                        </a:rPr>
                        <a:t>Large versions (B7) need a lot of GPU memory; it is a backbone, not a full mapping system.</a:t>
                      </a:r>
                    </a:p>
                  </a:txBody>
                  <a:tcPr marL="64008" marR="64008" marT="45720" marB="45720">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Literature Survey (3/7)</a:t>
            </a:r>
          </a:p>
        </p:txBody>
      </p:sp>
      <p:sp>
        <p:nvSpPr>
          <p:cNvPr id="3" name="TextBox 2"/>
          <p:cNvSpPr txBox="1"/>
          <p:nvPr/>
        </p:nvSpPr>
        <p:spPr>
          <a:xfrm>
            <a:off x="1188720" y="1005840"/>
            <a:ext cx="7589520" cy="320040"/>
          </a:xfrm>
          <a:prstGeom prst="rect">
            <a:avLst/>
          </a:prstGeom>
          <a:noFill/>
        </p:spPr>
        <p:txBody>
          <a:bodyPr wrap="square" lIns="36576" rIns="36576" tIns="18288" bIns="18288" anchor="t">
            <a:spAutoFit/>
          </a:bodyPr>
          <a:lstStyle/>
          <a:p>
            <a:pPr algn="l">
              <a:spcAft>
                <a:spcPts val="400"/>
              </a:spcAft>
            </a:pPr>
            <a:r>
              <a:rPr sz="1400" b="1" i="0">
                <a:solidFill>
                  <a:srgbClr val="0D3889"/>
                </a:solidFill>
                <a:latin typeface="Calibri"/>
              </a:rPr>
              <a:t>Transformers &amp; change detection</a:t>
            </a:r>
          </a:p>
        </p:txBody>
      </p:sp>
      <p:graphicFrame>
        <p:nvGraphicFramePr>
          <p:cNvPr id="4" name="Table 3"/>
          <p:cNvGraphicFramePr>
            <a:graphicFrameLocks noGrp="1"/>
          </p:cNvGraphicFramePr>
          <p:nvPr/>
        </p:nvGraphicFramePr>
        <p:xfrm>
          <a:off x="1188720" y="1371600"/>
          <a:ext cx="7589520" cy="3291840"/>
        </p:xfrm>
        <a:graphic>
          <a:graphicData uri="http://schemas.openxmlformats.org/drawingml/2006/table">
            <a:tbl>
              <a:tblPr firstRow="1" bandRow="0">
                <a:tableStyleId>{5C22544A-7EE6-4342-B048-85BDC9FD1C3A}</a:tableStyleId>
              </a:tblPr>
              <a:tblGrid>
                <a:gridCol w="1600200"/>
                <a:gridCol w="2057400"/>
                <a:gridCol w="1965960"/>
                <a:gridCol w="1965960"/>
              </a:tblGrid>
              <a:tr h="365760">
                <a:tc>
                  <a:txBody>
                    <a:bodyPr wrap="square"/>
                    <a:lstStyle/>
                    <a:p>
                      <a:r>
                        <a:rPr sz="1300" b="1" i="0">
                          <a:solidFill>
                            <a:srgbClr val="FFFFFF"/>
                          </a:solidFill>
                          <a:latin typeface="Calibri"/>
                        </a:rPr>
                        <a:t>Author &amp; Year</a:t>
                      </a:r>
                    </a:p>
                  </a:txBody>
                  <a:tcPr marL="64008" marR="64008" marT="45720" marB="45720">
                    <a:solidFill>
                      <a:srgbClr val="0D3889"/>
                    </a:solidFill>
                  </a:tcPr>
                </a:tc>
                <a:tc>
                  <a:txBody>
                    <a:bodyPr wrap="square"/>
                    <a:lstStyle/>
                    <a:p>
                      <a:r>
                        <a:rPr sz="1300" b="1" i="0">
                          <a:solidFill>
                            <a:srgbClr val="FFFFFF"/>
                          </a:solidFill>
                          <a:latin typeface="Calibri"/>
                        </a:rPr>
                        <a:t>Methodology</a:t>
                      </a:r>
                    </a:p>
                  </a:txBody>
                  <a:tcPr marL="64008" marR="64008" marT="45720" marB="45720">
                    <a:solidFill>
                      <a:srgbClr val="0D3889"/>
                    </a:solidFill>
                  </a:tcPr>
                </a:tc>
                <a:tc>
                  <a:txBody>
                    <a:bodyPr wrap="square"/>
                    <a:lstStyle/>
                    <a:p>
                      <a:r>
                        <a:rPr sz="1300" b="1" i="0">
                          <a:solidFill>
                            <a:srgbClr val="FFFFFF"/>
                          </a:solidFill>
                          <a:latin typeface="Calibri"/>
                        </a:rPr>
                        <a:t>Key Findings</a:t>
                      </a:r>
                    </a:p>
                  </a:txBody>
                  <a:tcPr marL="64008" marR="64008" marT="45720" marB="45720">
                    <a:solidFill>
                      <a:srgbClr val="0D3889"/>
                    </a:solidFill>
                  </a:tcPr>
                </a:tc>
                <a:tc>
                  <a:txBody>
                    <a:bodyPr wrap="square"/>
                    <a:lstStyle/>
                    <a:p>
                      <a:r>
                        <a:rPr sz="1300" b="1" i="0">
                          <a:solidFill>
                            <a:srgbClr val="FFFFFF"/>
                          </a:solidFill>
                          <a:latin typeface="Calibri"/>
                        </a:rPr>
                        <a:t>Limitations</a:t>
                      </a:r>
                    </a:p>
                  </a:txBody>
                  <a:tcPr marL="64008" marR="64008" marT="45720" marB="45720">
                    <a:solidFill>
                      <a:srgbClr val="0D3889"/>
                    </a:solidFill>
                  </a:tcPr>
                </a:tc>
              </a:tr>
              <a:tr h="1463040">
                <a:tc>
                  <a:txBody>
                    <a:bodyPr wrap="square"/>
                    <a:lstStyle/>
                    <a:p>
                      <a:r>
                        <a:rPr sz="1250" b="1" i="0">
                          <a:solidFill>
                            <a:srgbClr val="1A1A1A"/>
                          </a:solidFill>
                          <a:latin typeface="Calibri"/>
                        </a:rPr>
                        <a:t>Liu et al., 2021</a:t>
                      </a:r>
                    </a:p>
                    <a:p>
                      <a:r>
                        <a:rPr sz="900" b="0" i="1">
                          <a:solidFill>
                            <a:srgbClr val="1A1A1A"/>
                          </a:solidFill>
                          <a:latin typeface="Calibri"/>
                        </a:rPr>
                        <a:t>ICCV (Swin Transformer)</a:t>
                      </a:r>
                    </a:p>
                  </a:txBody>
                  <a:tcPr marL="64008" marR="64008" marT="45720" marB="45720">
                    <a:solidFill>
                      <a:srgbClr val="EEF2F8"/>
                    </a:solidFill>
                  </a:tcPr>
                </a:tc>
                <a:tc>
                  <a:txBody>
                    <a:bodyPr wrap="square"/>
                    <a:lstStyle/>
                    <a:p>
                      <a:r>
                        <a:rPr sz="1250" b="0" i="0">
                          <a:solidFill>
                            <a:srgbClr val="1A1A1A"/>
                          </a:solidFill>
                          <a:latin typeface="Calibri"/>
                        </a:rPr>
                        <a:t>Vision transformer that looks at the image in shifted windows at several scales.</a:t>
                      </a:r>
                    </a:p>
                  </a:txBody>
                  <a:tcPr marL="64008" marR="64008" marT="45720" marB="45720">
                    <a:solidFill>
                      <a:srgbClr val="EEF2F8"/>
                    </a:solidFill>
                  </a:tcPr>
                </a:tc>
                <a:tc>
                  <a:txBody>
                    <a:bodyPr wrap="square"/>
                    <a:lstStyle/>
                    <a:p>
                      <a:r>
                        <a:rPr sz="1250" b="0" i="0">
                          <a:solidFill>
                            <a:srgbClr val="1A1A1A"/>
                          </a:solidFill>
                          <a:latin typeface="Calibri"/>
                        </a:rPr>
                        <a:t>Strong results in classification, detection and segmentation benchmarks.</a:t>
                      </a:r>
                    </a:p>
                  </a:txBody>
                  <a:tcPr marL="64008" marR="64008" marT="45720" marB="45720">
                    <a:solidFill>
                      <a:srgbClr val="EEF2F8"/>
                    </a:solidFill>
                  </a:tcPr>
                </a:tc>
                <a:tc>
                  <a:txBody>
                    <a:bodyPr wrap="square"/>
                    <a:lstStyle/>
                    <a:p>
                      <a:r>
                        <a:rPr sz="1250" b="0" i="0">
                          <a:solidFill>
                            <a:srgbClr val="1A1A1A"/>
                          </a:solidFill>
                          <a:latin typeface="Calibri"/>
                        </a:rPr>
                        <a:t>Needs heavy compute and large data; general vision model, not habitat-specific.</a:t>
                      </a:r>
                    </a:p>
                  </a:txBody>
                  <a:tcPr marL="64008" marR="64008" marT="45720" marB="45720">
                    <a:solidFill>
                      <a:srgbClr val="EEF2F8"/>
                    </a:solidFill>
                  </a:tcPr>
                </a:tc>
              </a:tr>
              <a:tr h="1463040">
                <a:tc>
                  <a:txBody>
                    <a:bodyPr wrap="square"/>
                    <a:lstStyle/>
                    <a:p>
                      <a:r>
                        <a:rPr sz="1250" b="1" i="0">
                          <a:solidFill>
                            <a:srgbClr val="1A1A1A"/>
                          </a:solidFill>
                          <a:latin typeface="Calibri"/>
                        </a:rPr>
                        <a:t>Yu et al., 2025</a:t>
                      </a:r>
                    </a:p>
                    <a:p>
                      <a:r>
                        <a:rPr sz="900" b="0" i="1">
                          <a:solidFill>
                            <a:srgbClr val="1A1A1A"/>
                          </a:solidFill>
                          <a:latin typeface="Calibri"/>
                        </a:rPr>
                        <a:t>IEEE JSTARS (review)</a:t>
                      </a:r>
                    </a:p>
                  </a:txBody>
                  <a:tcPr marL="64008" marR="64008" marT="45720" marB="45720">
                    <a:solidFill>
                      <a:srgbClr val="FFFFFF"/>
                    </a:solidFill>
                  </a:tcPr>
                </a:tc>
                <a:tc>
                  <a:txBody>
                    <a:bodyPr wrap="square"/>
                    <a:lstStyle/>
                    <a:p>
                      <a:r>
                        <a:rPr sz="1250" b="0" i="0">
                          <a:solidFill>
                            <a:srgbClr val="1A1A1A"/>
                          </a:solidFill>
                          <a:latin typeface="Calibri"/>
                        </a:rPr>
                        <a:t>Survey of deep-learning change detection: CNN, Siamese and transformer methods.</a:t>
                      </a:r>
                    </a:p>
                  </a:txBody>
                  <a:tcPr marL="64008" marR="64008" marT="45720" marB="45720">
                    <a:solidFill>
                      <a:srgbClr val="FFFFFF"/>
                    </a:solidFill>
                  </a:tcPr>
                </a:tc>
                <a:tc>
                  <a:txBody>
                    <a:bodyPr wrap="square"/>
                    <a:lstStyle/>
                    <a:p>
                      <a:r>
                        <a:rPr sz="1250" b="0" i="0">
                          <a:solidFill>
                            <a:srgbClr val="1A1A1A"/>
                          </a:solidFill>
                          <a:latin typeface="Calibri"/>
                        </a:rPr>
                        <a:t>Organises methods and datasets for finding change between two satellite images.</a:t>
                      </a:r>
                    </a:p>
                  </a:txBody>
                  <a:tcPr marL="64008" marR="64008" marT="45720" marB="45720">
                    <a:solidFill>
                      <a:srgbClr val="FFFFFF"/>
                    </a:solidFill>
                  </a:tcPr>
                </a:tc>
                <a:tc>
                  <a:txBody>
                    <a:bodyPr wrap="square"/>
                    <a:lstStyle/>
                    <a:p>
                      <a:r>
                        <a:rPr sz="1250" b="0" i="0">
                          <a:solidFill>
                            <a:srgbClr val="1A1A1A"/>
                          </a:solidFill>
                          <a:latin typeface="Calibri"/>
                        </a:rPr>
                        <a:t>Survey only; finds change but does not measure its effect on habitat connectivity.</a:t>
                      </a:r>
                    </a:p>
                  </a:txBody>
                  <a:tcPr marL="64008" marR="64008" marT="45720" marB="45720">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Literature Survey (4/7)</a:t>
            </a:r>
          </a:p>
        </p:txBody>
      </p:sp>
      <p:sp>
        <p:nvSpPr>
          <p:cNvPr id="3" name="TextBox 2"/>
          <p:cNvSpPr txBox="1"/>
          <p:nvPr/>
        </p:nvSpPr>
        <p:spPr>
          <a:xfrm>
            <a:off x="1188720" y="1005840"/>
            <a:ext cx="7589520" cy="320040"/>
          </a:xfrm>
          <a:prstGeom prst="rect">
            <a:avLst/>
          </a:prstGeom>
          <a:noFill/>
        </p:spPr>
        <p:txBody>
          <a:bodyPr wrap="square" lIns="36576" rIns="36576" tIns="18288" bIns="18288" anchor="t">
            <a:spAutoFit/>
          </a:bodyPr>
          <a:lstStyle/>
          <a:p>
            <a:pPr algn="l">
              <a:spcAft>
                <a:spcPts val="400"/>
              </a:spcAft>
            </a:pPr>
            <a:r>
              <a:rPr sz="1400" b="1" i="0">
                <a:solidFill>
                  <a:srgbClr val="0D3889"/>
                </a:solidFill>
                <a:latin typeface="Calibri"/>
              </a:rPr>
              <a:t>Graph-based landscape connectivity</a:t>
            </a:r>
          </a:p>
        </p:txBody>
      </p:sp>
      <p:graphicFrame>
        <p:nvGraphicFramePr>
          <p:cNvPr id="4" name="Table 3"/>
          <p:cNvGraphicFramePr>
            <a:graphicFrameLocks noGrp="1"/>
          </p:cNvGraphicFramePr>
          <p:nvPr/>
        </p:nvGraphicFramePr>
        <p:xfrm>
          <a:off x="1188720" y="1371600"/>
          <a:ext cx="7589520" cy="3291840"/>
        </p:xfrm>
        <a:graphic>
          <a:graphicData uri="http://schemas.openxmlformats.org/drawingml/2006/table">
            <a:tbl>
              <a:tblPr firstRow="1" bandRow="0">
                <a:tableStyleId>{5C22544A-7EE6-4342-B048-85BDC9FD1C3A}</a:tableStyleId>
              </a:tblPr>
              <a:tblGrid>
                <a:gridCol w="1600200"/>
                <a:gridCol w="2057400"/>
                <a:gridCol w="1965960"/>
                <a:gridCol w="1965960"/>
              </a:tblGrid>
              <a:tr h="365760">
                <a:tc>
                  <a:txBody>
                    <a:bodyPr wrap="square"/>
                    <a:lstStyle/>
                    <a:p>
                      <a:r>
                        <a:rPr sz="1300" b="1" i="0">
                          <a:solidFill>
                            <a:srgbClr val="FFFFFF"/>
                          </a:solidFill>
                          <a:latin typeface="Calibri"/>
                        </a:rPr>
                        <a:t>Author &amp; Year</a:t>
                      </a:r>
                    </a:p>
                  </a:txBody>
                  <a:tcPr marL="64008" marR="64008" marT="45720" marB="45720">
                    <a:solidFill>
                      <a:srgbClr val="0D3889"/>
                    </a:solidFill>
                  </a:tcPr>
                </a:tc>
                <a:tc>
                  <a:txBody>
                    <a:bodyPr wrap="square"/>
                    <a:lstStyle/>
                    <a:p>
                      <a:r>
                        <a:rPr sz="1300" b="1" i="0">
                          <a:solidFill>
                            <a:srgbClr val="FFFFFF"/>
                          </a:solidFill>
                          <a:latin typeface="Calibri"/>
                        </a:rPr>
                        <a:t>Methodology</a:t>
                      </a:r>
                    </a:p>
                  </a:txBody>
                  <a:tcPr marL="64008" marR="64008" marT="45720" marB="45720">
                    <a:solidFill>
                      <a:srgbClr val="0D3889"/>
                    </a:solidFill>
                  </a:tcPr>
                </a:tc>
                <a:tc>
                  <a:txBody>
                    <a:bodyPr wrap="square"/>
                    <a:lstStyle/>
                    <a:p>
                      <a:r>
                        <a:rPr sz="1300" b="1" i="0">
                          <a:solidFill>
                            <a:srgbClr val="FFFFFF"/>
                          </a:solidFill>
                          <a:latin typeface="Calibri"/>
                        </a:rPr>
                        <a:t>Key Findings</a:t>
                      </a:r>
                    </a:p>
                  </a:txBody>
                  <a:tcPr marL="64008" marR="64008" marT="45720" marB="45720">
                    <a:solidFill>
                      <a:srgbClr val="0D3889"/>
                    </a:solidFill>
                  </a:tcPr>
                </a:tc>
                <a:tc>
                  <a:txBody>
                    <a:bodyPr wrap="square"/>
                    <a:lstStyle/>
                    <a:p>
                      <a:r>
                        <a:rPr sz="1300" b="1" i="0">
                          <a:solidFill>
                            <a:srgbClr val="FFFFFF"/>
                          </a:solidFill>
                          <a:latin typeface="Calibri"/>
                        </a:rPr>
                        <a:t>Limitations</a:t>
                      </a:r>
                    </a:p>
                  </a:txBody>
                  <a:tcPr marL="64008" marR="64008" marT="45720" marB="45720">
                    <a:solidFill>
                      <a:srgbClr val="0D3889"/>
                    </a:solidFill>
                  </a:tcPr>
                </a:tc>
              </a:tr>
              <a:tr h="1463040">
                <a:tc>
                  <a:txBody>
                    <a:bodyPr wrap="square"/>
                    <a:lstStyle/>
                    <a:p>
                      <a:r>
                        <a:rPr sz="1250" b="1" i="0">
                          <a:solidFill>
                            <a:srgbClr val="1A1A1A"/>
                          </a:solidFill>
                          <a:latin typeface="Calibri"/>
                        </a:rPr>
                        <a:t>Urban &amp; Keitt, 2001</a:t>
                      </a:r>
                    </a:p>
                    <a:p>
                      <a:r>
                        <a:rPr sz="900" b="0" i="1">
                          <a:solidFill>
                            <a:srgbClr val="1A1A1A"/>
                          </a:solidFill>
                          <a:latin typeface="Calibri"/>
                        </a:rPr>
                        <a:t>Ecology</a:t>
                      </a:r>
                    </a:p>
                  </a:txBody>
                  <a:tcPr marL="64008" marR="64008" marT="45720" marB="45720">
                    <a:solidFill>
                      <a:srgbClr val="EEF2F8"/>
                    </a:solidFill>
                  </a:tcPr>
                </a:tc>
                <a:tc>
                  <a:txBody>
                    <a:bodyPr wrap="square"/>
                    <a:lstStyle/>
                    <a:p>
                      <a:r>
                        <a:rPr sz="1250" b="0" i="0">
                          <a:solidFill>
                            <a:srgbClr val="1A1A1A"/>
                          </a:solidFill>
                          <a:latin typeface="Calibri"/>
                        </a:rPr>
                        <a:t>Represents a landscape as a graph: habitat patches as nodes, movement links as edges.</a:t>
                      </a:r>
                    </a:p>
                  </a:txBody>
                  <a:tcPr marL="64008" marR="64008" marT="45720" marB="45720">
                    <a:solidFill>
                      <a:srgbClr val="EEF2F8"/>
                    </a:solidFill>
                  </a:tcPr>
                </a:tc>
                <a:tc>
                  <a:txBody>
                    <a:bodyPr wrap="square"/>
                    <a:lstStyle/>
                    <a:p>
                      <a:r>
                        <a:rPr sz="1250" b="0" i="0">
                          <a:solidFill>
                            <a:srgbClr val="1A1A1A"/>
                          </a:solidFill>
                          <a:latin typeface="Calibri"/>
                        </a:rPr>
                        <a:t>Graph measures show which patches and links keep a landscape connected.</a:t>
                      </a:r>
                    </a:p>
                  </a:txBody>
                  <a:tcPr marL="64008" marR="64008" marT="45720" marB="45720">
                    <a:solidFill>
                      <a:srgbClr val="EEF2F8"/>
                    </a:solidFill>
                  </a:tcPr>
                </a:tc>
                <a:tc>
                  <a:txBody>
                    <a:bodyPr wrap="square"/>
                    <a:lstStyle/>
                    <a:p>
                      <a:r>
                        <a:rPr sz="1250" b="0" i="0">
                          <a:solidFill>
                            <a:srgbClr val="1A1A1A"/>
                          </a:solidFill>
                          <a:latin typeface="Calibri"/>
                        </a:rPr>
                        <a:t>Patches entered by hand; no satellite images or automation.</a:t>
                      </a:r>
                    </a:p>
                  </a:txBody>
                  <a:tcPr marL="64008" marR="64008" marT="45720" marB="45720">
                    <a:solidFill>
                      <a:srgbClr val="EEF2F8"/>
                    </a:solidFill>
                  </a:tcPr>
                </a:tc>
              </a:tr>
              <a:tr h="1463040">
                <a:tc>
                  <a:txBody>
                    <a:bodyPr wrap="square"/>
                    <a:lstStyle/>
                    <a:p>
                      <a:r>
                        <a:rPr sz="1250" b="1" i="0">
                          <a:solidFill>
                            <a:srgbClr val="1A1A1A"/>
                          </a:solidFill>
                          <a:latin typeface="Calibri"/>
                        </a:rPr>
                        <a:t>McRae et al., 2008</a:t>
                      </a:r>
                    </a:p>
                    <a:p>
                      <a:r>
                        <a:rPr sz="900" b="0" i="1">
                          <a:solidFill>
                            <a:srgbClr val="1A1A1A"/>
                          </a:solidFill>
                          <a:latin typeface="Calibri"/>
                        </a:rPr>
                        <a:t>Ecology (circuit theory)</a:t>
                      </a:r>
                    </a:p>
                  </a:txBody>
                  <a:tcPr marL="64008" marR="64008" marT="45720" marB="45720">
                    <a:solidFill>
                      <a:srgbClr val="FFFFFF"/>
                    </a:solidFill>
                  </a:tcPr>
                </a:tc>
                <a:tc>
                  <a:txBody>
                    <a:bodyPr wrap="square"/>
                    <a:lstStyle/>
                    <a:p>
                      <a:r>
                        <a:rPr sz="1250" b="0" i="0">
                          <a:solidFill>
                            <a:srgbClr val="1A1A1A"/>
                          </a:solidFill>
                          <a:latin typeface="Calibri"/>
                        </a:rPr>
                        <a:t>Treats the landscape like an electrical circuit to model all possible movement paths.</a:t>
                      </a:r>
                    </a:p>
                  </a:txBody>
                  <a:tcPr marL="64008" marR="64008" marT="45720" marB="45720">
                    <a:solidFill>
                      <a:srgbClr val="FFFFFF"/>
                    </a:solidFill>
                  </a:tcPr>
                </a:tc>
                <a:tc>
                  <a:txBody>
                    <a:bodyPr wrap="square"/>
                    <a:lstStyle/>
                    <a:p>
                      <a:r>
                        <a:rPr sz="1250" b="0" i="0">
                          <a:solidFill>
                            <a:srgbClr val="1A1A1A"/>
                          </a:solidFill>
                          <a:latin typeface="Calibri"/>
                        </a:rPr>
                        <a:t>More realistic corridor modelling than a single shortest path.</a:t>
                      </a:r>
                    </a:p>
                  </a:txBody>
                  <a:tcPr marL="64008" marR="64008" marT="45720" marB="45720">
                    <a:solidFill>
                      <a:srgbClr val="FFFFFF"/>
                    </a:solidFill>
                  </a:tcPr>
                </a:tc>
                <a:tc>
                  <a:txBody>
                    <a:bodyPr wrap="square"/>
                    <a:lstStyle/>
                    <a:p>
                      <a:r>
                        <a:rPr sz="1250" b="0" i="0">
                          <a:solidFill>
                            <a:srgbClr val="1A1A1A"/>
                          </a:solidFill>
                          <a:latin typeface="Calibri"/>
                        </a:rPr>
                        <a:t>Computationally heavy for large areas; needs a prepared resistance map.</a:t>
                      </a:r>
                    </a:p>
                  </a:txBody>
                  <a:tcPr marL="64008" marR="64008" marT="45720" marB="45720">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Literature Survey (5/7)</a:t>
            </a:r>
          </a:p>
        </p:txBody>
      </p:sp>
      <p:sp>
        <p:nvSpPr>
          <p:cNvPr id="3" name="TextBox 2"/>
          <p:cNvSpPr txBox="1"/>
          <p:nvPr/>
        </p:nvSpPr>
        <p:spPr>
          <a:xfrm>
            <a:off x="1188720" y="1005840"/>
            <a:ext cx="7589520" cy="320040"/>
          </a:xfrm>
          <a:prstGeom prst="rect">
            <a:avLst/>
          </a:prstGeom>
          <a:noFill/>
        </p:spPr>
        <p:txBody>
          <a:bodyPr wrap="square" lIns="36576" rIns="36576" tIns="18288" bIns="18288" anchor="t">
            <a:spAutoFit/>
          </a:bodyPr>
          <a:lstStyle/>
          <a:p>
            <a:pPr algn="l">
              <a:spcAft>
                <a:spcPts val="400"/>
              </a:spcAft>
            </a:pPr>
            <a:r>
              <a:rPr sz="1400" b="1" i="0">
                <a:solidFill>
                  <a:srgbClr val="0D3889"/>
                </a:solidFill>
                <a:latin typeface="Calibri"/>
              </a:rPr>
              <a:t>Connectivity indices</a:t>
            </a:r>
          </a:p>
        </p:txBody>
      </p:sp>
      <p:graphicFrame>
        <p:nvGraphicFramePr>
          <p:cNvPr id="4" name="Table 3"/>
          <p:cNvGraphicFramePr>
            <a:graphicFrameLocks noGrp="1"/>
          </p:cNvGraphicFramePr>
          <p:nvPr/>
        </p:nvGraphicFramePr>
        <p:xfrm>
          <a:off x="1188720" y="1371600"/>
          <a:ext cx="7589520" cy="3291840"/>
        </p:xfrm>
        <a:graphic>
          <a:graphicData uri="http://schemas.openxmlformats.org/drawingml/2006/table">
            <a:tbl>
              <a:tblPr firstRow="1" bandRow="0">
                <a:tableStyleId>{5C22544A-7EE6-4342-B048-85BDC9FD1C3A}</a:tableStyleId>
              </a:tblPr>
              <a:tblGrid>
                <a:gridCol w="1600200"/>
                <a:gridCol w="2057400"/>
                <a:gridCol w="1965960"/>
                <a:gridCol w="1965960"/>
              </a:tblGrid>
              <a:tr h="365760">
                <a:tc>
                  <a:txBody>
                    <a:bodyPr wrap="square"/>
                    <a:lstStyle/>
                    <a:p>
                      <a:r>
                        <a:rPr sz="1300" b="1" i="0">
                          <a:solidFill>
                            <a:srgbClr val="FFFFFF"/>
                          </a:solidFill>
                          <a:latin typeface="Calibri"/>
                        </a:rPr>
                        <a:t>Author &amp; Year</a:t>
                      </a:r>
                    </a:p>
                  </a:txBody>
                  <a:tcPr marL="64008" marR="64008" marT="45720" marB="45720">
                    <a:solidFill>
                      <a:srgbClr val="0D3889"/>
                    </a:solidFill>
                  </a:tcPr>
                </a:tc>
                <a:tc>
                  <a:txBody>
                    <a:bodyPr wrap="square"/>
                    <a:lstStyle/>
                    <a:p>
                      <a:r>
                        <a:rPr sz="1300" b="1" i="0">
                          <a:solidFill>
                            <a:srgbClr val="FFFFFF"/>
                          </a:solidFill>
                          <a:latin typeface="Calibri"/>
                        </a:rPr>
                        <a:t>Methodology</a:t>
                      </a:r>
                    </a:p>
                  </a:txBody>
                  <a:tcPr marL="64008" marR="64008" marT="45720" marB="45720">
                    <a:solidFill>
                      <a:srgbClr val="0D3889"/>
                    </a:solidFill>
                  </a:tcPr>
                </a:tc>
                <a:tc>
                  <a:txBody>
                    <a:bodyPr wrap="square"/>
                    <a:lstStyle/>
                    <a:p>
                      <a:r>
                        <a:rPr sz="1300" b="1" i="0">
                          <a:solidFill>
                            <a:srgbClr val="FFFFFF"/>
                          </a:solidFill>
                          <a:latin typeface="Calibri"/>
                        </a:rPr>
                        <a:t>Key Findings</a:t>
                      </a:r>
                    </a:p>
                  </a:txBody>
                  <a:tcPr marL="64008" marR="64008" marT="45720" marB="45720">
                    <a:solidFill>
                      <a:srgbClr val="0D3889"/>
                    </a:solidFill>
                  </a:tcPr>
                </a:tc>
                <a:tc>
                  <a:txBody>
                    <a:bodyPr wrap="square"/>
                    <a:lstStyle/>
                    <a:p>
                      <a:r>
                        <a:rPr sz="1300" b="1" i="0">
                          <a:solidFill>
                            <a:srgbClr val="FFFFFF"/>
                          </a:solidFill>
                          <a:latin typeface="Calibri"/>
                        </a:rPr>
                        <a:t>Limitations</a:t>
                      </a:r>
                    </a:p>
                  </a:txBody>
                  <a:tcPr marL="64008" marR="64008" marT="45720" marB="45720">
                    <a:solidFill>
                      <a:srgbClr val="0D3889"/>
                    </a:solidFill>
                  </a:tcPr>
                </a:tc>
              </a:tr>
              <a:tr h="1463040">
                <a:tc>
                  <a:txBody>
                    <a:bodyPr wrap="square"/>
                    <a:lstStyle/>
                    <a:p>
                      <a:r>
                        <a:rPr sz="1250" b="1" i="0">
                          <a:solidFill>
                            <a:srgbClr val="1A1A1A"/>
                          </a:solidFill>
                          <a:latin typeface="Calibri"/>
                        </a:rPr>
                        <a:t>Pascual-Hortal &amp; Saura, 2006</a:t>
                      </a:r>
                    </a:p>
                    <a:p>
                      <a:r>
                        <a:rPr sz="900" b="0" i="1">
                          <a:solidFill>
                            <a:srgbClr val="1A1A1A"/>
                          </a:solidFill>
                          <a:latin typeface="Calibri"/>
                        </a:rPr>
                        <a:t>Landscape Ecology</a:t>
                      </a:r>
                    </a:p>
                  </a:txBody>
                  <a:tcPr marL="64008" marR="64008" marT="45720" marB="45720">
                    <a:solidFill>
                      <a:srgbClr val="EEF2F8"/>
                    </a:solidFill>
                  </a:tcPr>
                </a:tc>
                <a:tc>
                  <a:txBody>
                    <a:bodyPr wrap="square"/>
                    <a:lstStyle/>
                    <a:p>
                      <a:r>
                        <a:rPr sz="1250" b="0" i="0">
                          <a:solidFill>
                            <a:srgbClr val="1A1A1A"/>
                          </a:solidFill>
                          <a:latin typeface="Calibri"/>
                        </a:rPr>
                        <a:t>Compared graph connectivity indices and proposed the Integral Index of Connectivity (IIC).</a:t>
                      </a:r>
                    </a:p>
                  </a:txBody>
                  <a:tcPr marL="64008" marR="64008" marT="45720" marB="45720">
                    <a:solidFill>
                      <a:srgbClr val="EEF2F8"/>
                    </a:solidFill>
                  </a:tcPr>
                </a:tc>
                <a:tc>
                  <a:txBody>
                    <a:bodyPr wrap="square"/>
                    <a:lstStyle/>
                    <a:p>
                      <a:r>
                        <a:rPr sz="1250" b="0" i="0">
                          <a:solidFill>
                            <a:srgbClr val="1A1A1A"/>
                          </a:solidFill>
                          <a:latin typeface="Calibri"/>
                        </a:rPr>
                        <a:t>IIC can rank patches by how much connectivity is lost when each is removed.</a:t>
                      </a:r>
                    </a:p>
                  </a:txBody>
                  <a:tcPr marL="64008" marR="64008" marT="45720" marB="45720">
                    <a:solidFill>
                      <a:srgbClr val="EEF2F8"/>
                    </a:solidFill>
                  </a:tcPr>
                </a:tc>
                <a:tc>
                  <a:txBody>
                    <a:bodyPr wrap="square"/>
                    <a:lstStyle/>
                    <a:p>
                      <a:r>
                        <a:rPr sz="1250" b="0" i="0">
                          <a:solidFill>
                            <a:srgbClr val="1A1A1A"/>
                          </a:solidFill>
                          <a:latin typeface="Calibri"/>
                        </a:rPr>
                        <a:t>Needs habitat patches already mapped; not linked to satellite AI.</a:t>
                      </a:r>
                    </a:p>
                  </a:txBody>
                  <a:tcPr marL="64008" marR="64008" marT="45720" marB="45720">
                    <a:solidFill>
                      <a:srgbClr val="EEF2F8"/>
                    </a:solidFill>
                  </a:tcPr>
                </a:tc>
              </a:tr>
              <a:tr h="1463040">
                <a:tc>
                  <a:txBody>
                    <a:bodyPr wrap="square"/>
                    <a:lstStyle/>
                    <a:p>
                      <a:r>
                        <a:rPr sz="1250" b="1" i="0">
                          <a:solidFill>
                            <a:srgbClr val="1A1A1A"/>
                          </a:solidFill>
                          <a:latin typeface="Calibri"/>
                        </a:rPr>
                        <a:t>Saura &amp; Pascual-Hortal, 2007</a:t>
                      </a:r>
                    </a:p>
                    <a:p>
                      <a:r>
                        <a:rPr sz="900" b="0" i="1">
                          <a:solidFill>
                            <a:srgbClr val="1A1A1A"/>
                          </a:solidFill>
                          <a:latin typeface="Calibri"/>
                        </a:rPr>
                        <a:t>Landscape &amp; Urban Planning</a:t>
                      </a:r>
                    </a:p>
                  </a:txBody>
                  <a:tcPr marL="64008" marR="64008" marT="45720" marB="45720">
                    <a:solidFill>
                      <a:srgbClr val="FFFFFF"/>
                    </a:solidFill>
                  </a:tcPr>
                </a:tc>
                <a:tc>
                  <a:txBody>
                    <a:bodyPr wrap="square"/>
                    <a:lstStyle/>
                    <a:p>
                      <a:r>
                        <a:rPr sz="1250" b="0" i="0">
                          <a:solidFill>
                            <a:srgbClr val="1A1A1A"/>
                          </a:solidFill>
                          <a:latin typeface="Calibri"/>
                        </a:rPr>
                        <a:t>Probability of Connectivity (PC) index using the chance of movement between patches.</a:t>
                      </a:r>
                    </a:p>
                  </a:txBody>
                  <a:tcPr marL="64008" marR="64008" marT="45720" marB="45720">
                    <a:solidFill>
                      <a:srgbClr val="FFFFFF"/>
                    </a:solidFill>
                  </a:tcPr>
                </a:tc>
                <a:tc>
                  <a:txBody>
                    <a:bodyPr wrap="square"/>
                    <a:lstStyle/>
                    <a:p>
                      <a:r>
                        <a:rPr sz="1250" b="0" i="0">
                          <a:solidFill>
                            <a:srgbClr val="1A1A1A"/>
                          </a:solidFill>
                          <a:latin typeface="Calibri"/>
                        </a:rPr>
                        <a:t>Basis of the Conefor tool, widely used in conservation planning.</a:t>
                      </a:r>
                    </a:p>
                  </a:txBody>
                  <a:tcPr marL="64008" marR="64008" marT="45720" marB="45720">
                    <a:solidFill>
                      <a:srgbClr val="FFFFFF"/>
                    </a:solidFill>
                  </a:tcPr>
                </a:tc>
                <a:tc>
                  <a:txBody>
                    <a:bodyPr wrap="square"/>
                    <a:lstStyle/>
                    <a:p>
                      <a:r>
                        <a:rPr sz="1250" b="0" i="0">
                          <a:solidFill>
                            <a:srgbClr val="1A1A1A"/>
                          </a:solidFill>
                          <a:latin typeface="Calibri"/>
                        </a:rPr>
                        <a:t>Needs dispersal distances per species and pre-made habitat maps.</a:t>
                      </a:r>
                    </a:p>
                  </a:txBody>
                  <a:tcPr marL="64008" marR="64008" marT="45720" marB="45720">
                    <a:solidFill>
                      <a:srgbClr val="FFFFFF"/>
                    </a:solidFill>
                  </a:tcPr>
                </a:tc>
              </a:tr>
            </a:tbl>
          </a:graphicData>
        </a:graphic>
      </p:graphicFrame>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Literature Survey (6/7)</a:t>
            </a:r>
          </a:p>
        </p:txBody>
      </p:sp>
      <p:sp>
        <p:nvSpPr>
          <p:cNvPr id="3" name="TextBox 2"/>
          <p:cNvSpPr txBox="1"/>
          <p:nvPr/>
        </p:nvSpPr>
        <p:spPr>
          <a:xfrm>
            <a:off x="1188720" y="1005840"/>
            <a:ext cx="7589520" cy="320040"/>
          </a:xfrm>
          <a:prstGeom prst="rect">
            <a:avLst/>
          </a:prstGeom>
          <a:noFill/>
        </p:spPr>
        <p:txBody>
          <a:bodyPr wrap="square" lIns="36576" rIns="36576" tIns="18288" bIns="18288" anchor="t">
            <a:spAutoFit/>
          </a:bodyPr>
          <a:lstStyle/>
          <a:p>
            <a:pPr algn="l">
              <a:spcAft>
                <a:spcPts val="400"/>
              </a:spcAft>
            </a:pPr>
            <a:r>
              <a:rPr sz="1400" b="1" i="0">
                <a:solidFill>
                  <a:srgbClr val="0D3889"/>
                </a:solidFill>
                <a:latin typeface="Calibri"/>
              </a:rPr>
              <a:t>Graph learning on networks</a:t>
            </a:r>
          </a:p>
        </p:txBody>
      </p:sp>
      <p:graphicFrame>
        <p:nvGraphicFramePr>
          <p:cNvPr id="4" name="Table 3"/>
          <p:cNvGraphicFramePr>
            <a:graphicFrameLocks noGrp="1"/>
          </p:cNvGraphicFramePr>
          <p:nvPr/>
        </p:nvGraphicFramePr>
        <p:xfrm>
          <a:off x="1188720" y="1371600"/>
          <a:ext cx="7589520" cy="3291840"/>
        </p:xfrm>
        <a:graphic>
          <a:graphicData uri="http://schemas.openxmlformats.org/drawingml/2006/table">
            <a:tbl>
              <a:tblPr firstRow="1" bandRow="0">
                <a:tableStyleId>{5C22544A-7EE6-4342-B048-85BDC9FD1C3A}</a:tableStyleId>
              </a:tblPr>
              <a:tblGrid>
                <a:gridCol w="1600200"/>
                <a:gridCol w="2057400"/>
                <a:gridCol w="1965960"/>
                <a:gridCol w="1965960"/>
              </a:tblGrid>
              <a:tr h="365760">
                <a:tc>
                  <a:txBody>
                    <a:bodyPr wrap="square"/>
                    <a:lstStyle/>
                    <a:p>
                      <a:r>
                        <a:rPr sz="1300" b="1" i="0">
                          <a:solidFill>
                            <a:srgbClr val="FFFFFF"/>
                          </a:solidFill>
                          <a:latin typeface="Calibri"/>
                        </a:rPr>
                        <a:t>Author &amp; Year</a:t>
                      </a:r>
                    </a:p>
                  </a:txBody>
                  <a:tcPr marL="64008" marR="64008" marT="45720" marB="45720">
                    <a:solidFill>
                      <a:srgbClr val="0D3889"/>
                    </a:solidFill>
                  </a:tcPr>
                </a:tc>
                <a:tc>
                  <a:txBody>
                    <a:bodyPr wrap="square"/>
                    <a:lstStyle/>
                    <a:p>
                      <a:r>
                        <a:rPr sz="1300" b="1" i="0">
                          <a:solidFill>
                            <a:srgbClr val="FFFFFF"/>
                          </a:solidFill>
                          <a:latin typeface="Calibri"/>
                        </a:rPr>
                        <a:t>Methodology</a:t>
                      </a:r>
                    </a:p>
                  </a:txBody>
                  <a:tcPr marL="64008" marR="64008" marT="45720" marB="45720">
                    <a:solidFill>
                      <a:srgbClr val="0D3889"/>
                    </a:solidFill>
                  </a:tcPr>
                </a:tc>
                <a:tc>
                  <a:txBody>
                    <a:bodyPr wrap="square"/>
                    <a:lstStyle/>
                    <a:p>
                      <a:r>
                        <a:rPr sz="1300" b="1" i="0">
                          <a:solidFill>
                            <a:srgbClr val="FFFFFF"/>
                          </a:solidFill>
                          <a:latin typeface="Calibri"/>
                        </a:rPr>
                        <a:t>Key Findings</a:t>
                      </a:r>
                    </a:p>
                  </a:txBody>
                  <a:tcPr marL="64008" marR="64008" marT="45720" marB="45720">
                    <a:solidFill>
                      <a:srgbClr val="0D3889"/>
                    </a:solidFill>
                  </a:tcPr>
                </a:tc>
                <a:tc>
                  <a:txBody>
                    <a:bodyPr wrap="square"/>
                    <a:lstStyle/>
                    <a:p>
                      <a:r>
                        <a:rPr sz="1300" b="1" i="0">
                          <a:solidFill>
                            <a:srgbClr val="FFFFFF"/>
                          </a:solidFill>
                          <a:latin typeface="Calibri"/>
                        </a:rPr>
                        <a:t>Limitations</a:t>
                      </a:r>
                    </a:p>
                  </a:txBody>
                  <a:tcPr marL="64008" marR="64008" marT="45720" marB="45720">
                    <a:solidFill>
                      <a:srgbClr val="0D3889"/>
                    </a:solidFill>
                  </a:tcPr>
                </a:tc>
              </a:tr>
              <a:tr h="1463040">
                <a:tc>
                  <a:txBody>
                    <a:bodyPr wrap="square"/>
                    <a:lstStyle/>
                    <a:p>
                      <a:r>
                        <a:rPr sz="1250" b="1" i="0">
                          <a:solidFill>
                            <a:srgbClr val="1A1A1A"/>
                          </a:solidFill>
                          <a:latin typeface="Calibri"/>
                        </a:rPr>
                        <a:t>Liu et al., 2022</a:t>
                      </a:r>
                    </a:p>
                    <a:p>
                      <a:r>
                        <a:rPr sz="900" b="0" i="1">
                          <a:solidFill>
                            <a:srgbClr val="1A1A1A"/>
                          </a:solidFill>
                          <a:latin typeface="Calibri"/>
                        </a:rPr>
                        <a:t>IEEE TGRS</a:t>
                      </a:r>
                    </a:p>
                  </a:txBody>
                  <a:tcPr marL="64008" marR="64008" marT="45720" marB="45720">
                    <a:solidFill>
                      <a:srgbClr val="EEF2F8"/>
                    </a:solidFill>
                  </a:tcPr>
                </a:tc>
                <a:tc>
                  <a:txBody>
                    <a:bodyPr wrap="square"/>
                    <a:lstStyle/>
                    <a:p>
                      <a:r>
                        <a:rPr sz="1250" b="0" i="0">
                          <a:solidFill>
                            <a:srgbClr val="1A1A1A"/>
                          </a:solidFill>
                          <a:latin typeface="Calibri"/>
                        </a:rPr>
                        <a:t>Spatio-temporal graph neural network on long-term satellite image series.</a:t>
                      </a:r>
                    </a:p>
                  </a:txBody>
                  <a:tcPr marL="64008" marR="64008" marT="45720" marB="45720">
                    <a:solidFill>
                      <a:srgbClr val="EEF2F8"/>
                    </a:solidFill>
                  </a:tcPr>
                </a:tc>
                <a:tc>
                  <a:txBody>
                    <a:bodyPr wrap="square"/>
                    <a:lstStyle/>
                    <a:p>
                      <a:r>
                        <a:rPr sz="1250" b="0" i="0">
                          <a:solidFill>
                            <a:srgbClr val="1A1A1A"/>
                          </a:solidFill>
                          <a:latin typeface="Calibri"/>
                        </a:rPr>
                        <a:t>Detects how landscape patterns change over time.</a:t>
                      </a:r>
                    </a:p>
                  </a:txBody>
                  <a:tcPr marL="64008" marR="64008" marT="45720" marB="45720">
                    <a:solidFill>
                      <a:srgbClr val="EEF2F8"/>
                    </a:solidFill>
                  </a:tcPr>
                </a:tc>
                <a:tc>
                  <a:txBody>
                    <a:bodyPr wrap="square"/>
                    <a:lstStyle/>
                    <a:p>
                      <a:r>
                        <a:rPr sz="1250" b="0" i="0">
                          <a:solidFill>
                            <a:srgbClr val="1A1A1A"/>
                          </a:solidFill>
                          <a:latin typeface="Calibri"/>
                        </a:rPr>
                        <a:t>Finds the type of change only; does not rank which patches are critical.</a:t>
                      </a:r>
                    </a:p>
                  </a:txBody>
                  <a:tcPr marL="64008" marR="64008" marT="45720" marB="45720">
                    <a:solidFill>
                      <a:srgbClr val="EEF2F8"/>
                    </a:solidFill>
                  </a:tcPr>
                </a:tc>
              </a:tr>
              <a:tr h="1463040">
                <a:tc>
                  <a:txBody>
                    <a:bodyPr wrap="square"/>
                    <a:lstStyle/>
                    <a:p>
                      <a:r>
                        <a:rPr sz="1250" b="1" i="0">
                          <a:solidFill>
                            <a:srgbClr val="1A1A1A"/>
                          </a:solidFill>
                          <a:latin typeface="Calibri"/>
                        </a:rPr>
                        <a:t>Liu &amp; Liu, 2025</a:t>
                      </a:r>
                    </a:p>
                    <a:p>
                      <a:r>
                        <a:rPr sz="900" b="0" i="1">
                          <a:solidFill>
                            <a:srgbClr val="1A1A1A"/>
                          </a:solidFill>
                          <a:latin typeface="Calibri"/>
                        </a:rPr>
                        <a:t>IEEE Access (review)</a:t>
                      </a:r>
                    </a:p>
                  </a:txBody>
                  <a:tcPr marL="64008" marR="64008" marT="45720" marB="45720">
                    <a:solidFill>
                      <a:srgbClr val="FFFFFF"/>
                    </a:solidFill>
                  </a:tcPr>
                </a:tc>
                <a:tc>
                  <a:txBody>
                    <a:bodyPr wrap="square"/>
                    <a:lstStyle/>
                    <a:p>
                      <a:r>
                        <a:rPr sz="1250" b="0" i="0">
                          <a:solidFill>
                            <a:srgbClr val="1A1A1A"/>
                          </a:solidFill>
                          <a:latin typeface="Calibri"/>
                        </a:rPr>
                        <a:t>Systematic review of graph neural networks for infrastructure reliability and resilience.</a:t>
                      </a:r>
                    </a:p>
                  </a:txBody>
                  <a:tcPr marL="64008" marR="64008" marT="45720" marB="45720">
                    <a:solidFill>
                      <a:srgbClr val="FFFFFF"/>
                    </a:solidFill>
                  </a:tcPr>
                </a:tc>
                <a:tc>
                  <a:txBody>
                    <a:bodyPr wrap="square"/>
                    <a:lstStyle/>
                    <a:p>
                      <a:r>
                        <a:rPr sz="1250" b="0" i="0">
                          <a:solidFill>
                            <a:srgbClr val="1A1A1A"/>
                          </a:solidFill>
                          <a:latin typeface="Calibri"/>
                        </a:rPr>
                        <a:t>Graph models can estimate node importance and how a network survives failures.</a:t>
                      </a:r>
                    </a:p>
                  </a:txBody>
                  <a:tcPr marL="64008" marR="64008" marT="45720" marB="45720">
                    <a:solidFill>
                      <a:srgbClr val="FFFFFF"/>
                    </a:solidFill>
                  </a:tcPr>
                </a:tc>
                <a:tc>
                  <a:txBody>
                    <a:bodyPr wrap="square"/>
                    <a:lstStyle/>
                    <a:p>
                      <a:r>
                        <a:rPr sz="1250" b="0" i="0">
                          <a:solidFill>
                            <a:srgbClr val="1A1A1A"/>
                          </a:solidFill>
                          <a:latin typeface="Calibri"/>
                        </a:rPr>
                        <a:t>Engineering networks only — not ecology or satellite habitat maps.</a:t>
                      </a:r>
                    </a:p>
                  </a:txBody>
                  <a:tcPr marL="64008" marR="64008" marT="45720" marB="45720">
                    <a:solidFill>
                      <a:srgbClr val="FFFFFF"/>
                    </a:solidFill>
                  </a:tcPr>
                </a:tc>
              </a:tr>
            </a:tbl>
          </a:graphicData>
        </a:graphic>
      </p:graphicFrame>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Literature Survey (7/7)</a:t>
            </a:r>
          </a:p>
        </p:txBody>
      </p:sp>
      <p:sp>
        <p:nvSpPr>
          <p:cNvPr id="3" name="TextBox 2"/>
          <p:cNvSpPr txBox="1"/>
          <p:nvPr/>
        </p:nvSpPr>
        <p:spPr>
          <a:xfrm>
            <a:off x="1188720" y="1005840"/>
            <a:ext cx="7589520" cy="320040"/>
          </a:xfrm>
          <a:prstGeom prst="rect">
            <a:avLst/>
          </a:prstGeom>
          <a:noFill/>
        </p:spPr>
        <p:txBody>
          <a:bodyPr wrap="square" lIns="36576" rIns="36576" tIns="18288" bIns="18288" anchor="t">
            <a:spAutoFit/>
          </a:bodyPr>
          <a:lstStyle/>
          <a:p>
            <a:pPr algn="l">
              <a:spcAft>
                <a:spcPts val="400"/>
              </a:spcAft>
            </a:pPr>
            <a:r>
              <a:rPr sz="1400" b="1" i="0">
                <a:solidFill>
                  <a:srgbClr val="0D3889"/>
                </a:solidFill>
                <a:latin typeface="Calibri"/>
              </a:rPr>
              <a:t>Explainable AI in remote sensing</a:t>
            </a:r>
          </a:p>
        </p:txBody>
      </p:sp>
      <p:graphicFrame>
        <p:nvGraphicFramePr>
          <p:cNvPr id="4" name="Table 3"/>
          <p:cNvGraphicFramePr>
            <a:graphicFrameLocks noGrp="1"/>
          </p:cNvGraphicFramePr>
          <p:nvPr/>
        </p:nvGraphicFramePr>
        <p:xfrm>
          <a:off x="1188720" y="1371600"/>
          <a:ext cx="7589520" cy="3291840"/>
        </p:xfrm>
        <a:graphic>
          <a:graphicData uri="http://schemas.openxmlformats.org/drawingml/2006/table">
            <a:tbl>
              <a:tblPr firstRow="1" bandRow="0">
                <a:tableStyleId>{5C22544A-7EE6-4342-B048-85BDC9FD1C3A}</a:tableStyleId>
              </a:tblPr>
              <a:tblGrid>
                <a:gridCol w="1600200"/>
                <a:gridCol w="2057400"/>
                <a:gridCol w="1965960"/>
                <a:gridCol w="1965960"/>
              </a:tblGrid>
              <a:tr h="365760">
                <a:tc>
                  <a:txBody>
                    <a:bodyPr wrap="square"/>
                    <a:lstStyle/>
                    <a:p>
                      <a:r>
                        <a:rPr sz="1300" b="1" i="0">
                          <a:solidFill>
                            <a:srgbClr val="FFFFFF"/>
                          </a:solidFill>
                          <a:latin typeface="Calibri"/>
                        </a:rPr>
                        <a:t>Author &amp; Year</a:t>
                      </a:r>
                    </a:p>
                  </a:txBody>
                  <a:tcPr marL="64008" marR="64008" marT="45720" marB="45720">
                    <a:solidFill>
                      <a:srgbClr val="0D3889"/>
                    </a:solidFill>
                  </a:tcPr>
                </a:tc>
                <a:tc>
                  <a:txBody>
                    <a:bodyPr wrap="square"/>
                    <a:lstStyle/>
                    <a:p>
                      <a:r>
                        <a:rPr sz="1300" b="1" i="0">
                          <a:solidFill>
                            <a:srgbClr val="FFFFFF"/>
                          </a:solidFill>
                          <a:latin typeface="Calibri"/>
                        </a:rPr>
                        <a:t>Methodology</a:t>
                      </a:r>
                    </a:p>
                  </a:txBody>
                  <a:tcPr marL="64008" marR="64008" marT="45720" marB="45720">
                    <a:solidFill>
                      <a:srgbClr val="0D3889"/>
                    </a:solidFill>
                  </a:tcPr>
                </a:tc>
                <a:tc>
                  <a:txBody>
                    <a:bodyPr wrap="square"/>
                    <a:lstStyle/>
                    <a:p>
                      <a:r>
                        <a:rPr sz="1300" b="1" i="0">
                          <a:solidFill>
                            <a:srgbClr val="FFFFFF"/>
                          </a:solidFill>
                          <a:latin typeface="Calibri"/>
                        </a:rPr>
                        <a:t>Key Findings</a:t>
                      </a:r>
                    </a:p>
                  </a:txBody>
                  <a:tcPr marL="64008" marR="64008" marT="45720" marB="45720">
                    <a:solidFill>
                      <a:srgbClr val="0D3889"/>
                    </a:solidFill>
                  </a:tcPr>
                </a:tc>
                <a:tc>
                  <a:txBody>
                    <a:bodyPr wrap="square"/>
                    <a:lstStyle/>
                    <a:p>
                      <a:r>
                        <a:rPr sz="1300" b="1" i="0">
                          <a:solidFill>
                            <a:srgbClr val="FFFFFF"/>
                          </a:solidFill>
                          <a:latin typeface="Calibri"/>
                        </a:rPr>
                        <a:t>Limitations</a:t>
                      </a:r>
                    </a:p>
                  </a:txBody>
                  <a:tcPr marL="64008" marR="64008" marT="45720" marB="45720">
                    <a:solidFill>
                      <a:srgbClr val="0D3889"/>
                    </a:solidFill>
                  </a:tcPr>
                </a:tc>
              </a:tr>
              <a:tr h="1463040">
                <a:tc>
                  <a:txBody>
                    <a:bodyPr wrap="square"/>
                    <a:lstStyle/>
                    <a:p>
                      <a:r>
                        <a:rPr sz="1250" b="1" i="0">
                          <a:solidFill>
                            <a:srgbClr val="1A1A1A"/>
                          </a:solidFill>
                          <a:latin typeface="Calibri"/>
                        </a:rPr>
                        <a:t>Naceur et al., 2025</a:t>
                      </a:r>
                    </a:p>
                    <a:p>
                      <a:r>
                        <a:rPr sz="900" b="0" i="1">
                          <a:solidFill>
                            <a:srgbClr val="1A1A1A"/>
                          </a:solidFill>
                          <a:latin typeface="Calibri"/>
                        </a:rPr>
                        <a:t>IEEE TGRS</a:t>
                      </a:r>
                    </a:p>
                  </a:txBody>
                  <a:tcPr marL="64008" marR="64008" marT="45720" marB="45720">
                    <a:solidFill>
                      <a:srgbClr val="EEF2F8"/>
                    </a:solidFill>
                  </a:tcPr>
                </a:tc>
                <a:tc>
                  <a:txBody>
                    <a:bodyPr wrap="square"/>
                    <a:lstStyle/>
                    <a:p>
                      <a:r>
                        <a:rPr sz="1250" b="0" i="0">
                          <a:solidFill>
                            <a:srgbClr val="1A1A1A"/>
                          </a:solidFill>
                          <a:latin typeface="Calibri"/>
                        </a:rPr>
                        <a:t>U-Net on spectral indices with SHAP explanations for change detection.</a:t>
                      </a:r>
                    </a:p>
                  </a:txBody>
                  <a:tcPr marL="64008" marR="64008" marT="45720" marB="45720">
                    <a:solidFill>
                      <a:srgbClr val="EEF2F8"/>
                    </a:solidFill>
                  </a:tcPr>
                </a:tc>
                <a:tc>
                  <a:txBody>
                    <a:bodyPr wrap="square"/>
                    <a:lstStyle/>
                    <a:p>
                      <a:r>
                        <a:rPr sz="1250" b="0" i="0">
                          <a:solidFill>
                            <a:srgbClr val="1A1A1A"/>
                          </a:solidFill>
                          <a:latin typeface="Calibri"/>
                        </a:rPr>
                        <a:t>Robust change detection that explains which image bands drove the change.</a:t>
                      </a:r>
                    </a:p>
                  </a:txBody>
                  <a:tcPr marL="64008" marR="64008" marT="45720" marB="45720">
                    <a:solidFill>
                      <a:srgbClr val="EEF2F8"/>
                    </a:solidFill>
                  </a:tcPr>
                </a:tc>
                <a:tc>
                  <a:txBody>
                    <a:bodyPr wrap="square"/>
                    <a:lstStyle/>
                    <a:p>
                      <a:r>
                        <a:rPr sz="1250" b="0" i="0">
                          <a:solidFill>
                            <a:srgbClr val="1A1A1A"/>
                          </a:solidFill>
                          <a:latin typeface="Calibri"/>
                        </a:rPr>
                        <a:t>Explains pixels and bands, not the role of a habitat patch in a network.</a:t>
                      </a:r>
                    </a:p>
                  </a:txBody>
                  <a:tcPr marL="64008" marR="64008" marT="45720" marB="45720">
                    <a:solidFill>
                      <a:srgbClr val="EEF2F8"/>
                    </a:solidFill>
                  </a:tcPr>
                </a:tc>
              </a:tr>
              <a:tr h="1463040">
                <a:tc>
                  <a:txBody>
                    <a:bodyPr wrap="square"/>
                    <a:lstStyle/>
                    <a:p>
                      <a:r>
                        <a:rPr sz="1250" b="1" i="0">
                          <a:solidFill>
                            <a:srgbClr val="1A1A1A"/>
                          </a:solidFill>
                          <a:latin typeface="Calibri"/>
                        </a:rPr>
                        <a:t>Klotz et al., 2025</a:t>
                      </a:r>
                    </a:p>
                    <a:p>
                      <a:r>
                        <a:rPr sz="900" b="0" i="1">
                          <a:solidFill>
                            <a:srgbClr val="1A1A1A"/>
                          </a:solidFill>
                          <a:latin typeface="Calibri"/>
                        </a:rPr>
                        <a:t>IEEE JSTARS</a:t>
                      </a:r>
                    </a:p>
                  </a:txBody>
                  <a:tcPr marL="64008" marR="64008" marT="45720" marB="45720">
                    <a:solidFill>
                      <a:srgbClr val="FFFFFF"/>
                    </a:solidFill>
                  </a:tcPr>
                </a:tc>
                <a:tc>
                  <a:txBody>
                    <a:bodyPr wrap="square"/>
                    <a:lstStyle/>
                    <a:p>
                      <a:r>
                        <a:rPr sz="1250" b="0" i="0">
                          <a:solidFill>
                            <a:srgbClr val="1A1A1A"/>
                          </a:solidFill>
                          <a:latin typeface="Calibri"/>
                        </a:rPr>
                        <a:t>Benchmark of explanation methods (Occlusion, LIME, Grad-CAM, LRP, DeepLIFT).</a:t>
                      </a:r>
                    </a:p>
                  </a:txBody>
                  <a:tcPr marL="64008" marR="64008" marT="45720" marB="45720">
                    <a:solidFill>
                      <a:srgbClr val="FFFFFF"/>
                    </a:solidFill>
                  </a:tcPr>
                </a:tc>
                <a:tc>
                  <a:txBody>
                    <a:bodyPr wrap="square"/>
                    <a:lstStyle/>
                    <a:p>
                      <a:r>
                        <a:rPr sz="1250" b="0" i="0">
                          <a:solidFill>
                            <a:srgbClr val="1A1A1A"/>
                          </a:solidFill>
                          <a:latin typeface="Calibri"/>
                        </a:rPr>
                        <a:t>How useful an explanation method is varies a lot by method and metric.</a:t>
                      </a:r>
                    </a:p>
                  </a:txBody>
                  <a:tcPr marL="64008" marR="64008" marT="45720" marB="45720">
                    <a:solidFill>
                      <a:srgbClr val="FFFFFF"/>
                    </a:solidFill>
                  </a:tcPr>
                </a:tc>
                <a:tc>
                  <a:txBody>
                    <a:bodyPr wrap="square"/>
                    <a:lstStyle/>
                    <a:p>
                      <a:r>
                        <a:rPr sz="1250" b="0" i="0">
                          <a:solidFill>
                            <a:srgbClr val="1A1A1A"/>
                          </a:solidFill>
                          <a:latin typeface="Calibri"/>
                        </a:rPr>
                        <a:t>Explains image-level predictions, not network-level decisions.</a:t>
                      </a:r>
                    </a:p>
                  </a:txBody>
                  <a:tcPr marL="64008" marR="64008" marT="45720" marB="45720">
                    <a:solidFill>
                      <a:srgbClr val="FFFFFF"/>
                    </a:solidFill>
                  </a:tcPr>
                </a:tc>
              </a:tr>
            </a:tbl>
          </a:graphicData>
        </a:graphic>
      </p:graphicFrame>
      <p:sp>
        <p:nvSpPr>
          <p:cNvPr id="5" name="Rounded Rectangle 4"/>
          <p:cNvSpPr/>
          <p:nvPr/>
        </p:nvSpPr>
        <p:spPr>
          <a:xfrm>
            <a:off x="1188720" y="4754880"/>
            <a:ext cx="7589520" cy="822960"/>
          </a:xfrm>
          <a:prstGeom prst="roundRect">
            <a:avLst>
              <a:gd name="adj" fmla="val 18000"/>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00" b="1" i="0">
                <a:solidFill>
                  <a:srgbClr val="FFD54A"/>
                </a:solidFill>
                <a:latin typeface="Calibri"/>
              </a:rPr>
              <a:t>Research gap:  </a:t>
            </a:r>
            <a:r>
              <a:rPr sz="1200" b="0" i="0">
                <a:solidFill>
                  <a:srgbClr val="FFFFFF"/>
                </a:solidFill>
                <a:latin typeface="Calibri"/>
              </a:rPr>
              <a:t>these works map habitat, model connectivity or explain pixels separately. None turn satellite predictions into an explained network of patches for what-if and restoration decisions — that is what EcoConnectAI adds.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Problem Statement and Objectives</a:t>
            </a:r>
          </a:p>
        </p:txBody>
      </p:sp>
      <p:sp>
        <p:nvSpPr>
          <p:cNvPr id="3" name="Rounded Rectangle 2"/>
          <p:cNvSpPr/>
          <p:nvPr/>
        </p:nvSpPr>
        <p:spPr>
          <a:xfrm>
            <a:off x="1188720" y="1097280"/>
            <a:ext cx="3657600" cy="292608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71600" y="1252728"/>
            <a:ext cx="384048" cy="384048"/>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Calibri"/>
              </a:rPr>
              <a:t>!</a:t>
            </a:r>
          </a:p>
        </p:txBody>
      </p:sp>
      <p:sp>
        <p:nvSpPr>
          <p:cNvPr id="5" name="TextBox 4"/>
          <p:cNvSpPr txBox="1"/>
          <p:nvPr/>
        </p:nvSpPr>
        <p:spPr>
          <a:xfrm>
            <a:off x="1874519" y="1261872"/>
            <a:ext cx="2834640" cy="411480"/>
          </a:xfrm>
          <a:prstGeom prst="rect">
            <a:avLst/>
          </a:prstGeom>
          <a:noFill/>
        </p:spPr>
        <p:txBody>
          <a:bodyPr wrap="square" lIns="36576" rIns="36576" tIns="18288" bIns="18288" anchor="t">
            <a:spAutoFit/>
          </a:bodyPr>
          <a:lstStyle/>
          <a:p>
            <a:pPr algn="l">
              <a:spcAft>
                <a:spcPts val="400"/>
              </a:spcAft>
            </a:pPr>
            <a:r>
              <a:rPr sz="1700" b="1" i="0">
                <a:solidFill>
                  <a:srgbClr val="D96A2B"/>
                </a:solidFill>
                <a:latin typeface="Calibri"/>
              </a:rPr>
              <a:t>Problem Statement</a:t>
            </a:r>
          </a:p>
        </p:txBody>
      </p:sp>
      <p:sp>
        <p:nvSpPr>
          <p:cNvPr id="6" name="Oval 5"/>
          <p:cNvSpPr/>
          <p:nvPr/>
        </p:nvSpPr>
        <p:spPr>
          <a:xfrm>
            <a:off x="1417320" y="1920240"/>
            <a:ext cx="91440" cy="91440"/>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600200" y="1828800"/>
            <a:ext cx="3108960" cy="640080"/>
          </a:xfrm>
          <a:prstGeom prst="rect">
            <a:avLst/>
          </a:prstGeom>
          <a:noFill/>
        </p:spPr>
        <p:txBody>
          <a:bodyPr wrap="square" lIns="36576" rIns="36576" tIns="18288" bIns="18288" anchor="t">
            <a:spAutoFit/>
          </a:bodyPr>
          <a:lstStyle/>
          <a:p>
            <a:pPr algn="l">
              <a:spcAft>
                <a:spcPts val="400"/>
              </a:spcAft>
            </a:pPr>
            <a:r>
              <a:rPr sz="1250" b="0" i="0">
                <a:solidFill>
                  <a:srgbClr val="1A1A1A"/>
                </a:solidFill>
                <a:latin typeface="Calibri"/>
              </a:rPr>
              <a:t>Maps show where mangroves are — not which patches matter.</a:t>
            </a:r>
          </a:p>
        </p:txBody>
      </p:sp>
      <p:sp>
        <p:nvSpPr>
          <p:cNvPr id="8" name="Oval 7"/>
          <p:cNvSpPr/>
          <p:nvPr/>
        </p:nvSpPr>
        <p:spPr>
          <a:xfrm>
            <a:off x="1417320" y="2606040"/>
            <a:ext cx="91440" cy="91440"/>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600200" y="2514600"/>
            <a:ext cx="3108960" cy="640080"/>
          </a:xfrm>
          <a:prstGeom prst="rect">
            <a:avLst/>
          </a:prstGeom>
          <a:noFill/>
        </p:spPr>
        <p:txBody>
          <a:bodyPr wrap="square" lIns="36576" rIns="36576" tIns="18288" bIns="18288" anchor="t">
            <a:spAutoFit/>
          </a:bodyPr>
          <a:lstStyle/>
          <a:p>
            <a:pPr algn="l">
              <a:spcAft>
                <a:spcPts val="400"/>
              </a:spcAft>
            </a:pPr>
            <a:r>
              <a:rPr sz="1250" b="0" i="0">
                <a:solidFill>
                  <a:srgbClr val="1A1A1A"/>
                </a:solidFill>
                <a:latin typeface="Calibri"/>
              </a:rPr>
              <a:t>Two patches can look alike, but one may be the only link between others.</a:t>
            </a:r>
          </a:p>
        </p:txBody>
      </p:sp>
      <p:sp>
        <p:nvSpPr>
          <p:cNvPr id="10" name="Oval 9"/>
          <p:cNvSpPr/>
          <p:nvPr/>
        </p:nvSpPr>
        <p:spPr>
          <a:xfrm>
            <a:off x="1417320" y="3291840"/>
            <a:ext cx="91440" cy="91440"/>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00200" y="3200400"/>
            <a:ext cx="3108960" cy="640080"/>
          </a:xfrm>
          <a:prstGeom prst="rect">
            <a:avLst/>
          </a:prstGeom>
          <a:noFill/>
        </p:spPr>
        <p:txBody>
          <a:bodyPr wrap="square" lIns="36576" rIns="36576" tIns="18288" bIns="18288" anchor="t">
            <a:spAutoFit/>
          </a:bodyPr>
          <a:lstStyle/>
          <a:p>
            <a:pPr algn="l">
              <a:spcAft>
                <a:spcPts val="400"/>
              </a:spcAft>
            </a:pPr>
            <a:r>
              <a:rPr sz="1250" b="0" i="0">
                <a:solidFill>
                  <a:srgbClr val="1A1A1A"/>
                </a:solidFill>
                <a:latin typeface="Calibri"/>
              </a:rPr>
              <a:t>If that small link is lost, the whole network can break apart.</a:t>
            </a:r>
          </a:p>
        </p:txBody>
      </p:sp>
      <p:sp>
        <p:nvSpPr>
          <p:cNvPr id="12" name="Rounded Rectangle 11"/>
          <p:cNvSpPr/>
          <p:nvPr/>
        </p:nvSpPr>
        <p:spPr>
          <a:xfrm>
            <a:off x="5074920" y="1097280"/>
            <a:ext cx="3703320" cy="2926080"/>
          </a:xfrm>
          <a:prstGeom prst="roundRect">
            <a:avLst>
              <a:gd name="adj" fmla="val 12000"/>
            </a:avLst>
          </a:prstGeom>
          <a:solidFill>
            <a:srgbClr val="E7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257800" y="1252728"/>
            <a:ext cx="384048" cy="384048"/>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500" b="1">
                <a:solidFill>
                  <a:srgbClr val="FFFFFF"/>
                </a:solidFill>
                <a:latin typeface="Calibri"/>
              </a:rPr>
              <a:t>✓</a:t>
            </a:r>
          </a:p>
        </p:txBody>
      </p:sp>
      <p:sp>
        <p:nvSpPr>
          <p:cNvPr id="14" name="TextBox 13"/>
          <p:cNvSpPr txBox="1"/>
          <p:nvPr/>
        </p:nvSpPr>
        <p:spPr>
          <a:xfrm>
            <a:off x="5760720" y="1261872"/>
            <a:ext cx="2834640" cy="411480"/>
          </a:xfrm>
          <a:prstGeom prst="rect">
            <a:avLst/>
          </a:prstGeom>
          <a:noFill/>
        </p:spPr>
        <p:txBody>
          <a:bodyPr wrap="square" lIns="36576" rIns="36576" tIns="18288" bIns="18288" anchor="t">
            <a:spAutoFit/>
          </a:bodyPr>
          <a:lstStyle/>
          <a:p>
            <a:pPr algn="l">
              <a:spcAft>
                <a:spcPts val="400"/>
              </a:spcAft>
            </a:pPr>
            <a:r>
              <a:rPr sz="1700" b="1" i="0">
                <a:solidFill>
                  <a:srgbClr val="0E9E74"/>
                </a:solidFill>
                <a:latin typeface="Calibri"/>
              </a:rPr>
              <a:t>Objectives</a:t>
            </a:r>
          </a:p>
        </p:txBody>
      </p:sp>
      <p:sp>
        <p:nvSpPr>
          <p:cNvPr id="15" name="Rounded Rectangle 14"/>
          <p:cNvSpPr/>
          <p:nvPr/>
        </p:nvSpPr>
        <p:spPr>
          <a:xfrm>
            <a:off x="5303520" y="1783080"/>
            <a:ext cx="3246120" cy="438912"/>
          </a:xfrm>
          <a:prstGeom prst="roundRect">
            <a:avLst>
              <a:gd name="adj" fmla="val 12000"/>
            </a:avLst>
          </a:prstGeom>
          <a:solidFill>
            <a:srgbClr val="FFFFFF"/>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00" b="1">
                <a:solidFill>
                  <a:srgbClr val="0D3889"/>
                </a:solidFill>
                <a:latin typeface="Calibri"/>
              </a:rPr>
              <a:t>Detect mangrove habitat from satellite images</a:t>
            </a:r>
          </a:p>
        </p:txBody>
      </p:sp>
      <p:sp>
        <p:nvSpPr>
          <p:cNvPr id="16" name="Rounded Rectangle 15"/>
          <p:cNvSpPr/>
          <p:nvPr/>
        </p:nvSpPr>
        <p:spPr>
          <a:xfrm>
            <a:off x="5303520" y="2313432"/>
            <a:ext cx="3246120" cy="438912"/>
          </a:xfrm>
          <a:prstGeom prst="roundRect">
            <a:avLst>
              <a:gd name="adj" fmla="val 12000"/>
            </a:avLst>
          </a:prstGeom>
          <a:solidFill>
            <a:srgbClr val="FFFFFF"/>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00" b="1">
                <a:solidFill>
                  <a:srgbClr val="0D3889"/>
                </a:solidFill>
                <a:latin typeface="Calibri"/>
              </a:rPr>
              <a:t>Divide the habitat into patches</a:t>
            </a:r>
          </a:p>
        </p:txBody>
      </p:sp>
      <p:sp>
        <p:nvSpPr>
          <p:cNvPr id="17" name="Rounded Rectangle 16"/>
          <p:cNvSpPr/>
          <p:nvPr/>
        </p:nvSpPr>
        <p:spPr>
          <a:xfrm>
            <a:off x="5303520" y="2843784"/>
            <a:ext cx="3246120" cy="438912"/>
          </a:xfrm>
          <a:prstGeom prst="roundRect">
            <a:avLst>
              <a:gd name="adj" fmla="val 12000"/>
            </a:avLst>
          </a:prstGeom>
          <a:solidFill>
            <a:srgbClr val="FFFFFF"/>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00" b="1">
                <a:solidFill>
                  <a:srgbClr val="0D3889"/>
                </a:solidFill>
                <a:latin typeface="Calibri"/>
              </a:rPr>
              <a:t>Find the important connecting patches</a:t>
            </a:r>
          </a:p>
        </p:txBody>
      </p:sp>
      <p:sp>
        <p:nvSpPr>
          <p:cNvPr id="18" name="Rounded Rectangle 17"/>
          <p:cNvSpPr/>
          <p:nvPr/>
        </p:nvSpPr>
        <p:spPr>
          <a:xfrm>
            <a:off x="5303520" y="3374136"/>
            <a:ext cx="3246120" cy="438912"/>
          </a:xfrm>
          <a:prstGeom prst="roundRect">
            <a:avLst>
              <a:gd name="adj" fmla="val 12000"/>
            </a:avLst>
          </a:prstGeom>
          <a:solidFill>
            <a:srgbClr val="FFFFFF"/>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00" b="1">
                <a:solidFill>
                  <a:srgbClr val="0D3889"/>
                </a:solidFill>
                <a:latin typeface="Calibri"/>
              </a:rPr>
              <a:t>Support protection &amp; restoration decisions</a:t>
            </a:r>
          </a:p>
        </p:txBody>
      </p:sp>
      <p:sp>
        <p:nvSpPr>
          <p:cNvPr id="19" name="TextBox 18"/>
          <p:cNvSpPr txBox="1"/>
          <p:nvPr/>
        </p:nvSpPr>
        <p:spPr>
          <a:xfrm>
            <a:off x="1188720" y="4206240"/>
            <a:ext cx="1737360" cy="365760"/>
          </a:xfrm>
          <a:prstGeom prst="rect">
            <a:avLst/>
          </a:prstGeom>
          <a:noFill/>
        </p:spPr>
        <p:txBody>
          <a:bodyPr wrap="square" lIns="36576" rIns="36576" tIns="18288" bIns="18288" anchor="t">
            <a:spAutoFit/>
          </a:bodyPr>
          <a:lstStyle/>
          <a:p>
            <a:pPr algn="l">
              <a:spcAft>
                <a:spcPts val="400"/>
              </a:spcAft>
            </a:pPr>
            <a:r>
              <a:rPr sz="1250" b="1" i="0">
                <a:solidFill>
                  <a:srgbClr val="5A6370"/>
                </a:solidFill>
                <a:latin typeface="Calibri"/>
              </a:rPr>
              <a:t>Existing approach</a:t>
            </a:r>
          </a:p>
        </p:txBody>
      </p:sp>
      <p:sp>
        <p:nvSpPr>
          <p:cNvPr id="20" name="Rounded Rectangle 19"/>
          <p:cNvSpPr/>
          <p:nvPr/>
        </p:nvSpPr>
        <p:spPr>
          <a:xfrm>
            <a:off x="2926080" y="4160520"/>
            <a:ext cx="1554480" cy="411480"/>
          </a:xfrm>
          <a:prstGeom prst="roundRect">
            <a:avLst>
              <a:gd name="adj" fmla="val 12000"/>
            </a:avLst>
          </a:prstGeom>
          <a:solidFill>
            <a:srgbClr val="EEF2F8"/>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50" b="1">
                <a:solidFill>
                  <a:srgbClr val="1A1A1A"/>
                </a:solidFill>
                <a:latin typeface="Calibri"/>
              </a:rPr>
              <a:t>Satellite map</a:t>
            </a:r>
          </a:p>
        </p:txBody>
      </p:sp>
      <p:sp>
        <p:nvSpPr>
          <p:cNvPr id="21" name="Right Arrow 20"/>
          <p:cNvSpPr/>
          <p:nvPr/>
        </p:nvSpPr>
        <p:spPr>
          <a:xfrm>
            <a:off x="4544568" y="4261104"/>
            <a:ext cx="256032" cy="201168"/>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864608" y="4160520"/>
            <a:ext cx="1737360" cy="411480"/>
          </a:xfrm>
          <a:prstGeom prst="roundRect">
            <a:avLst>
              <a:gd name="adj" fmla="val 12000"/>
            </a:avLst>
          </a:prstGeom>
          <a:solidFill>
            <a:srgbClr val="EEF2F8"/>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50" b="1">
                <a:solidFill>
                  <a:srgbClr val="1A1A1A"/>
                </a:solidFill>
                <a:latin typeface="Calibri"/>
              </a:rPr>
              <a:t>Where is habitat?</a:t>
            </a:r>
          </a:p>
        </p:txBody>
      </p:sp>
      <p:sp>
        <p:nvSpPr>
          <p:cNvPr id="23" name="TextBox 22"/>
          <p:cNvSpPr txBox="1"/>
          <p:nvPr/>
        </p:nvSpPr>
        <p:spPr>
          <a:xfrm>
            <a:off x="1188720" y="4800600"/>
            <a:ext cx="1737360" cy="365760"/>
          </a:xfrm>
          <a:prstGeom prst="rect">
            <a:avLst/>
          </a:prstGeom>
          <a:noFill/>
        </p:spPr>
        <p:txBody>
          <a:bodyPr wrap="square" lIns="36576" rIns="36576" tIns="18288" bIns="18288" anchor="t">
            <a:spAutoFit/>
          </a:bodyPr>
          <a:lstStyle/>
          <a:p>
            <a:pPr algn="l">
              <a:spcAft>
                <a:spcPts val="400"/>
              </a:spcAft>
            </a:pPr>
            <a:r>
              <a:rPr sz="1250" b="1" i="0">
                <a:solidFill>
                  <a:srgbClr val="0D3889"/>
                </a:solidFill>
                <a:latin typeface="Calibri"/>
              </a:rPr>
              <a:t>Our approach</a:t>
            </a:r>
          </a:p>
        </p:txBody>
      </p:sp>
      <p:sp>
        <p:nvSpPr>
          <p:cNvPr id="24" name="Rounded Rectangle 23"/>
          <p:cNvSpPr/>
          <p:nvPr/>
        </p:nvSpPr>
        <p:spPr>
          <a:xfrm>
            <a:off x="2926080" y="4754880"/>
            <a:ext cx="1188720" cy="50292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00" b="1">
                <a:solidFill>
                  <a:srgbClr val="0D3889"/>
                </a:solidFill>
                <a:latin typeface="Calibri"/>
              </a:rPr>
              <a:t>Satellite map</a:t>
            </a:r>
          </a:p>
        </p:txBody>
      </p:sp>
      <p:sp>
        <p:nvSpPr>
          <p:cNvPr id="25" name="Right Arrow 24"/>
          <p:cNvSpPr/>
          <p:nvPr/>
        </p:nvSpPr>
        <p:spPr>
          <a:xfrm>
            <a:off x="4142232" y="4910328"/>
            <a:ext cx="182880" cy="182880"/>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325112" y="4754880"/>
            <a:ext cx="1188720" cy="50292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00" b="1">
                <a:solidFill>
                  <a:srgbClr val="0D3889"/>
                </a:solidFill>
                <a:latin typeface="Calibri"/>
              </a:rPr>
              <a:t>Where is habitat?</a:t>
            </a:r>
          </a:p>
        </p:txBody>
      </p:sp>
      <p:sp>
        <p:nvSpPr>
          <p:cNvPr id="27" name="Right Arrow 26"/>
          <p:cNvSpPr/>
          <p:nvPr/>
        </p:nvSpPr>
        <p:spPr>
          <a:xfrm>
            <a:off x="5541264" y="4910328"/>
            <a:ext cx="182880" cy="182880"/>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724144" y="4754880"/>
            <a:ext cx="1188720" cy="50292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00" b="1">
                <a:solidFill>
                  <a:srgbClr val="0D3889"/>
                </a:solidFill>
                <a:latin typeface="Calibri"/>
              </a:rPr>
              <a:t>How is it connected?</a:t>
            </a:r>
          </a:p>
        </p:txBody>
      </p:sp>
      <p:sp>
        <p:nvSpPr>
          <p:cNvPr id="29" name="Right Arrow 28"/>
          <p:cNvSpPr/>
          <p:nvPr/>
        </p:nvSpPr>
        <p:spPr>
          <a:xfrm>
            <a:off x="6940296" y="4910328"/>
            <a:ext cx="182880" cy="182880"/>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123176" y="4754880"/>
            <a:ext cx="1645920" cy="502920"/>
          </a:xfrm>
          <a:prstGeom prst="roundRect">
            <a:avLst>
              <a:gd name="adj" fmla="val 12000"/>
            </a:avLst>
          </a:prstGeom>
          <a:solidFill>
            <a:srgbClr val="0D3889"/>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00" b="1">
                <a:solidFill>
                  <a:srgbClr val="FFFFFF"/>
                </a:solidFill>
                <a:latin typeface="Calibri"/>
              </a:rPr>
              <a:t>Which patches matter?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Existing System — Architecture</a:t>
            </a:r>
          </a:p>
        </p:txBody>
      </p:sp>
      <p:sp>
        <p:nvSpPr>
          <p:cNvPr id="3" name="TextBox 2"/>
          <p:cNvSpPr txBox="1"/>
          <p:nvPr/>
        </p:nvSpPr>
        <p:spPr>
          <a:xfrm>
            <a:off x="1188720" y="1051560"/>
            <a:ext cx="7589520" cy="411480"/>
          </a:xfrm>
          <a:prstGeom prst="rect">
            <a:avLst/>
          </a:prstGeom>
          <a:noFill/>
        </p:spPr>
        <p:txBody>
          <a:bodyPr wrap="square" lIns="36576" rIns="36576" tIns="18288" bIns="18288" anchor="t">
            <a:spAutoFit/>
          </a:bodyPr>
          <a:lstStyle/>
          <a:p>
            <a:pPr algn="l">
              <a:spcAft>
                <a:spcPts val="400"/>
              </a:spcAft>
            </a:pPr>
            <a:r>
              <a:rPr sz="1250" b="0" i="1">
                <a:solidFill>
                  <a:srgbClr val="5A6370"/>
                </a:solidFill>
                <a:latin typeface="Calibri"/>
              </a:rPr>
              <a:t>How mangrove habitat is studied today (Google Earth Engine, ArcGIS / QGIS, Global Mangrove Watch)</a:t>
            </a:r>
          </a:p>
        </p:txBody>
      </p:sp>
      <p:sp>
        <p:nvSpPr>
          <p:cNvPr id="4" name="Rounded Rectangle 3"/>
          <p:cNvSpPr/>
          <p:nvPr/>
        </p:nvSpPr>
        <p:spPr>
          <a:xfrm>
            <a:off x="1188720" y="1691640"/>
            <a:ext cx="1335024" cy="960120"/>
          </a:xfrm>
          <a:prstGeom prst="roundRect">
            <a:avLst>
              <a:gd name="adj" fmla="val 12000"/>
            </a:avLst>
          </a:prstGeom>
          <a:solidFill>
            <a:srgbClr val="EEF2F8"/>
          </a:solidFill>
          <a:ln w="12700">
            <a:solidFill>
              <a:srgbClr val="5A637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00" b="1">
                <a:solidFill>
                  <a:srgbClr val="1A1A1A"/>
                </a:solidFill>
                <a:latin typeface="Calibri"/>
              </a:rPr>
              <a:t>Satellite images</a:t>
            </a:r>
          </a:p>
          <a:p>
            <a:pPr algn="ctr"/>
            <a:r>
              <a:rPr sz="950">
                <a:solidFill>
                  <a:srgbClr val="5A6370"/>
                </a:solidFill>
                <a:latin typeface="Calibri"/>
              </a:rPr>
              <a:t>Landsat / Sentinel</a:t>
            </a:r>
          </a:p>
        </p:txBody>
      </p:sp>
      <p:sp>
        <p:nvSpPr>
          <p:cNvPr id="5" name="Right Arrow 4"/>
          <p:cNvSpPr/>
          <p:nvPr/>
        </p:nvSpPr>
        <p:spPr>
          <a:xfrm>
            <a:off x="2551176" y="2066543"/>
            <a:ext cx="182880" cy="182880"/>
          </a:xfrm>
          <a:prstGeom prst="rightArrow">
            <a:avLst/>
          </a:prstGeom>
          <a:solidFill>
            <a:srgbClr val="5A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752344" y="1691640"/>
            <a:ext cx="1335024" cy="960120"/>
          </a:xfrm>
          <a:prstGeom prst="roundRect">
            <a:avLst>
              <a:gd name="adj" fmla="val 12000"/>
            </a:avLst>
          </a:prstGeom>
          <a:solidFill>
            <a:srgbClr val="EEF2F8"/>
          </a:solidFill>
          <a:ln w="12700">
            <a:solidFill>
              <a:srgbClr val="5A637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00" b="1">
                <a:solidFill>
                  <a:srgbClr val="1A1A1A"/>
                </a:solidFill>
                <a:latin typeface="Calibri"/>
              </a:rPr>
              <a:t>GIS software</a:t>
            </a:r>
          </a:p>
          <a:p>
            <a:pPr algn="ctr"/>
            <a:r>
              <a:rPr sz="950">
                <a:solidFill>
                  <a:srgbClr val="5A6370"/>
                </a:solidFill>
                <a:latin typeface="Calibri"/>
              </a:rPr>
              <a:t>Earth Engine, ArcGIS, QGIS</a:t>
            </a:r>
          </a:p>
        </p:txBody>
      </p:sp>
      <p:sp>
        <p:nvSpPr>
          <p:cNvPr id="7" name="Right Arrow 6"/>
          <p:cNvSpPr/>
          <p:nvPr/>
        </p:nvSpPr>
        <p:spPr>
          <a:xfrm>
            <a:off x="4114800" y="2066543"/>
            <a:ext cx="182880" cy="182880"/>
          </a:xfrm>
          <a:prstGeom prst="rightArrow">
            <a:avLst/>
          </a:prstGeom>
          <a:solidFill>
            <a:srgbClr val="5A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4315968" y="1691640"/>
            <a:ext cx="1335024" cy="960120"/>
          </a:xfrm>
          <a:prstGeom prst="roundRect">
            <a:avLst>
              <a:gd name="adj" fmla="val 12000"/>
            </a:avLst>
          </a:prstGeom>
          <a:solidFill>
            <a:srgbClr val="EEF2F8"/>
          </a:solidFill>
          <a:ln w="12700">
            <a:solidFill>
              <a:srgbClr val="5A637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00" b="1">
                <a:solidFill>
                  <a:srgbClr val="1A1A1A"/>
                </a:solidFill>
                <a:latin typeface="Calibri"/>
              </a:rPr>
              <a:t>Manual analysis</a:t>
            </a:r>
          </a:p>
          <a:p>
            <a:pPr algn="ctr"/>
            <a:r>
              <a:rPr sz="950">
                <a:solidFill>
                  <a:srgbClr val="5A6370"/>
                </a:solidFill>
                <a:latin typeface="Calibri"/>
              </a:rPr>
              <a:t>by a trained GIS expert</a:t>
            </a:r>
          </a:p>
        </p:txBody>
      </p:sp>
      <p:sp>
        <p:nvSpPr>
          <p:cNvPr id="9" name="Right Arrow 8"/>
          <p:cNvSpPr/>
          <p:nvPr/>
        </p:nvSpPr>
        <p:spPr>
          <a:xfrm>
            <a:off x="5678424" y="2066543"/>
            <a:ext cx="182880" cy="182880"/>
          </a:xfrm>
          <a:prstGeom prst="rightArrow">
            <a:avLst/>
          </a:prstGeom>
          <a:solidFill>
            <a:srgbClr val="5A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5879592" y="1691640"/>
            <a:ext cx="1335024" cy="960120"/>
          </a:xfrm>
          <a:prstGeom prst="roundRect">
            <a:avLst>
              <a:gd name="adj" fmla="val 12000"/>
            </a:avLst>
          </a:prstGeom>
          <a:solidFill>
            <a:srgbClr val="EEF2F8"/>
          </a:solidFill>
          <a:ln w="12700">
            <a:solidFill>
              <a:srgbClr val="5A637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00" b="1">
                <a:solidFill>
                  <a:srgbClr val="1A1A1A"/>
                </a:solidFill>
                <a:latin typeface="Calibri"/>
              </a:rPr>
              <a:t>Static habitat map</a:t>
            </a:r>
          </a:p>
          <a:p>
            <a:pPr algn="ctr"/>
            <a:r>
              <a:rPr sz="950">
                <a:solidFill>
                  <a:srgbClr val="5A6370"/>
                </a:solidFill>
                <a:latin typeface="Calibri"/>
              </a:rPr>
              <a:t>e.g. Global Mangrove Watch</a:t>
            </a:r>
          </a:p>
        </p:txBody>
      </p:sp>
      <p:sp>
        <p:nvSpPr>
          <p:cNvPr id="11" name="Right Arrow 10"/>
          <p:cNvSpPr/>
          <p:nvPr/>
        </p:nvSpPr>
        <p:spPr>
          <a:xfrm>
            <a:off x="7242048" y="2066543"/>
            <a:ext cx="182880" cy="182880"/>
          </a:xfrm>
          <a:prstGeom prst="rightArrow">
            <a:avLst/>
          </a:prstGeom>
          <a:solidFill>
            <a:srgbClr val="5A637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7443216" y="1691640"/>
            <a:ext cx="1335024" cy="960120"/>
          </a:xfrm>
          <a:prstGeom prst="roundRect">
            <a:avLst>
              <a:gd name="adj" fmla="val 12000"/>
            </a:avLst>
          </a:prstGeom>
          <a:solidFill>
            <a:srgbClr val="EEF2F8"/>
          </a:solidFill>
          <a:ln w="12700">
            <a:solidFill>
              <a:srgbClr val="5A637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00" b="1">
                <a:solidFill>
                  <a:srgbClr val="1A1A1A"/>
                </a:solidFill>
                <a:latin typeface="Calibri"/>
              </a:rPr>
              <a:t>Report</a:t>
            </a:r>
          </a:p>
          <a:p>
            <a:pPr algn="ctr"/>
            <a:r>
              <a:rPr sz="950">
                <a:solidFill>
                  <a:srgbClr val="5A6370"/>
                </a:solidFill>
                <a:latin typeface="Calibri"/>
              </a:rPr>
              <a:t>maps and area statistics</a:t>
            </a:r>
          </a:p>
        </p:txBody>
      </p:sp>
      <p:sp>
        <p:nvSpPr>
          <p:cNvPr id="13" name="Rounded Rectangle 12"/>
          <p:cNvSpPr/>
          <p:nvPr/>
        </p:nvSpPr>
        <p:spPr>
          <a:xfrm>
            <a:off x="1188720" y="2971800"/>
            <a:ext cx="7589520" cy="1188720"/>
          </a:xfrm>
          <a:prstGeom prst="roundRect">
            <a:avLst>
              <a:gd name="adj" fmla="val 12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71600" y="3044952"/>
            <a:ext cx="7315200" cy="365760"/>
          </a:xfrm>
          <a:prstGeom prst="rect">
            <a:avLst/>
          </a:prstGeom>
          <a:noFill/>
        </p:spPr>
        <p:txBody>
          <a:bodyPr wrap="square" lIns="36576" rIns="36576" tIns="18288" bIns="18288" anchor="t">
            <a:spAutoFit/>
          </a:bodyPr>
          <a:lstStyle/>
          <a:p>
            <a:pPr algn="l">
              <a:spcAft>
                <a:spcPts val="400"/>
              </a:spcAft>
            </a:pPr>
            <a:r>
              <a:rPr sz="1400" b="1" i="0">
                <a:solidFill>
                  <a:srgbClr val="0D3889"/>
                </a:solidFill>
                <a:latin typeface="Calibri"/>
              </a:rPr>
              <a:t>What the existing system answers</a:t>
            </a:r>
          </a:p>
        </p:txBody>
      </p:sp>
      <p:sp>
        <p:nvSpPr>
          <p:cNvPr id="15" name="TextBox 14"/>
          <p:cNvSpPr txBox="1"/>
          <p:nvPr/>
        </p:nvSpPr>
        <p:spPr>
          <a:xfrm>
            <a:off x="1371600" y="3429000"/>
            <a:ext cx="7315200" cy="685800"/>
          </a:xfrm>
          <a:prstGeom prst="rect">
            <a:avLst/>
          </a:prstGeom>
          <a:noFill/>
        </p:spPr>
        <p:txBody>
          <a:bodyPr wrap="square" lIns="36576" rIns="36576" tIns="18288" bIns="18288" anchor="t">
            <a:spAutoFit/>
          </a:bodyPr>
          <a:lstStyle/>
          <a:p>
            <a:pPr algn="l">
              <a:spcAft>
                <a:spcPts val="400"/>
              </a:spcAft>
            </a:pPr>
            <a:r>
              <a:rPr sz="1250" b="1" i="0">
                <a:solidFill>
                  <a:srgbClr val="0E9E74"/>
                </a:solidFill>
                <a:latin typeface="Calibri"/>
              </a:rPr>
              <a:t>✓  </a:t>
            </a:r>
            <a:r>
              <a:rPr sz="1250" b="0" i="0">
                <a:solidFill>
                  <a:srgbClr val="1A1A1A"/>
                </a:solidFill>
                <a:latin typeface="Calibri"/>
              </a:rPr>
              <a:t>Where is the mangrove?  How much area is there?</a:t>
            </a:r>
          </a:p>
          <a:p>
            <a:pPr algn="l">
              <a:spcAft>
                <a:spcPts val="400"/>
              </a:spcAft>
            </a:pPr>
            <a:r>
              <a:rPr sz="1250" b="1" i="0">
                <a:solidFill>
                  <a:srgbClr val="D96A2B"/>
                </a:solidFill>
                <a:latin typeface="Calibri"/>
              </a:rPr>
              <a:t>✗  </a:t>
            </a:r>
            <a:r>
              <a:rPr sz="1250" b="0" i="0">
                <a:solidFill>
                  <a:srgbClr val="1A1A1A"/>
                </a:solidFill>
                <a:latin typeface="Calibri"/>
              </a:rPr>
              <a:t>Which patch keeps the network connected?  What if it is lost?  Where to restore first?</a:t>
            </a:r>
          </a:p>
        </p:txBody>
      </p:sp>
      <p:sp>
        <p:nvSpPr>
          <p:cNvPr id="16" name="Rounded Rectangle 15"/>
          <p:cNvSpPr/>
          <p:nvPr/>
        </p:nvSpPr>
        <p:spPr>
          <a:xfrm>
            <a:off x="1188720" y="4434840"/>
            <a:ext cx="7589520" cy="685800"/>
          </a:xfrm>
          <a:prstGeom prst="roundRect">
            <a:avLst>
              <a:gd name="adj" fmla="val 18000"/>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250" b="1" i="0">
                <a:solidFill>
                  <a:srgbClr val="FFD54A"/>
                </a:solidFill>
                <a:latin typeface="Calibri"/>
              </a:rPr>
              <a:t>Output is a static map. </a:t>
            </a:r>
            <a:r>
              <a:rPr sz="1250" b="0" i="0">
                <a:solidFill>
                  <a:srgbClr val="FFFFFF"/>
                </a:solidFill>
                <a:latin typeface="Calibri"/>
              </a:rPr>
              <a:t>Each habitat patch is shown on its own, with no information about how patches are connected.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600" b="0">
                <a:solidFill>
                  <a:srgbClr val="1A1A1A"/>
                </a:solidFill>
                <a:latin typeface="Calibri"/>
              </a:rPr>
              <a:t>Existing System — Drawbacks and Limitations</a:t>
            </a:r>
          </a:p>
        </p:txBody>
      </p:sp>
      <p:sp>
        <p:nvSpPr>
          <p:cNvPr id="3" name="Rounded Rectangle 2"/>
          <p:cNvSpPr/>
          <p:nvPr/>
        </p:nvSpPr>
        <p:spPr>
          <a:xfrm>
            <a:off x="1188720" y="1143000"/>
            <a:ext cx="3703320" cy="123444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25880" y="1280160"/>
            <a:ext cx="347472" cy="347472"/>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a:t>
            </a:r>
          </a:p>
        </p:txBody>
      </p:sp>
      <p:sp>
        <p:nvSpPr>
          <p:cNvPr id="5" name="TextBox 4"/>
          <p:cNvSpPr txBox="1"/>
          <p:nvPr/>
        </p:nvSpPr>
        <p:spPr>
          <a:xfrm>
            <a:off x="1783080" y="12527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D96A2B"/>
                </a:solidFill>
                <a:latin typeface="Calibri"/>
              </a:rPr>
              <a:t>Shows location, not importance</a:t>
            </a:r>
          </a:p>
          <a:p>
            <a:pPr algn="l">
              <a:spcAft>
                <a:spcPts val="200"/>
              </a:spcAft>
            </a:pPr>
            <a:r>
              <a:rPr sz="1100" b="0" i="0">
                <a:solidFill>
                  <a:srgbClr val="1A1A1A"/>
                </a:solidFill>
                <a:latin typeface="Calibri"/>
              </a:rPr>
              <a:t>A map says where habitat is, not which patch holds the network together.</a:t>
            </a:r>
          </a:p>
        </p:txBody>
      </p:sp>
      <p:sp>
        <p:nvSpPr>
          <p:cNvPr id="6" name="Rounded Rectangle 5"/>
          <p:cNvSpPr/>
          <p:nvPr/>
        </p:nvSpPr>
        <p:spPr>
          <a:xfrm>
            <a:off x="5029200" y="1143000"/>
            <a:ext cx="3703320" cy="123444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166360" y="1280160"/>
            <a:ext cx="347472" cy="347472"/>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a:t>
            </a:r>
          </a:p>
        </p:txBody>
      </p:sp>
      <p:sp>
        <p:nvSpPr>
          <p:cNvPr id="8" name="TextBox 7"/>
          <p:cNvSpPr txBox="1"/>
          <p:nvPr/>
        </p:nvSpPr>
        <p:spPr>
          <a:xfrm>
            <a:off x="5623560" y="12527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D96A2B"/>
                </a:solidFill>
                <a:latin typeface="Calibri"/>
              </a:rPr>
              <a:t>No what-if analysis</a:t>
            </a:r>
          </a:p>
          <a:p>
            <a:pPr algn="l">
              <a:spcAft>
                <a:spcPts val="200"/>
              </a:spcAft>
            </a:pPr>
            <a:r>
              <a:rPr sz="1100" b="0" i="0">
                <a:solidFill>
                  <a:srgbClr val="1A1A1A"/>
                </a:solidFill>
                <a:latin typeface="Calibri"/>
              </a:rPr>
              <a:t>Cannot test what happens if a patch is lost to a road, port or cyclone.</a:t>
            </a:r>
          </a:p>
        </p:txBody>
      </p:sp>
      <p:sp>
        <p:nvSpPr>
          <p:cNvPr id="9" name="Rounded Rectangle 8"/>
          <p:cNvSpPr/>
          <p:nvPr/>
        </p:nvSpPr>
        <p:spPr>
          <a:xfrm>
            <a:off x="1188720" y="2514600"/>
            <a:ext cx="3703320" cy="123444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25880" y="2651760"/>
            <a:ext cx="347472" cy="347472"/>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a:t>
            </a:r>
          </a:p>
        </p:txBody>
      </p:sp>
      <p:sp>
        <p:nvSpPr>
          <p:cNvPr id="11" name="TextBox 10"/>
          <p:cNvSpPr txBox="1"/>
          <p:nvPr/>
        </p:nvSpPr>
        <p:spPr>
          <a:xfrm>
            <a:off x="1783080" y="26243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D96A2B"/>
                </a:solidFill>
                <a:latin typeface="Calibri"/>
              </a:rPr>
              <a:t>No restoration ranking</a:t>
            </a:r>
          </a:p>
          <a:p>
            <a:pPr algn="l">
              <a:spcAft>
                <a:spcPts val="200"/>
              </a:spcAft>
            </a:pPr>
            <a:r>
              <a:rPr sz="1100" b="0" i="0">
                <a:solidFill>
                  <a:srgbClr val="1A1A1A"/>
                </a:solidFill>
                <a:latin typeface="Calibri"/>
              </a:rPr>
              <a:t>Does not suggest which area to restore first.</a:t>
            </a:r>
          </a:p>
        </p:txBody>
      </p:sp>
      <p:sp>
        <p:nvSpPr>
          <p:cNvPr id="12" name="Rounded Rectangle 11"/>
          <p:cNvSpPr/>
          <p:nvPr/>
        </p:nvSpPr>
        <p:spPr>
          <a:xfrm>
            <a:off x="5029200" y="2514600"/>
            <a:ext cx="3703320" cy="123444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166360" y="2651760"/>
            <a:ext cx="347472" cy="347472"/>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a:t>
            </a:r>
          </a:p>
        </p:txBody>
      </p:sp>
      <p:sp>
        <p:nvSpPr>
          <p:cNvPr id="14" name="TextBox 13"/>
          <p:cNvSpPr txBox="1"/>
          <p:nvPr/>
        </p:nvSpPr>
        <p:spPr>
          <a:xfrm>
            <a:off x="5623560" y="26243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D96A2B"/>
                </a:solidFill>
                <a:latin typeface="Calibri"/>
              </a:rPr>
              <a:t>Needs GIS experts</a:t>
            </a:r>
          </a:p>
          <a:p>
            <a:pPr algn="l">
              <a:spcAft>
                <a:spcPts val="200"/>
              </a:spcAft>
            </a:pPr>
            <a:r>
              <a:rPr sz="1100" b="0" i="0">
                <a:solidFill>
                  <a:srgbClr val="1A1A1A"/>
                </a:solidFill>
                <a:latin typeface="Calibri"/>
              </a:rPr>
              <a:t>Hard for forest officers and policymakers to use directly.</a:t>
            </a:r>
          </a:p>
        </p:txBody>
      </p:sp>
      <p:sp>
        <p:nvSpPr>
          <p:cNvPr id="15" name="Rounded Rectangle 14"/>
          <p:cNvSpPr/>
          <p:nvPr/>
        </p:nvSpPr>
        <p:spPr>
          <a:xfrm>
            <a:off x="1188720" y="3886200"/>
            <a:ext cx="3703320" cy="123444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25880" y="4023360"/>
            <a:ext cx="347472" cy="347472"/>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a:t>
            </a:r>
          </a:p>
        </p:txBody>
      </p:sp>
      <p:sp>
        <p:nvSpPr>
          <p:cNvPr id="17" name="TextBox 16"/>
          <p:cNvSpPr txBox="1"/>
          <p:nvPr/>
        </p:nvSpPr>
        <p:spPr>
          <a:xfrm>
            <a:off x="1783080" y="39959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D96A2B"/>
                </a:solidFill>
                <a:latin typeface="Calibri"/>
              </a:rPr>
              <a:t>Optical images blocked by cloud</a:t>
            </a:r>
          </a:p>
          <a:p>
            <a:pPr algn="l">
              <a:spcAft>
                <a:spcPts val="200"/>
              </a:spcAft>
            </a:pPr>
            <a:r>
              <a:rPr sz="1100" b="0" i="0">
                <a:solidFill>
                  <a:srgbClr val="1A1A1A"/>
                </a:solidFill>
                <a:latin typeface="Calibri"/>
              </a:rPr>
              <a:t>Monsoon cloud hides the coast for weeks in optical satellite images.</a:t>
            </a:r>
          </a:p>
        </p:txBody>
      </p:sp>
      <p:sp>
        <p:nvSpPr>
          <p:cNvPr id="18" name="Rounded Rectangle 17"/>
          <p:cNvSpPr/>
          <p:nvPr/>
        </p:nvSpPr>
        <p:spPr>
          <a:xfrm>
            <a:off x="5029200" y="3886200"/>
            <a:ext cx="3703320" cy="123444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166360" y="4023360"/>
            <a:ext cx="347472" cy="347472"/>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a:t>
            </a:r>
          </a:p>
        </p:txBody>
      </p:sp>
      <p:sp>
        <p:nvSpPr>
          <p:cNvPr id="20" name="TextBox 19"/>
          <p:cNvSpPr txBox="1"/>
          <p:nvPr/>
        </p:nvSpPr>
        <p:spPr>
          <a:xfrm>
            <a:off x="5623560" y="39959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D96A2B"/>
                </a:solidFill>
                <a:latin typeface="Calibri"/>
              </a:rPr>
              <a:t>No evidence or follow-up</a:t>
            </a:r>
          </a:p>
          <a:p>
            <a:pPr algn="l">
              <a:spcAft>
                <a:spcPts val="200"/>
              </a:spcAft>
            </a:pPr>
            <a:r>
              <a:rPr sz="1100" b="0" i="0">
                <a:solidFill>
                  <a:srgbClr val="1A1A1A"/>
                </a:solidFill>
                <a:latin typeface="Calibri"/>
              </a:rPr>
              <a:t>No explanation of results and no link to field verification.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Proposed System — Architecture</a:t>
            </a:r>
          </a:p>
        </p:txBody>
      </p:sp>
      <p:sp>
        <p:nvSpPr>
          <p:cNvPr id="3" name="TextBox 2"/>
          <p:cNvSpPr txBox="1"/>
          <p:nvPr/>
        </p:nvSpPr>
        <p:spPr>
          <a:xfrm>
            <a:off x="1188720" y="1005840"/>
            <a:ext cx="4572000" cy="320040"/>
          </a:xfrm>
          <a:prstGeom prst="rect">
            <a:avLst/>
          </a:prstGeom>
          <a:noFill/>
        </p:spPr>
        <p:txBody>
          <a:bodyPr wrap="square" lIns="36576" rIns="36576" tIns="18288" bIns="18288" anchor="t">
            <a:spAutoFit/>
          </a:bodyPr>
          <a:lstStyle/>
          <a:p>
            <a:pPr algn="l">
              <a:spcAft>
                <a:spcPts val="400"/>
              </a:spcAft>
            </a:pPr>
            <a:r>
              <a:rPr sz="1400" b="1" i="0">
                <a:solidFill>
                  <a:srgbClr val="0D3889"/>
                </a:solidFill>
                <a:latin typeface="Calibri"/>
              </a:rPr>
              <a:t>How the analysis works</a:t>
            </a:r>
          </a:p>
        </p:txBody>
      </p:sp>
      <p:sp>
        <p:nvSpPr>
          <p:cNvPr id="4" name="Rounded Rectangle 3"/>
          <p:cNvSpPr/>
          <p:nvPr/>
        </p:nvSpPr>
        <p:spPr>
          <a:xfrm>
            <a:off x="1188720" y="1371600"/>
            <a:ext cx="2148840" cy="54864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50" b="1">
                <a:solidFill>
                  <a:srgbClr val="0D3889"/>
                </a:solidFill>
                <a:latin typeface="Calibri"/>
              </a:rPr>
              <a:t>Sentinel-1 satellite data</a:t>
            </a:r>
          </a:p>
        </p:txBody>
      </p:sp>
      <p:sp>
        <p:nvSpPr>
          <p:cNvPr id="5" name="Right Arrow 4"/>
          <p:cNvSpPr/>
          <p:nvPr/>
        </p:nvSpPr>
        <p:spPr>
          <a:xfrm>
            <a:off x="3502152" y="1545336"/>
            <a:ext cx="237744" cy="201168"/>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3886200" y="1371600"/>
            <a:ext cx="2148840" cy="54864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50" b="1">
                <a:solidFill>
                  <a:srgbClr val="0D3889"/>
                </a:solidFill>
                <a:latin typeface="Calibri"/>
              </a:rPr>
              <a:t>Preprocessing</a:t>
            </a:r>
          </a:p>
        </p:txBody>
      </p:sp>
      <p:sp>
        <p:nvSpPr>
          <p:cNvPr id="7" name="Right Arrow 6"/>
          <p:cNvSpPr/>
          <p:nvPr/>
        </p:nvSpPr>
        <p:spPr>
          <a:xfrm>
            <a:off x="6199631" y="1545336"/>
            <a:ext cx="237744" cy="201168"/>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0" y="1371600"/>
            <a:ext cx="2148840" cy="54864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50" b="1">
                <a:solidFill>
                  <a:srgbClr val="0D3889"/>
                </a:solidFill>
                <a:latin typeface="Calibri"/>
              </a:rPr>
              <a:t>AI mangrove detection</a:t>
            </a:r>
          </a:p>
        </p:txBody>
      </p:sp>
      <p:sp>
        <p:nvSpPr>
          <p:cNvPr id="9" name="Down Arrow 8"/>
          <p:cNvSpPr/>
          <p:nvPr/>
        </p:nvSpPr>
        <p:spPr>
          <a:xfrm>
            <a:off x="7548372" y="1993392"/>
            <a:ext cx="219456" cy="219456"/>
          </a:xfrm>
          <a:prstGeom prst="down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6583680" y="2286000"/>
            <a:ext cx="2148840" cy="54864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50" b="1">
                <a:solidFill>
                  <a:srgbClr val="0D3889"/>
                </a:solidFill>
                <a:latin typeface="Calibri"/>
              </a:rPr>
              <a:t>Mangrove probability map</a:t>
            </a:r>
          </a:p>
        </p:txBody>
      </p:sp>
      <p:sp>
        <p:nvSpPr>
          <p:cNvPr id="11" name="Left Arrow 10"/>
          <p:cNvSpPr/>
          <p:nvPr/>
        </p:nvSpPr>
        <p:spPr>
          <a:xfrm>
            <a:off x="6181344" y="2459736"/>
            <a:ext cx="237744" cy="201168"/>
          </a:xfrm>
          <a:prstGeom prst="lef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886200" y="2286000"/>
            <a:ext cx="2148840" cy="54864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50" b="1">
                <a:solidFill>
                  <a:srgbClr val="0D3889"/>
                </a:solidFill>
                <a:latin typeface="Calibri"/>
              </a:rPr>
              <a:t>Habitat patch extraction</a:t>
            </a:r>
          </a:p>
        </p:txBody>
      </p:sp>
      <p:sp>
        <p:nvSpPr>
          <p:cNvPr id="13" name="Left Arrow 12"/>
          <p:cNvSpPr/>
          <p:nvPr/>
        </p:nvSpPr>
        <p:spPr>
          <a:xfrm>
            <a:off x="3483864" y="2459736"/>
            <a:ext cx="237744" cy="201168"/>
          </a:xfrm>
          <a:prstGeom prst="lef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1188720" y="2286000"/>
            <a:ext cx="2148840" cy="54864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50" b="1">
                <a:solidFill>
                  <a:srgbClr val="0D3889"/>
                </a:solidFill>
                <a:latin typeface="Calibri"/>
              </a:rPr>
              <a:t>Connectivity network</a:t>
            </a:r>
          </a:p>
        </p:txBody>
      </p:sp>
      <p:sp>
        <p:nvSpPr>
          <p:cNvPr id="15" name="Down Arrow 14"/>
          <p:cNvSpPr/>
          <p:nvPr/>
        </p:nvSpPr>
        <p:spPr>
          <a:xfrm>
            <a:off x="2153412" y="2907792"/>
            <a:ext cx="219456" cy="219456"/>
          </a:xfrm>
          <a:prstGeom prst="down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1188720" y="3200400"/>
            <a:ext cx="2148840" cy="54864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50" b="1">
                <a:solidFill>
                  <a:srgbClr val="0D3889"/>
                </a:solidFill>
                <a:latin typeface="Calibri"/>
              </a:rPr>
              <a:t>Critical patches + what-if</a:t>
            </a:r>
          </a:p>
        </p:txBody>
      </p:sp>
      <p:sp>
        <p:nvSpPr>
          <p:cNvPr id="17" name="Right Arrow 16"/>
          <p:cNvSpPr/>
          <p:nvPr/>
        </p:nvSpPr>
        <p:spPr>
          <a:xfrm>
            <a:off x="3502152" y="3374136"/>
            <a:ext cx="237744" cy="201168"/>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3886200" y="3200400"/>
            <a:ext cx="2148840" cy="548640"/>
          </a:xfrm>
          <a:prstGeom prst="roundRect">
            <a:avLst>
              <a:gd name="adj" fmla="val 12000"/>
            </a:avLst>
          </a:prstGeom>
          <a:solidFill>
            <a:srgbClr val="FFFFFF"/>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50" b="1">
                <a:solidFill>
                  <a:srgbClr val="0D3889"/>
                </a:solidFill>
                <a:latin typeface="Calibri"/>
              </a:rPr>
              <a:t>Restoration priority</a:t>
            </a:r>
          </a:p>
        </p:txBody>
      </p:sp>
      <p:sp>
        <p:nvSpPr>
          <p:cNvPr id="19" name="Right Arrow 18"/>
          <p:cNvSpPr/>
          <p:nvPr/>
        </p:nvSpPr>
        <p:spPr>
          <a:xfrm>
            <a:off x="6199631" y="3374136"/>
            <a:ext cx="237744" cy="201168"/>
          </a:xfrm>
          <a:prstGeom prst="rightArrow">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6583680" y="3200400"/>
            <a:ext cx="2148840" cy="548640"/>
          </a:xfrm>
          <a:prstGeom prst="roundRect">
            <a:avLst>
              <a:gd name="adj" fmla="val 12000"/>
            </a:avLst>
          </a:prstGeom>
          <a:solidFill>
            <a:srgbClr val="0D3889"/>
          </a:solidFill>
          <a:ln w="12700">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250" b="1">
                <a:solidFill>
                  <a:srgbClr val="FFFFFF"/>
                </a:solidFill>
                <a:latin typeface="Calibri"/>
              </a:rPr>
              <a:t>Web dashboard</a:t>
            </a:r>
          </a:p>
        </p:txBody>
      </p:sp>
      <p:sp>
        <p:nvSpPr>
          <p:cNvPr id="21" name="TextBox 20"/>
          <p:cNvSpPr txBox="1"/>
          <p:nvPr/>
        </p:nvSpPr>
        <p:spPr>
          <a:xfrm>
            <a:off x="1188720" y="4023360"/>
            <a:ext cx="4572000" cy="320040"/>
          </a:xfrm>
          <a:prstGeom prst="rect">
            <a:avLst/>
          </a:prstGeom>
          <a:noFill/>
        </p:spPr>
        <p:txBody>
          <a:bodyPr wrap="square" lIns="36576" rIns="36576" tIns="18288" bIns="18288" anchor="t">
            <a:spAutoFit/>
          </a:bodyPr>
          <a:lstStyle/>
          <a:p>
            <a:pPr algn="l">
              <a:spcAft>
                <a:spcPts val="400"/>
              </a:spcAft>
            </a:pPr>
            <a:r>
              <a:rPr sz="1400" b="1" i="0">
                <a:solidFill>
                  <a:srgbClr val="0E9E74"/>
                </a:solidFill>
                <a:latin typeface="Calibri"/>
              </a:rPr>
              <a:t>Software that runs it</a:t>
            </a:r>
          </a:p>
        </p:txBody>
      </p:sp>
      <p:sp>
        <p:nvSpPr>
          <p:cNvPr id="22" name="Rounded Rectangle 21"/>
          <p:cNvSpPr/>
          <p:nvPr/>
        </p:nvSpPr>
        <p:spPr>
          <a:xfrm>
            <a:off x="1188720" y="4389120"/>
            <a:ext cx="1371600" cy="731520"/>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50" b="1">
                <a:solidFill>
                  <a:srgbClr val="0E9E74"/>
                </a:solidFill>
                <a:latin typeface="Calibri"/>
              </a:rPr>
              <a:t>Python + PyTorch</a:t>
            </a:r>
          </a:p>
          <a:p>
            <a:pPr algn="ctr"/>
            <a:r>
              <a:rPr sz="950">
                <a:solidFill>
                  <a:srgbClr val="5A6370"/>
                </a:solidFill>
                <a:latin typeface="Calibri"/>
              </a:rPr>
              <a:t>AI model</a:t>
            </a:r>
          </a:p>
        </p:txBody>
      </p:sp>
      <p:sp>
        <p:nvSpPr>
          <p:cNvPr id="23" name="Right Arrow 22"/>
          <p:cNvSpPr/>
          <p:nvPr/>
        </p:nvSpPr>
        <p:spPr>
          <a:xfrm>
            <a:off x="2587752" y="4663440"/>
            <a:ext cx="128016" cy="164592"/>
          </a:xfrm>
          <a:prstGeom prst="right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743200" y="4389120"/>
            <a:ext cx="1371600" cy="731520"/>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50" b="1">
                <a:solidFill>
                  <a:srgbClr val="0E9E74"/>
                </a:solidFill>
                <a:latin typeface="Calibri"/>
              </a:rPr>
              <a:t>FastAPI</a:t>
            </a:r>
          </a:p>
          <a:p>
            <a:pPr algn="ctr"/>
            <a:r>
              <a:rPr sz="950">
                <a:solidFill>
                  <a:srgbClr val="5A6370"/>
                </a:solidFill>
                <a:latin typeface="Calibri"/>
              </a:rPr>
              <a:t>backend server</a:t>
            </a:r>
          </a:p>
        </p:txBody>
      </p:sp>
      <p:sp>
        <p:nvSpPr>
          <p:cNvPr id="25" name="Right Arrow 24"/>
          <p:cNvSpPr/>
          <p:nvPr/>
        </p:nvSpPr>
        <p:spPr>
          <a:xfrm>
            <a:off x="4142232" y="4663440"/>
            <a:ext cx="128016" cy="164592"/>
          </a:xfrm>
          <a:prstGeom prst="right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4297680" y="4389120"/>
            <a:ext cx="1371600" cy="731520"/>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50" b="1">
                <a:solidFill>
                  <a:srgbClr val="0E9E74"/>
                </a:solidFill>
                <a:latin typeface="Calibri"/>
              </a:rPr>
              <a:t>SQLite</a:t>
            </a:r>
          </a:p>
          <a:p>
            <a:pPr algn="ctr"/>
            <a:r>
              <a:rPr sz="950">
                <a:solidFill>
                  <a:srgbClr val="5A6370"/>
                </a:solidFill>
                <a:latin typeface="Calibri"/>
              </a:rPr>
              <a:t>database</a:t>
            </a:r>
          </a:p>
        </p:txBody>
      </p:sp>
      <p:sp>
        <p:nvSpPr>
          <p:cNvPr id="27" name="Right Arrow 26"/>
          <p:cNvSpPr/>
          <p:nvPr/>
        </p:nvSpPr>
        <p:spPr>
          <a:xfrm>
            <a:off x="5696712" y="4663440"/>
            <a:ext cx="128016" cy="164592"/>
          </a:xfrm>
          <a:prstGeom prst="right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5852160" y="4389120"/>
            <a:ext cx="1371600" cy="731520"/>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50" b="1">
                <a:solidFill>
                  <a:srgbClr val="0E9E74"/>
                </a:solidFill>
                <a:latin typeface="Calibri"/>
              </a:rPr>
              <a:t>Next.js + React</a:t>
            </a:r>
          </a:p>
          <a:p>
            <a:pPr algn="ctr"/>
            <a:r>
              <a:rPr sz="950">
                <a:solidFill>
                  <a:srgbClr val="5A6370"/>
                </a:solidFill>
                <a:latin typeface="Calibri"/>
              </a:rPr>
              <a:t>web frontend</a:t>
            </a:r>
          </a:p>
        </p:txBody>
      </p:sp>
      <p:sp>
        <p:nvSpPr>
          <p:cNvPr id="29" name="Right Arrow 28"/>
          <p:cNvSpPr/>
          <p:nvPr/>
        </p:nvSpPr>
        <p:spPr>
          <a:xfrm>
            <a:off x="7251192" y="4663440"/>
            <a:ext cx="128016" cy="164592"/>
          </a:xfrm>
          <a:prstGeom prst="right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7406640" y="4389120"/>
            <a:ext cx="1371600" cy="731520"/>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50" b="1">
                <a:solidFill>
                  <a:srgbClr val="0E9E74"/>
                </a:solidFill>
                <a:latin typeface="Calibri"/>
              </a:rPr>
              <a:t>Leaflet + React Flow</a:t>
            </a:r>
          </a:p>
          <a:p>
            <a:pPr algn="ctr"/>
            <a:r>
              <a:rPr sz="950">
                <a:solidFill>
                  <a:srgbClr val="5A6370"/>
                </a:solidFill>
                <a:latin typeface="Calibri"/>
              </a:rPr>
              <a:t>map + network view</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Proposed System — Advantages</a:t>
            </a:r>
          </a:p>
        </p:txBody>
      </p:sp>
      <p:sp>
        <p:nvSpPr>
          <p:cNvPr id="3" name="Rounded Rectangle 2"/>
          <p:cNvSpPr/>
          <p:nvPr/>
        </p:nvSpPr>
        <p:spPr>
          <a:xfrm>
            <a:off x="1188720" y="1143000"/>
            <a:ext cx="3703320" cy="1234440"/>
          </a:xfrm>
          <a:prstGeom prst="roundRect">
            <a:avLst>
              <a:gd name="adj" fmla="val 12000"/>
            </a:avLst>
          </a:prstGeom>
          <a:solidFill>
            <a:srgbClr val="E7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25880" y="1280160"/>
            <a:ext cx="347472" cy="347472"/>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5" name="TextBox 4"/>
          <p:cNvSpPr txBox="1"/>
          <p:nvPr/>
        </p:nvSpPr>
        <p:spPr>
          <a:xfrm>
            <a:off x="1783080" y="12527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E9E74"/>
                </a:solidFill>
                <a:latin typeface="Calibri"/>
              </a:rPr>
              <a:t>Shows which patches matter</a:t>
            </a:r>
          </a:p>
          <a:p>
            <a:pPr algn="l">
              <a:spcAft>
                <a:spcPts val="200"/>
              </a:spcAft>
            </a:pPr>
            <a:r>
              <a:rPr sz="1100" b="0" i="0">
                <a:solidFill>
                  <a:srgbClr val="1A1A1A"/>
                </a:solidFill>
                <a:latin typeface="Calibri"/>
              </a:rPr>
              <a:t>Ranks every patch by how much connectivity is lost without it.</a:t>
            </a:r>
          </a:p>
        </p:txBody>
      </p:sp>
      <p:sp>
        <p:nvSpPr>
          <p:cNvPr id="6" name="Rounded Rectangle 5"/>
          <p:cNvSpPr/>
          <p:nvPr/>
        </p:nvSpPr>
        <p:spPr>
          <a:xfrm>
            <a:off x="5029200" y="1143000"/>
            <a:ext cx="3703320" cy="1234440"/>
          </a:xfrm>
          <a:prstGeom prst="roundRect">
            <a:avLst>
              <a:gd name="adj" fmla="val 12000"/>
            </a:avLst>
          </a:prstGeom>
          <a:solidFill>
            <a:srgbClr val="E7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166360" y="1280160"/>
            <a:ext cx="347472" cy="347472"/>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8" name="TextBox 7"/>
          <p:cNvSpPr txBox="1"/>
          <p:nvPr/>
        </p:nvSpPr>
        <p:spPr>
          <a:xfrm>
            <a:off x="5623560" y="12527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E9E74"/>
                </a:solidFill>
                <a:latin typeface="Calibri"/>
              </a:rPr>
              <a:t>Instant what-if tests</a:t>
            </a:r>
          </a:p>
          <a:p>
            <a:pPr algn="l">
              <a:spcAft>
                <a:spcPts val="200"/>
              </a:spcAft>
            </a:pPr>
            <a:r>
              <a:rPr sz="1100" b="0" i="0">
                <a:solidFill>
                  <a:srgbClr val="1A1A1A"/>
                </a:solidFill>
                <a:latin typeface="Calibri"/>
              </a:rPr>
              <a:t>Remove or restore a patch and see the new result straight away.</a:t>
            </a:r>
          </a:p>
        </p:txBody>
      </p:sp>
      <p:sp>
        <p:nvSpPr>
          <p:cNvPr id="9" name="Rounded Rectangle 8"/>
          <p:cNvSpPr/>
          <p:nvPr/>
        </p:nvSpPr>
        <p:spPr>
          <a:xfrm>
            <a:off x="1188720" y="2514600"/>
            <a:ext cx="3703320" cy="1234440"/>
          </a:xfrm>
          <a:prstGeom prst="roundRect">
            <a:avLst>
              <a:gd name="adj" fmla="val 12000"/>
            </a:avLst>
          </a:prstGeom>
          <a:solidFill>
            <a:srgbClr val="E7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25880" y="2651760"/>
            <a:ext cx="347472" cy="347472"/>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11" name="TextBox 10"/>
          <p:cNvSpPr txBox="1"/>
          <p:nvPr/>
        </p:nvSpPr>
        <p:spPr>
          <a:xfrm>
            <a:off x="1783080" y="26243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E9E74"/>
                </a:solidFill>
                <a:latin typeface="Calibri"/>
              </a:rPr>
              <a:t>Restoration ranking</a:t>
            </a:r>
          </a:p>
          <a:p>
            <a:pPr algn="l">
              <a:spcAft>
                <a:spcPts val="200"/>
              </a:spcAft>
            </a:pPr>
            <a:r>
              <a:rPr sz="1100" b="0" i="0">
                <a:solidFill>
                  <a:srgbClr val="1A1A1A"/>
                </a:solidFill>
                <a:latin typeface="Calibri"/>
              </a:rPr>
              <a:t>Candidate areas ranked by the connectivity they would add.</a:t>
            </a:r>
          </a:p>
        </p:txBody>
      </p:sp>
      <p:sp>
        <p:nvSpPr>
          <p:cNvPr id="12" name="Rounded Rectangle 11"/>
          <p:cNvSpPr/>
          <p:nvPr/>
        </p:nvSpPr>
        <p:spPr>
          <a:xfrm>
            <a:off x="5029200" y="2514600"/>
            <a:ext cx="3703320" cy="1234440"/>
          </a:xfrm>
          <a:prstGeom prst="roundRect">
            <a:avLst>
              <a:gd name="adj" fmla="val 12000"/>
            </a:avLst>
          </a:prstGeom>
          <a:solidFill>
            <a:srgbClr val="E7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166360" y="2651760"/>
            <a:ext cx="347472" cy="347472"/>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14" name="TextBox 13"/>
          <p:cNvSpPr txBox="1"/>
          <p:nvPr/>
        </p:nvSpPr>
        <p:spPr>
          <a:xfrm>
            <a:off x="5623560" y="26243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E9E74"/>
                </a:solidFill>
                <a:latin typeface="Calibri"/>
              </a:rPr>
              <a:t>Works through cloud</a:t>
            </a:r>
          </a:p>
          <a:p>
            <a:pPr algn="l">
              <a:spcAft>
                <a:spcPts val="200"/>
              </a:spcAft>
            </a:pPr>
            <a:r>
              <a:rPr sz="1100" b="0" i="0">
                <a:solidFill>
                  <a:srgbClr val="1A1A1A"/>
                </a:solidFill>
                <a:latin typeface="Calibri"/>
              </a:rPr>
              <a:t>Radar images (Sentinel-1) see through monsoon cloud.</a:t>
            </a:r>
          </a:p>
        </p:txBody>
      </p:sp>
      <p:sp>
        <p:nvSpPr>
          <p:cNvPr id="15" name="Rounded Rectangle 14"/>
          <p:cNvSpPr/>
          <p:nvPr/>
        </p:nvSpPr>
        <p:spPr>
          <a:xfrm>
            <a:off x="1188720" y="3886200"/>
            <a:ext cx="3703320" cy="1234440"/>
          </a:xfrm>
          <a:prstGeom prst="roundRect">
            <a:avLst>
              <a:gd name="adj" fmla="val 12000"/>
            </a:avLst>
          </a:prstGeom>
          <a:solidFill>
            <a:srgbClr val="E7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25880" y="4023360"/>
            <a:ext cx="347472" cy="347472"/>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17" name="TextBox 16"/>
          <p:cNvSpPr txBox="1"/>
          <p:nvPr/>
        </p:nvSpPr>
        <p:spPr>
          <a:xfrm>
            <a:off x="1783080" y="39959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E9E74"/>
                </a:solidFill>
                <a:latin typeface="Calibri"/>
              </a:rPr>
              <a:t>Explains every result</a:t>
            </a:r>
          </a:p>
          <a:p>
            <a:pPr algn="l">
              <a:spcAft>
                <a:spcPts val="200"/>
              </a:spcAft>
            </a:pPr>
            <a:r>
              <a:rPr sz="1100" b="0" i="0">
                <a:solidFill>
                  <a:srgbClr val="1A1A1A"/>
                </a:solidFill>
                <a:latin typeface="Calibri"/>
              </a:rPr>
              <a:t>Plain-language reason with the numbers behind each ranking.</a:t>
            </a:r>
          </a:p>
        </p:txBody>
      </p:sp>
      <p:sp>
        <p:nvSpPr>
          <p:cNvPr id="18" name="Rounded Rectangle 17"/>
          <p:cNvSpPr/>
          <p:nvPr/>
        </p:nvSpPr>
        <p:spPr>
          <a:xfrm>
            <a:off x="5029200" y="3886200"/>
            <a:ext cx="3703320" cy="1234440"/>
          </a:xfrm>
          <a:prstGeom prst="roundRect">
            <a:avLst>
              <a:gd name="adj" fmla="val 12000"/>
            </a:avLst>
          </a:prstGeom>
          <a:solidFill>
            <a:srgbClr val="E7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166360" y="4023360"/>
            <a:ext cx="347472" cy="347472"/>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Calibri"/>
              </a:rPr>
              <a:t>✓</a:t>
            </a:r>
          </a:p>
        </p:txBody>
      </p:sp>
      <p:sp>
        <p:nvSpPr>
          <p:cNvPr id="20" name="TextBox 19"/>
          <p:cNvSpPr txBox="1"/>
          <p:nvPr/>
        </p:nvSpPr>
        <p:spPr>
          <a:xfrm>
            <a:off x="5623560" y="39959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E9E74"/>
                </a:solidFill>
                <a:latin typeface="Calibri"/>
              </a:rPr>
              <a:t>Easy to use</a:t>
            </a:r>
          </a:p>
          <a:p>
            <a:pPr algn="l">
              <a:spcAft>
                <a:spcPts val="200"/>
              </a:spcAft>
            </a:pPr>
            <a:r>
              <a:rPr sz="1100" b="0" i="0">
                <a:solidFill>
                  <a:srgbClr val="1A1A1A"/>
                </a:solidFill>
                <a:latin typeface="Calibri"/>
              </a:rPr>
              <a:t>One web dashboard with roles, alerts, field tasks and reports.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600" b="0">
                <a:solidFill>
                  <a:srgbClr val="1A1A1A"/>
                </a:solidFill>
                <a:latin typeface="Calibri"/>
              </a:rPr>
              <a:t>Proposed System — Module Explanation</a:t>
            </a:r>
          </a:p>
        </p:txBody>
      </p:sp>
      <p:sp>
        <p:nvSpPr>
          <p:cNvPr id="3" name="Rounded Rectangle 2"/>
          <p:cNvSpPr/>
          <p:nvPr/>
        </p:nvSpPr>
        <p:spPr>
          <a:xfrm>
            <a:off x="1188720" y="1143000"/>
            <a:ext cx="3703320" cy="12344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1325880" y="1280160"/>
            <a:ext cx="365760" cy="365760"/>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1</a:t>
            </a:r>
          </a:p>
        </p:txBody>
      </p:sp>
      <p:sp>
        <p:nvSpPr>
          <p:cNvPr id="5" name="TextBox 4"/>
          <p:cNvSpPr txBox="1"/>
          <p:nvPr/>
        </p:nvSpPr>
        <p:spPr>
          <a:xfrm>
            <a:off x="1810512" y="12527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D3889"/>
                </a:solidFill>
                <a:latin typeface="Calibri"/>
              </a:rPr>
              <a:t>Data acquisition</a:t>
            </a:r>
          </a:p>
          <a:p>
            <a:pPr algn="l">
              <a:spcAft>
                <a:spcPts val="200"/>
              </a:spcAft>
            </a:pPr>
            <a:r>
              <a:rPr sz="1100" b="0" i="0">
                <a:solidFill>
                  <a:srgbClr val="1A1A1A"/>
                </a:solidFill>
                <a:latin typeface="Calibri"/>
              </a:rPr>
              <a:t>Downloads free Sentinel-1 radar scenes for each study area and cuts them into tiles.</a:t>
            </a:r>
          </a:p>
        </p:txBody>
      </p:sp>
      <p:sp>
        <p:nvSpPr>
          <p:cNvPr id="6" name="Rounded Rectangle 5"/>
          <p:cNvSpPr/>
          <p:nvPr/>
        </p:nvSpPr>
        <p:spPr>
          <a:xfrm>
            <a:off x="5029200" y="1143000"/>
            <a:ext cx="3703320" cy="12344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5166360" y="1280160"/>
            <a:ext cx="365760" cy="365760"/>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2</a:t>
            </a:r>
          </a:p>
        </p:txBody>
      </p:sp>
      <p:sp>
        <p:nvSpPr>
          <p:cNvPr id="8" name="TextBox 7"/>
          <p:cNvSpPr txBox="1"/>
          <p:nvPr/>
        </p:nvSpPr>
        <p:spPr>
          <a:xfrm>
            <a:off x="5650992" y="12527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D3889"/>
                </a:solidFill>
                <a:latin typeface="Calibri"/>
              </a:rPr>
              <a:t>Mangrove detection</a:t>
            </a:r>
          </a:p>
          <a:p>
            <a:pPr algn="l">
              <a:spcAft>
                <a:spcPts val="200"/>
              </a:spcAft>
            </a:pPr>
            <a:r>
              <a:rPr sz="1100" b="0" i="0">
                <a:solidFill>
                  <a:srgbClr val="1A1A1A"/>
                </a:solidFill>
                <a:latin typeface="Calibri"/>
              </a:rPr>
              <a:t>A deep-learning model marks mangrove pixels and gives a probability map.</a:t>
            </a:r>
          </a:p>
        </p:txBody>
      </p:sp>
      <p:sp>
        <p:nvSpPr>
          <p:cNvPr id="9" name="Rounded Rectangle 8"/>
          <p:cNvSpPr/>
          <p:nvPr/>
        </p:nvSpPr>
        <p:spPr>
          <a:xfrm>
            <a:off x="1188720" y="2514600"/>
            <a:ext cx="3703320" cy="12344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325880" y="2651760"/>
            <a:ext cx="365760" cy="365760"/>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3</a:t>
            </a:r>
          </a:p>
        </p:txBody>
      </p:sp>
      <p:sp>
        <p:nvSpPr>
          <p:cNvPr id="11" name="TextBox 10"/>
          <p:cNvSpPr txBox="1"/>
          <p:nvPr/>
        </p:nvSpPr>
        <p:spPr>
          <a:xfrm>
            <a:off x="1810512" y="26243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D3889"/>
                </a:solidFill>
                <a:latin typeface="Calibri"/>
              </a:rPr>
              <a:t>Patch extraction</a:t>
            </a:r>
          </a:p>
          <a:p>
            <a:pPr algn="l">
              <a:spcAft>
                <a:spcPts val="200"/>
              </a:spcAft>
            </a:pPr>
            <a:r>
              <a:rPr sz="1100" b="0" i="0">
                <a:solidFill>
                  <a:srgbClr val="1A1A1A"/>
                </a:solidFill>
                <a:latin typeface="Calibri"/>
              </a:rPr>
              <a:t>Touching mangrove pixels are grouped into habitat patches (at least 2 ha).</a:t>
            </a:r>
          </a:p>
        </p:txBody>
      </p:sp>
      <p:sp>
        <p:nvSpPr>
          <p:cNvPr id="12" name="Rounded Rectangle 11"/>
          <p:cNvSpPr/>
          <p:nvPr/>
        </p:nvSpPr>
        <p:spPr>
          <a:xfrm>
            <a:off x="5029200" y="2514600"/>
            <a:ext cx="3703320" cy="12344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166360" y="2651760"/>
            <a:ext cx="365760" cy="365760"/>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4</a:t>
            </a:r>
          </a:p>
        </p:txBody>
      </p:sp>
      <p:sp>
        <p:nvSpPr>
          <p:cNvPr id="14" name="TextBox 13"/>
          <p:cNvSpPr txBox="1"/>
          <p:nvPr/>
        </p:nvSpPr>
        <p:spPr>
          <a:xfrm>
            <a:off x="5650992" y="26243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D3889"/>
                </a:solidFill>
                <a:latin typeface="Calibri"/>
              </a:rPr>
              <a:t>Connectivity network</a:t>
            </a:r>
          </a:p>
          <a:p>
            <a:pPr algn="l">
              <a:spcAft>
                <a:spcPts val="200"/>
              </a:spcAft>
            </a:pPr>
            <a:r>
              <a:rPr sz="1100" b="0" i="0">
                <a:solidFill>
                  <a:srgbClr val="1A1A1A"/>
                </a:solidFill>
                <a:latin typeface="Calibri"/>
              </a:rPr>
              <a:t>Each patch is linked to its nearest patches within 5 km.</a:t>
            </a:r>
          </a:p>
        </p:txBody>
      </p:sp>
      <p:sp>
        <p:nvSpPr>
          <p:cNvPr id="15" name="Rounded Rectangle 14"/>
          <p:cNvSpPr/>
          <p:nvPr/>
        </p:nvSpPr>
        <p:spPr>
          <a:xfrm>
            <a:off x="1188720" y="3886200"/>
            <a:ext cx="3703320" cy="12344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1325880" y="4023360"/>
            <a:ext cx="365760" cy="365760"/>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5</a:t>
            </a:r>
          </a:p>
        </p:txBody>
      </p:sp>
      <p:sp>
        <p:nvSpPr>
          <p:cNvPr id="17" name="TextBox 16"/>
          <p:cNvSpPr txBox="1"/>
          <p:nvPr/>
        </p:nvSpPr>
        <p:spPr>
          <a:xfrm>
            <a:off x="1810512" y="39959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D3889"/>
                </a:solidFill>
                <a:latin typeface="Calibri"/>
              </a:rPr>
              <a:t>Criticality &amp; what-if</a:t>
            </a:r>
          </a:p>
          <a:p>
            <a:pPr algn="l">
              <a:spcAft>
                <a:spcPts val="200"/>
              </a:spcAft>
            </a:pPr>
            <a:r>
              <a:rPr sz="1100" b="0" i="0">
                <a:solidFill>
                  <a:srgbClr val="1A1A1A"/>
                </a:solidFill>
                <a:latin typeface="Calibri"/>
              </a:rPr>
              <a:t>Removes patches one at a time, or on request, and measures the change.</a:t>
            </a:r>
          </a:p>
        </p:txBody>
      </p:sp>
      <p:sp>
        <p:nvSpPr>
          <p:cNvPr id="18" name="Rounded Rectangle 17"/>
          <p:cNvSpPr/>
          <p:nvPr/>
        </p:nvSpPr>
        <p:spPr>
          <a:xfrm>
            <a:off x="5029200" y="3886200"/>
            <a:ext cx="3703320" cy="12344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Oval 18"/>
          <p:cNvSpPr/>
          <p:nvPr/>
        </p:nvSpPr>
        <p:spPr>
          <a:xfrm>
            <a:off x="5166360" y="4023360"/>
            <a:ext cx="365760" cy="365760"/>
          </a:xfrm>
          <a:prstGeom prst="ellipse">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Calibri"/>
              </a:rPr>
              <a:t>6</a:t>
            </a:r>
          </a:p>
        </p:txBody>
      </p:sp>
      <p:sp>
        <p:nvSpPr>
          <p:cNvPr id="20" name="TextBox 19"/>
          <p:cNvSpPr txBox="1"/>
          <p:nvPr/>
        </p:nvSpPr>
        <p:spPr>
          <a:xfrm>
            <a:off x="5650992" y="3995928"/>
            <a:ext cx="3017520" cy="1051560"/>
          </a:xfrm>
          <a:prstGeom prst="rect">
            <a:avLst/>
          </a:prstGeom>
          <a:noFill/>
        </p:spPr>
        <p:txBody>
          <a:bodyPr wrap="square" lIns="36576" rIns="36576" tIns="18288" bIns="18288" anchor="t">
            <a:spAutoFit/>
          </a:bodyPr>
          <a:lstStyle/>
          <a:p>
            <a:pPr algn="l">
              <a:spcAft>
                <a:spcPts val="200"/>
              </a:spcAft>
            </a:pPr>
            <a:r>
              <a:rPr sz="1300" b="1" i="0">
                <a:solidFill>
                  <a:srgbClr val="0D3889"/>
                </a:solidFill>
                <a:latin typeface="Calibri"/>
              </a:rPr>
              <a:t>Restoration &amp; dashboard</a:t>
            </a:r>
          </a:p>
          <a:p>
            <a:pPr algn="l">
              <a:spcAft>
                <a:spcPts val="200"/>
              </a:spcAft>
            </a:pPr>
            <a:r>
              <a:rPr sz="1100" b="0" i="0">
                <a:solidFill>
                  <a:srgbClr val="1A1A1A"/>
                </a:solidFill>
                <a:latin typeface="Calibri"/>
              </a:rPr>
              <a:t>Ranks candidate areas; map, network view, alerts, field tasks and reports.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Proposed System — Algorithms Used</a:t>
            </a:r>
          </a:p>
        </p:txBody>
      </p:sp>
      <p:graphicFrame>
        <p:nvGraphicFramePr>
          <p:cNvPr id="3" name="Table 2"/>
          <p:cNvGraphicFramePr>
            <a:graphicFrameLocks noGrp="1"/>
          </p:cNvGraphicFramePr>
          <p:nvPr/>
        </p:nvGraphicFramePr>
        <p:xfrm>
          <a:off x="1188720" y="1143000"/>
          <a:ext cx="7589520" cy="3986784"/>
        </p:xfrm>
        <a:graphic>
          <a:graphicData uri="http://schemas.openxmlformats.org/drawingml/2006/table">
            <a:tbl>
              <a:tblPr firstRow="1" bandRow="0">
                <a:tableStyleId>{5C22544A-7EE6-4342-B048-85BDC9FD1C3A}</a:tableStyleId>
              </a:tblPr>
              <a:tblGrid>
                <a:gridCol w="2331720"/>
                <a:gridCol w="1691640"/>
                <a:gridCol w="3566160"/>
              </a:tblGrid>
              <a:tr h="365760">
                <a:tc>
                  <a:txBody>
                    <a:bodyPr wrap="square"/>
                    <a:lstStyle/>
                    <a:p>
                      <a:r>
                        <a:rPr sz="1300" b="1" i="0">
                          <a:solidFill>
                            <a:srgbClr val="FFFFFF"/>
                          </a:solidFill>
                          <a:latin typeface="Calibri"/>
                        </a:rPr>
                        <a:t>Algorithm</a:t>
                      </a:r>
                    </a:p>
                  </a:txBody>
                  <a:tcPr marL="64008" marR="64008" marT="45720" marB="45720">
                    <a:solidFill>
                      <a:srgbClr val="0D3889"/>
                    </a:solidFill>
                  </a:tcPr>
                </a:tc>
                <a:tc>
                  <a:txBody>
                    <a:bodyPr wrap="square"/>
                    <a:lstStyle/>
                    <a:p>
                      <a:r>
                        <a:rPr sz="1300" b="1" i="0">
                          <a:solidFill>
                            <a:srgbClr val="FFFFFF"/>
                          </a:solidFill>
                          <a:latin typeface="Calibri"/>
                        </a:rPr>
                        <a:t>Used for</a:t>
                      </a:r>
                    </a:p>
                  </a:txBody>
                  <a:tcPr marL="64008" marR="64008" marT="45720" marB="45720">
                    <a:solidFill>
                      <a:srgbClr val="0D3889"/>
                    </a:solidFill>
                  </a:tcPr>
                </a:tc>
                <a:tc>
                  <a:txBody>
                    <a:bodyPr wrap="square"/>
                    <a:lstStyle/>
                    <a:p>
                      <a:r>
                        <a:rPr sz="1300" b="1" i="0">
                          <a:solidFill>
                            <a:srgbClr val="FFFFFF"/>
                          </a:solidFill>
                          <a:latin typeface="Calibri"/>
                        </a:rPr>
                        <a:t>In simple words</a:t>
                      </a:r>
                    </a:p>
                  </a:txBody>
                  <a:tcPr marL="64008" marR="64008" marT="45720" marB="45720">
                    <a:solidFill>
                      <a:srgbClr val="0D3889"/>
                    </a:solidFill>
                  </a:tcPr>
                </a:tc>
              </a:tr>
              <a:tr h="603504">
                <a:tc>
                  <a:txBody>
                    <a:bodyPr wrap="square"/>
                    <a:lstStyle/>
                    <a:p>
                      <a:r>
                        <a:rPr sz="1250" b="0" i="0">
                          <a:solidFill>
                            <a:srgbClr val="1A1A1A"/>
                          </a:solidFill>
                          <a:latin typeface="Calibri"/>
                        </a:rPr>
                        <a:t>U-Net with EfficientNet-B0</a:t>
                      </a:r>
                    </a:p>
                  </a:txBody>
                  <a:tcPr marL="64008" marR="64008" marT="45720" marB="45720">
                    <a:solidFill>
                      <a:srgbClr val="EEF2F8"/>
                    </a:solidFill>
                  </a:tcPr>
                </a:tc>
                <a:tc>
                  <a:txBody>
                    <a:bodyPr wrap="square"/>
                    <a:lstStyle/>
                    <a:p>
                      <a:r>
                        <a:rPr sz="1250" b="0" i="0">
                          <a:solidFill>
                            <a:srgbClr val="1A1A1A"/>
                          </a:solidFill>
                          <a:latin typeface="Calibri"/>
                        </a:rPr>
                        <a:t>Mangrove detection</a:t>
                      </a:r>
                    </a:p>
                  </a:txBody>
                  <a:tcPr marL="64008" marR="64008" marT="45720" marB="45720">
                    <a:solidFill>
                      <a:srgbClr val="EEF2F8"/>
                    </a:solidFill>
                  </a:tcPr>
                </a:tc>
                <a:tc>
                  <a:txBody>
                    <a:bodyPr wrap="square"/>
                    <a:lstStyle/>
                    <a:p>
                      <a:r>
                        <a:rPr sz="1250" b="0" i="0">
                          <a:solidFill>
                            <a:srgbClr val="1A1A1A"/>
                          </a:solidFill>
                          <a:latin typeface="Calibri"/>
                        </a:rPr>
                        <a:t>A deep-learning model that labels each 10 m pixel as mangrove or not.</a:t>
                      </a:r>
                    </a:p>
                  </a:txBody>
                  <a:tcPr marL="64008" marR="64008" marT="45720" marB="45720">
                    <a:solidFill>
                      <a:srgbClr val="EEF2F8"/>
                    </a:solidFill>
                  </a:tcPr>
                </a:tc>
              </a:tr>
              <a:tr h="603504">
                <a:tc>
                  <a:txBody>
                    <a:bodyPr wrap="square"/>
                    <a:lstStyle/>
                    <a:p>
                      <a:r>
                        <a:rPr sz="1250" b="0" i="0">
                          <a:solidFill>
                            <a:srgbClr val="1A1A1A"/>
                          </a:solidFill>
                          <a:latin typeface="Calibri"/>
                        </a:rPr>
                        <a:t>Connected-component labelling</a:t>
                      </a:r>
                    </a:p>
                  </a:txBody>
                  <a:tcPr marL="64008" marR="64008" marT="45720" marB="45720">
                    <a:solidFill>
                      <a:srgbClr val="FFFFFF"/>
                    </a:solidFill>
                  </a:tcPr>
                </a:tc>
                <a:tc>
                  <a:txBody>
                    <a:bodyPr wrap="square"/>
                    <a:lstStyle/>
                    <a:p>
                      <a:r>
                        <a:rPr sz="1250" b="0" i="0">
                          <a:solidFill>
                            <a:srgbClr val="1A1A1A"/>
                          </a:solidFill>
                          <a:latin typeface="Calibri"/>
                        </a:rPr>
                        <a:t>Patch extraction</a:t>
                      </a:r>
                    </a:p>
                  </a:txBody>
                  <a:tcPr marL="64008" marR="64008" marT="45720" marB="45720">
                    <a:solidFill>
                      <a:srgbClr val="FFFFFF"/>
                    </a:solidFill>
                  </a:tcPr>
                </a:tc>
                <a:tc>
                  <a:txBody>
                    <a:bodyPr wrap="square"/>
                    <a:lstStyle/>
                    <a:p>
                      <a:r>
                        <a:rPr sz="1250" b="0" i="0">
                          <a:solidFill>
                            <a:srgbClr val="1A1A1A"/>
                          </a:solidFill>
                          <a:latin typeface="Calibri"/>
                        </a:rPr>
                        <a:t>Groups touching mangrove pixels into one patch; removes tiny pieces.</a:t>
                      </a:r>
                    </a:p>
                  </a:txBody>
                  <a:tcPr marL="64008" marR="64008" marT="45720" marB="45720">
                    <a:solidFill>
                      <a:srgbClr val="FFFFFF"/>
                    </a:solidFill>
                  </a:tcPr>
                </a:tc>
              </a:tr>
              <a:tr h="603504">
                <a:tc>
                  <a:txBody>
                    <a:bodyPr wrap="square"/>
                    <a:lstStyle/>
                    <a:p>
                      <a:r>
                        <a:rPr sz="1250" b="0" i="0">
                          <a:solidFill>
                            <a:srgbClr val="1A1A1A"/>
                          </a:solidFill>
                          <a:latin typeface="Calibri"/>
                        </a:rPr>
                        <a:t>Nearest-neighbour network (5 km)</a:t>
                      </a:r>
                    </a:p>
                  </a:txBody>
                  <a:tcPr marL="64008" marR="64008" marT="45720" marB="45720">
                    <a:solidFill>
                      <a:srgbClr val="EEF2F8"/>
                    </a:solidFill>
                  </a:tcPr>
                </a:tc>
                <a:tc>
                  <a:txBody>
                    <a:bodyPr wrap="square"/>
                    <a:lstStyle/>
                    <a:p>
                      <a:r>
                        <a:rPr sz="1250" b="0" i="0">
                          <a:solidFill>
                            <a:srgbClr val="1A1A1A"/>
                          </a:solidFill>
                          <a:latin typeface="Calibri"/>
                        </a:rPr>
                        <a:t>Connectivity network</a:t>
                      </a:r>
                    </a:p>
                  </a:txBody>
                  <a:tcPr marL="64008" marR="64008" marT="45720" marB="45720">
                    <a:solidFill>
                      <a:srgbClr val="EEF2F8"/>
                    </a:solidFill>
                  </a:tcPr>
                </a:tc>
                <a:tc>
                  <a:txBody>
                    <a:bodyPr wrap="square"/>
                    <a:lstStyle/>
                    <a:p>
                      <a:r>
                        <a:rPr sz="1250" b="0" i="0">
                          <a:solidFill>
                            <a:srgbClr val="1A1A1A"/>
                          </a:solidFill>
                          <a:latin typeface="Calibri"/>
                        </a:rPr>
                        <a:t>Links each patch to its 3 nearest patches if they are within 5 km.</a:t>
                      </a:r>
                    </a:p>
                  </a:txBody>
                  <a:tcPr marL="64008" marR="64008" marT="45720" marB="45720">
                    <a:solidFill>
                      <a:srgbClr val="EEF2F8"/>
                    </a:solidFill>
                  </a:tcPr>
                </a:tc>
              </a:tr>
              <a:tr h="603504">
                <a:tc>
                  <a:txBody>
                    <a:bodyPr wrap="square"/>
                    <a:lstStyle/>
                    <a:p>
                      <a:r>
                        <a:rPr sz="1250" b="0" i="0">
                          <a:solidFill>
                            <a:srgbClr val="1A1A1A"/>
                          </a:solidFill>
                          <a:latin typeface="Calibri"/>
                        </a:rPr>
                        <a:t>Integral Index of Connectivity (IIC)</a:t>
                      </a:r>
                    </a:p>
                  </a:txBody>
                  <a:tcPr marL="64008" marR="64008" marT="45720" marB="45720">
                    <a:solidFill>
                      <a:srgbClr val="FFFFFF"/>
                    </a:solidFill>
                  </a:tcPr>
                </a:tc>
                <a:tc>
                  <a:txBody>
                    <a:bodyPr wrap="square"/>
                    <a:lstStyle/>
                    <a:p>
                      <a:r>
                        <a:rPr sz="1250" b="0" i="0">
                          <a:solidFill>
                            <a:srgbClr val="1A1A1A"/>
                          </a:solidFill>
                          <a:latin typeface="Calibri"/>
                        </a:rPr>
                        <a:t>Connectivity score</a:t>
                      </a:r>
                    </a:p>
                  </a:txBody>
                  <a:tcPr marL="64008" marR="64008" marT="45720" marB="45720">
                    <a:solidFill>
                      <a:srgbClr val="FFFFFF"/>
                    </a:solidFill>
                  </a:tcPr>
                </a:tc>
                <a:tc>
                  <a:txBody>
                    <a:bodyPr wrap="square"/>
                    <a:lstStyle/>
                    <a:p>
                      <a:r>
                        <a:rPr sz="1250" b="0" i="0">
                          <a:solidFill>
                            <a:srgbClr val="1A1A1A"/>
                          </a:solidFill>
                          <a:latin typeface="Calibri"/>
                        </a:rPr>
                        <a:t>One number for the network: large patches reachable in few steps score high.</a:t>
                      </a:r>
                    </a:p>
                  </a:txBody>
                  <a:tcPr marL="64008" marR="64008" marT="45720" marB="45720">
                    <a:solidFill>
                      <a:srgbClr val="FFFFFF"/>
                    </a:solidFill>
                  </a:tcPr>
                </a:tc>
              </a:tr>
              <a:tr h="603504">
                <a:tc>
                  <a:txBody>
                    <a:bodyPr wrap="square"/>
                    <a:lstStyle/>
                    <a:p>
                      <a:r>
                        <a:rPr sz="1250" b="0" i="0">
                          <a:solidFill>
                            <a:srgbClr val="1A1A1A"/>
                          </a:solidFill>
                          <a:latin typeface="Calibri"/>
                        </a:rPr>
                        <a:t>Remove-one-patch test</a:t>
                      </a:r>
                    </a:p>
                  </a:txBody>
                  <a:tcPr marL="64008" marR="64008" marT="45720" marB="45720">
                    <a:solidFill>
                      <a:srgbClr val="EEF2F8"/>
                    </a:solidFill>
                  </a:tcPr>
                </a:tc>
                <a:tc>
                  <a:txBody>
                    <a:bodyPr wrap="square"/>
                    <a:lstStyle/>
                    <a:p>
                      <a:r>
                        <a:rPr sz="1250" b="0" i="0">
                          <a:solidFill>
                            <a:srgbClr val="1A1A1A"/>
                          </a:solidFill>
                          <a:latin typeface="Calibri"/>
                        </a:rPr>
                        <a:t>Criticality</a:t>
                      </a:r>
                    </a:p>
                  </a:txBody>
                  <a:tcPr marL="64008" marR="64008" marT="45720" marB="45720">
                    <a:solidFill>
                      <a:srgbClr val="EEF2F8"/>
                    </a:solidFill>
                  </a:tcPr>
                </a:tc>
                <a:tc>
                  <a:txBody>
                    <a:bodyPr wrap="square"/>
                    <a:lstStyle/>
                    <a:p>
                      <a:r>
                        <a:rPr sz="1250" b="0" i="0">
                          <a:solidFill>
                            <a:srgbClr val="1A1A1A"/>
                          </a:solidFill>
                          <a:latin typeface="Calibri"/>
                        </a:rPr>
                        <a:t>Delete a patch, recompute the score; the bigger the drop, the more critical.</a:t>
                      </a:r>
                    </a:p>
                  </a:txBody>
                  <a:tcPr marL="64008" marR="64008" marT="45720" marB="45720">
                    <a:solidFill>
                      <a:srgbClr val="EEF2F8"/>
                    </a:solidFill>
                  </a:tcPr>
                </a:tc>
              </a:tr>
              <a:tr h="603504">
                <a:tc>
                  <a:txBody>
                    <a:bodyPr wrap="square"/>
                    <a:lstStyle/>
                    <a:p>
                      <a:r>
                        <a:rPr sz="1250" b="0" i="0">
                          <a:solidFill>
                            <a:srgbClr val="1A1A1A"/>
                          </a:solidFill>
                          <a:latin typeface="Calibri"/>
                        </a:rPr>
                        <a:t>Add-one-candidate test</a:t>
                      </a:r>
                    </a:p>
                  </a:txBody>
                  <a:tcPr marL="64008" marR="64008" marT="45720" marB="45720">
                    <a:solidFill>
                      <a:srgbClr val="FFFFFF"/>
                    </a:solidFill>
                  </a:tcPr>
                </a:tc>
                <a:tc>
                  <a:txBody>
                    <a:bodyPr wrap="square"/>
                    <a:lstStyle/>
                    <a:p>
                      <a:r>
                        <a:rPr sz="1250" b="0" i="0">
                          <a:solidFill>
                            <a:srgbClr val="1A1A1A"/>
                          </a:solidFill>
                          <a:latin typeface="Calibri"/>
                        </a:rPr>
                        <a:t>Restoration priority</a:t>
                      </a:r>
                    </a:p>
                  </a:txBody>
                  <a:tcPr marL="64008" marR="64008" marT="45720" marB="45720">
                    <a:solidFill>
                      <a:srgbClr val="FFFFFF"/>
                    </a:solidFill>
                  </a:tcPr>
                </a:tc>
                <a:tc>
                  <a:txBody>
                    <a:bodyPr wrap="square"/>
                    <a:lstStyle/>
                    <a:p>
                      <a:r>
                        <a:rPr sz="1250" b="0" i="0">
                          <a:solidFill>
                            <a:srgbClr val="1A1A1A"/>
                          </a:solidFill>
                          <a:latin typeface="Calibri"/>
                        </a:rPr>
                        <a:t>Add a candidate area, recompute; rank areas by the gain.</a:t>
                      </a:r>
                    </a:p>
                  </a:txBody>
                  <a:tcPr marL="64008" marR="64008" marT="45720" marB="45720">
                    <a:solidFill>
                      <a:srgbClr val="FFFFFF"/>
                    </a:solidFill>
                  </a:tcPr>
                </a:tc>
              </a:tr>
            </a:tbl>
          </a:graphicData>
        </a:graphic>
      </p:graphicFrame>
      <p:sp>
        <p:nvSpPr>
          <p:cNvPr id="4" name="TextBox 3"/>
          <p:cNvSpPr txBox="1"/>
          <p:nvPr/>
        </p:nvSpPr>
        <p:spPr>
          <a:xfrm>
            <a:off x="1188720" y="5257800"/>
            <a:ext cx="7589520" cy="411480"/>
          </a:xfrm>
          <a:prstGeom prst="rect">
            <a:avLst/>
          </a:prstGeom>
          <a:noFill/>
        </p:spPr>
        <p:txBody>
          <a:bodyPr wrap="square" lIns="36576" rIns="36576" tIns="18288" bIns="18288" anchor="t">
            <a:spAutoFit/>
          </a:bodyPr>
          <a:lstStyle/>
          <a:p>
            <a:pPr algn="l">
              <a:spcAft>
                <a:spcPts val="400"/>
              </a:spcAft>
            </a:pPr>
            <a:r>
              <a:rPr sz="1050" b="0" i="1">
                <a:solidFill>
                  <a:srgbClr val="5A6370"/>
                </a:solidFill>
                <a:latin typeface="Calibri"/>
              </a:rPr>
              <a:t>Tested at 3, 5 and 8 km to check the 5 km choice; the model threshold was tuned on test tiles.</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Results — Mangrove Detection</a:t>
            </a:r>
          </a:p>
        </p:txBody>
      </p:sp>
      <p:sp>
        <p:nvSpPr>
          <p:cNvPr id="3" name="Rounded Rectangle 2"/>
          <p:cNvSpPr/>
          <p:nvPr/>
        </p:nvSpPr>
        <p:spPr>
          <a:xfrm>
            <a:off x="1188720" y="1097280"/>
            <a:ext cx="1828800" cy="1325880"/>
          </a:xfrm>
          <a:prstGeom prst="roundRect">
            <a:avLst>
              <a:gd name="adj" fmla="val 12000"/>
            </a:avLst>
          </a:prstGeom>
          <a:solidFill>
            <a:srgbClr val="FFFFFF"/>
          </a:solidFill>
          <a:ln w="22225">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188720" y="1143000"/>
            <a:ext cx="1828800" cy="658368"/>
          </a:xfrm>
          <a:prstGeom prst="rect">
            <a:avLst/>
          </a:prstGeom>
          <a:noFill/>
        </p:spPr>
        <p:txBody>
          <a:bodyPr wrap="square" lIns="36576" rIns="36576" tIns="18288" bIns="18288" anchor="t">
            <a:spAutoFit/>
          </a:bodyPr>
          <a:lstStyle/>
          <a:p>
            <a:pPr algn="ctr">
              <a:spcAft>
                <a:spcPts val="400"/>
              </a:spcAft>
            </a:pPr>
            <a:r>
              <a:rPr sz="3200" b="1" i="0">
                <a:solidFill>
                  <a:srgbClr val="0D3889"/>
                </a:solidFill>
                <a:latin typeface="Calibri"/>
              </a:rPr>
              <a:t>0.842</a:t>
            </a:r>
          </a:p>
        </p:txBody>
      </p:sp>
      <p:sp>
        <p:nvSpPr>
          <p:cNvPr id="5" name="TextBox 4"/>
          <p:cNvSpPr txBox="1"/>
          <p:nvPr/>
        </p:nvSpPr>
        <p:spPr>
          <a:xfrm>
            <a:off x="1188720" y="1783080"/>
            <a:ext cx="1828800" cy="594360"/>
          </a:xfrm>
          <a:prstGeom prst="rect">
            <a:avLst/>
          </a:prstGeom>
          <a:noFill/>
        </p:spPr>
        <p:txBody>
          <a:bodyPr wrap="square" lIns="36576" rIns="36576" tIns="18288" bIns="18288" anchor="t">
            <a:spAutoFit/>
          </a:bodyPr>
          <a:lstStyle/>
          <a:p>
            <a:pPr algn="ctr">
              <a:spcAft>
                <a:spcPts val="0"/>
              </a:spcAft>
            </a:pPr>
            <a:r>
              <a:rPr sz="1250" b="1" i="0">
                <a:solidFill>
                  <a:srgbClr val="1A1A1A"/>
                </a:solidFill>
                <a:latin typeface="Calibri"/>
              </a:rPr>
              <a:t>Test IoU</a:t>
            </a:r>
          </a:p>
          <a:p>
            <a:pPr algn="ctr">
              <a:spcAft>
                <a:spcPts val="0"/>
              </a:spcAft>
            </a:pPr>
            <a:r>
              <a:rPr sz="1000" b="0" i="0">
                <a:solidFill>
                  <a:srgbClr val="5A6370"/>
                </a:solidFill>
                <a:latin typeface="Calibri"/>
              </a:rPr>
              <a:t>overlap with reference map</a:t>
            </a:r>
          </a:p>
        </p:txBody>
      </p:sp>
      <p:sp>
        <p:nvSpPr>
          <p:cNvPr id="6" name="Rounded Rectangle 5"/>
          <p:cNvSpPr/>
          <p:nvPr/>
        </p:nvSpPr>
        <p:spPr>
          <a:xfrm>
            <a:off x="3154680" y="1097280"/>
            <a:ext cx="1828800" cy="1325880"/>
          </a:xfrm>
          <a:prstGeom prst="roundRect">
            <a:avLst>
              <a:gd name="adj" fmla="val 12000"/>
            </a:avLst>
          </a:prstGeom>
          <a:solidFill>
            <a:srgbClr val="FFFFFF"/>
          </a:solidFill>
          <a:ln w="22225">
            <a:solidFill>
              <a:srgbClr val="0D388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54680" y="1143000"/>
            <a:ext cx="1828800" cy="658368"/>
          </a:xfrm>
          <a:prstGeom prst="rect">
            <a:avLst/>
          </a:prstGeom>
          <a:noFill/>
        </p:spPr>
        <p:txBody>
          <a:bodyPr wrap="square" lIns="36576" rIns="36576" tIns="18288" bIns="18288" anchor="t">
            <a:spAutoFit/>
          </a:bodyPr>
          <a:lstStyle/>
          <a:p>
            <a:pPr algn="ctr">
              <a:spcAft>
                <a:spcPts val="400"/>
              </a:spcAft>
            </a:pPr>
            <a:r>
              <a:rPr sz="3200" b="1" i="0">
                <a:solidFill>
                  <a:srgbClr val="0D3889"/>
                </a:solidFill>
                <a:latin typeface="Calibri"/>
              </a:rPr>
              <a:t>0.914</a:t>
            </a:r>
          </a:p>
        </p:txBody>
      </p:sp>
      <p:sp>
        <p:nvSpPr>
          <p:cNvPr id="8" name="TextBox 7"/>
          <p:cNvSpPr txBox="1"/>
          <p:nvPr/>
        </p:nvSpPr>
        <p:spPr>
          <a:xfrm>
            <a:off x="3154680" y="1783080"/>
            <a:ext cx="1828800" cy="594360"/>
          </a:xfrm>
          <a:prstGeom prst="rect">
            <a:avLst/>
          </a:prstGeom>
          <a:noFill/>
        </p:spPr>
        <p:txBody>
          <a:bodyPr wrap="square" lIns="36576" rIns="36576" tIns="18288" bIns="18288" anchor="t">
            <a:spAutoFit/>
          </a:bodyPr>
          <a:lstStyle/>
          <a:p>
            <a:pPr algn="ctr">
              <a:spcAft>
                <a:spcPts val="0"/>
              </a:spcAft>
            </a:pPr>
            <a:r>
              <a:rPr sz="1250" b="1" i="0">
                <a:solidFill>
                  <a:srgbClr val="1A1A1A"/>
                </a:solidFill>
                <a:latin typeface="Calibri"/>
              </a:rPr>
              <a:t>Test F1 score</a:t>
            </a:r>
          </a:p>
          <a:p>
            <a:pPr algn="ctr">
              <a:spcAft>
                <a:spcPts val="0"/>
              </a:spcAft>
            </a:pPr>
            <a:r>
              <a:rPr sz="1000" b="0" i="0">
                <a:solidFill>
                  <a:srgbClr val="5A6370"/>
                </a:solidFill>
                <a:latin typeface="Calibri"/>
              </a:rPr>
              <a:t>precision + recall</a:t>
            </a:r>
          </a:p>
        </p:txBody>
      </p:sp>
      <p:sp>
        <p:nvSpPr>
          <p:cNvPr id="9" name="Rounded Rectangle 8"/>
          <p:cNvSpPr/>
          <p:nvPr/>
        </p:nvSpPr>
        <p:spPr>
          <a:xfrm>
            <a:off x="5166360" y="1097280"/>
            <a:ext cx="3611880" cy="132588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303520" y="1143000"/>
            <a:ext cx="3383280" cy="1261872"/>
          </a:xfrm>
          <a:prstGeom prst="rect">
            <a:avLst/>
          </a:prstGeom>
          <a:noFill/>
        </p:spPr>
        <p:txBody>
          <a:bodyPr wrap="square" lIns="36576" rIns="36576" tIns="18288" bIns="18288" anchor="ctr">
            <a:spAutoFit/>
          </a:bodyPr>
          <a:lstStyle/>
          <a:p>
            <a:pPr algn="l">
              <a:spcAft>
                <a:spcPts val="200"/>
              </a:spcAft>
            </a:pPr>
            <a:r>
              <a:rPr sz="1300" b="1" i="0">
                <a:solidFill>
                  <a:srgbClr val="D96A2B"/>
                </a:solidFill>
                <a:latin typeface="Calibri"/>
              </a:rPr>
              <a:t>Development model result</a:t>
            </a:r>
          </a:p>
          <a:p>
            <a:pPr algn="l">
              <a:spcAft>
                <a:spcPts val="200"/>
              </a:spcAft>
            </a:pPr>
            <a:r>
              <a:rPr sz="1100" b="0" i="0">
                <a:solidFill>
                  <a:srgbClr val="1A1A1A"/>
                </a:solidFill>
                <a:latin typeface="Calibri"/>
              </a:rPr>
              <a:t>200 test tiles, measured against Global Mangrove Watch reference labels — not field accuracy.</a:t>
            </a:r>
          </a:p>
        </p:txBody>
      </p:sp>
      <p:sp>
        <p:nvSpPr>
          <p:cNvPr id="11" name="TextBox 10"/>
          <p:cNvSpPr txBox="1"/>
          <p:nvPr/>
        </p:nvSpPr>
        <p:spPr>
          <a:xfrm>
            <a:off x="1188720" y="2606040"/>
            <a:ext cx="4754880" cy="320040"/>
          </a:xfrm>
          <a:prstGeom prst="rect">
            <a:avLst/>
          </a:prstGeom>
          <a:noFill/>
        </p:spPr>
        <p:txBody>
          <a:bodyPr wrap="square" lIns="36576" rIns="36576" tIns="18288" bIns="18288" anchor="t">
            <a:spAutoFit/>
          </a:bodyPr>
          <a:lstStyle/>
          <a:p>
            <a:pPr algn="l">
              <a:spcAft>
                <a:spcPts val="400"/>
              </a:spcAft>
            </a:pPr>
            <a:r>
              <a:rPr sz="1300" b="1" i="0">
                <a:solidFill>
                  <a:srgbClr val="0D3889"/>
                </a:solidFill>
                <a:latin typeface="Calibri"/>
              </a:rPr>
              <a:t>Comparison: test IoU of our development models</a:t>
            </a:r>
          </a:p>
        </p:txBody>
      </p:sp>
      <p:graphicFrame>
        <p:nvGraphicFramePr>
          <p:cNvPr id="12" name="Chart 11"/>
          <p:cNvGraphicFramePr>
            <a:graphicFrameLocks noGrp="1"/>
          </p:cNvGraphicFramePr>
          <p:nvPr/>
        </p:nvGraphicFramePr>
        <p:xfrm>
          <a:off x="1188720" y="2926080"/>
          <a:ext cx="4663440" cy="2514600"/>
        </p:xfrm>
        <a:graphic>
          <a:graphicData uri="http://schemas.openxmlformats.org/drawingml/2006/chart">
            <c:chart xmlns:c="http://schemas.openxmlformats.org/drawingml/2006/chart" r:id="rId2"/>
          </a:graphicData>
        </a:graphic>
      </p:graphicFrame>
      <p:sp>
        <p:nvSpPr>
          <p:cNvPr id="13" name="Rounded Rectangle 12"/>
          <p:cNvSpPr/>
          <p:nvPr/>
        </p:nvSpPr>
        <p:spPr>
          <a:xfrm>
            <a:off x="6035040" y="2606040"/>
            <a:ext cx="2743200" cy="283464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72200" y="2697480"/>
            <a:ext cx="2514600" cy="2697480"/>
          </a:xfrm>
          <a:prstGeom prst="rect">
            <a:avLst/>
          </a:prstGeom>
          <a:noFill/>
        </p:spPr>
        <p:txBody>
          <a:bodyPr wrap="square" lIns="36576" rIns="36576" tIns="18288" bIns="18288" anchor="t">
            <a:spAutoFit/>
          </a:bodyPr>
          <a:lstStyle/>
          <a:p>
            <a:pPr algn="l">
              <a:spcAft>
                <a:spcPts val="500"/>
              </a:spcAft>
            </a:pPr>
            <a:r>
              <a:rPr sz="1300" b="1" i="0">
                <a:solidFill>
                  <a:srgbClr val="0D3889"/>
                </a:solidFill>
                <a:latin typeface="Calibri"/>
              </a:rPr>
              <a:t>What this means</a:t>
            </a:r>
          </a:p>
          <a:p>
            <a:pPr algn="l">
              <a:spcAft>
                <a:spcPts val="500"/>
              </a:spcAft>
            </a:pPr>
            <a:r>
              <a:rPr sz="1100" b="0" i="0">
                <a:solidFill>
                  <a:srgbClr val="1A1A1A"/>
                </a:solidFill>
                <a:latin typeface="Calibri"/>
              </a:rPr>
              <a:t>Training on all four areas works far better than Kerala alone.</a:t>
            </a:r>
          </a:p>
          <a:p>
            <a:pPr algn="l">
              <a:spcAft>
                <a:spcPts val="500"/>
              </a:spcAft>
            </a:pPr>
            <a:r>
              <a:rPr sz="1100" b="0" i="0">
                <a:solidFill>
                  <a:srgbClr val="1A1A1A"/>
                </a:solidFill>
                <a:latin typeface="Calibri"/>
              </a:rPr>
              <a:t>Most of the score comes from the Sundarbans; thin Kerala mangrove strips are still hard.</a:t>
            </a:r>
          </a:p>
          <a:p>
            <a:pPr algn="l">
              <a:spcAft>
                <a:spcPts val="500"/>
              </a:spcAft>
            </a:pPr>
            <a:r>
              <a:rPr sz="1100" b="0" i="1">
                <a:solidFill>
                  <a:srgbClr val="5A6370"/>
                </a:solidFill>
                <a:latin typeface="Calibri"/>
              </a:rPr>
              <a:t>95.56% is the published foundation-paper result, not ours.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Results — System Outputs</a:t>
            </a:r>
          </a:p>
        </p:txBody>
      </p:sp>
      <p:pic>
        <p:nvPicPr>
          <p:cNvPr id="3" name="Picture 2" descr="dashboard_map.png"/>
          <p:cNvPicPr>
            <a:picLocks noChangeAspect="1"/>
          </p:cNvPicPr>
          <p:nvPr/>
        </p:nvPicPr>
        <p:blipFill>
          <a:blip r:embed="rId2"/>
          <a:stretch>
            <a:fillRect/>
          </a:stretch>
        </p:blipFill>
        <p:spPr>
          <a:xfrm>
            <a:off x="1188720" y="1097280"/>
            <a:ext cx="3749039" cy="2252641"/>
          </a:xfrm>
          <a:prstGeom prst="rect">
            <a:avLst/>
          </a:prstGeom>
          <a:ln w="12700">
            <a:solidFill>
              <a:srgbClr val="C9D3E6"/>
            </a:solidFill>
          </a:ln>
        </p:spPr>
      </p:pic>
      <p:sp>
        <p:nvSpPr>
          <p:cNvPr id="4" name="TextBox 3"/>
          <p:cNvSpPr txBox="1"/>
          <p:nvPr/>
        </p:nvSpPr>
        <p:spPr>
          <a:xfrm>
            <a:off x="1188720" y="3401568"/>
            <a:ext cx="3749039" cy="320040"/>
          </a:xfrm>
          <a:prstGeom prst="rect">
            <a:avLst/>
          </a:prstGeom>
          <a:noFill/>
        </p:spPr>
        <p:txBody>
          <a:bodyPr wrap="square" lIns="36576" rIns="36576" tIns="18288" bIns="18288" anchor="t">
            <a:spAutoFit/>
          </a:bodyPr>
          <a:lstStyle/>
          <a:p>
            <a:pPr algn="ctr">
              <a:spcAft>
                <a:spcPts val="400"/>
              </a:spcAft>
            </a:pPr>
            <a:r>
              <a:rPr sz="1000" b="0" i="1">
                <a:solidFill>
                  <a:srgbClr val="5A6370"/>
                </a:solidFill>
                <a:latin typeface="Calibri"/>
              </a:rPr>
              <a:t>Dashboard map: patches, links, critical patches, candidates</a:t>
            </a:r>
          </a:p>
        </p:txBody>
      </p:sp>
      <p:pic>
        <p:nvPicPr>
          <p:cNvPr id="5" name="Picture 4" descr="graph.png"/>
          <p:cNvPicPr>
            <a:picLocks noChangeAspect="1"/>
          </p:cNvPicPr>
          <p:nvPr/>
        </p:nvPicPr>
        <p:blipFill>
          <a:blip r:embed="rId3"/>
          <a:stretch>
            <a:fillRect/>
          </a:stretch>
        </p:blipFill>
        <p:spPr>
          <a:xfrm>
            <a:off x="5074920" y="1097280"/>
            <a:ext cx="3703320" cy="2263140"/>
          </a:xfrm>
          <a:prstGeom prst="rect">
            <a:avLst/>
          </a:prstGeom>
          <a:ln w="12700">
            <a:solidFill>
              <a:srgbClr val="C9D3E6"/>
            </a:solidFill>
          </a:ln>
        </p:spPr>
      </p:pic>
      <p:sp>
        <p:nvSpPr>
          <p:cNvPr id="6" name="TextBox 5"/>
          <p:cNvSpPr txBox="1"/>
          <p:nvPr/>
        </p:nvSpPr>
        <p:spPr>
          <a:xfrm>
            <a:off x="5074920" y="3401568"/>
            <a:ext cx="3703320" cy="320040"/>
          </a:xfrm>
          <a:prstGeom prst="rect">
            <a:avLst/>
          </a:prstGeom>
          <a:noFill/>
        </p:spPr>
        <p:txBody>
          <a:bodyPr wrap="square" lIns="36576" rIns="36576" tIns="18288" bIns="18288" anchor="t">
            <a:spAutoFit/>
          </a:bodyPr>
          <a:lstStyle/>
          <a:p>
            <a:pPr algn="ctr">
              <a:spcAft>
                <a:spcPts val="400"/>
              </a:spcAft>
            </a:pPr>
            <a:r>
              <a:rPr sz="1000" b="0" i="1">
                <a:solidFill>
                  <a:srgbClr val="5A6370"/>
                </a:solidFill>
                <a:latin typeface="Calibri"/>
              </a:rPr>
              <a:t>Network view: 24 patches, 43 links, 2 groups (Kerala)</a:t>
            </a:r>
          </a:p>
        </p:txBody>
      </p:sp>
      <p:sp>
        <p:nvSpPr>
          <p:cNvPr id="7" name="Rounded Rectangle 6"/>
          <p:cNvSpPr/>
          <p:nvPr/>
        </p:nvSpPr>
        <p:spPr>
          <a:xfrm>
            <a:off x="1188720" y="3840480"/>
            <a:ext cx="1783080" cy="9601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188720" y="3886200"/>
            <a:ext cx="1783080" cy="502920"/>
          </a:xfrm>
          <a:prstGeom prst="rect">
            <a:avLst/>
          </a:prstGeom>
          <a:noFill/>
        </p:spPr>
        <p:txBody>
          <a:bodyPr wrap="square" lIns="36576" rIns="36576" tIns="18288" bIns="18288" anchor="t">
            <a:spAutoFit/>
          </a:bodyPr>
          <a:lstStyle/>
          <a:p>
            <a:pPr algn="ctr">
              <a:spcAft>
                <a:spcPts val="400"/>
              </a:spcAft>
            </a:pPr>
            <a:r>
              <a:rPr sz="2200" b="1" i="0">
                <a:solidFill>
                  <a:srgbClr val="0D3889"/>
                </a:solidFill>
                <a:latin typeface="Calibri"/>
              </a:rPr>
              <a:t>24</a:t>
            </a:r>
          </a:p>
        </p:txBody>
      </p:sp>
      <p:sp>
        <p:nvSpPr>
          <p:cNvPr id="9" name="TextBox 8"/>
          <p:cNvSpPr txBox="1"/>
          <p:nvPr/>
        </p:nvSpPr>
        <p:spPr>
          <a:xfrm>
            <a:off x="1188720" y="4389120"/>
            <a:ext cx="1783080" cy="365760"/>
          </a:xfrm>
          <a:prstGeom prst="rect">
            <a:avLst/>
          </a:prstGeom>
          <a:noFill/>
        </p:spPr>
        <p:txBody>
          <a:bodyPr wrap="square" lIns="36576" rIns="36576" tIns="18288" bIns="18288" anchor="t">
            <a:spAutoFit/>
          </a:bodyPr>
          <a:lstStyle/>
          <a:p>
            <a:pPr algn="ctr">
              <a:spcAft>
                <a:spcPts val="400"/>
              </a:spcAft>
            </a:pPr>
            <a:r>
              <a:rPr sz="1100" b="0" i="0">
                <a:solidFill>
                  <a:srgbClr val="5A6370"/>
                </a:solidFill>
                <a:latin typeface="Calibri"/>
              </a:rPr>
              <a:t>habitat patches</a:t>
            </a:r>
          </a:p>
        </p:txBody>
      </p:sp>
      <p:sp>
        <p:nvSpPr>
          <p:cNvPr id="10" name="Rounded Rectangle 9"/>
          <p:cNvSpPr/>
          <p:nvPr/>
        </p:nvSpPr>
        <p:spPr>
          <a:xfrm>
            <a:off x="3124504" y="3840480"/>
            <a:ext cx="1783080" cy="9601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124504" y="3886200"/>
            <a:ext cx="1783080" cy="502920"/>
          </a:xfrm>
          <a:prstGeom prst="rect">
            <a:avLst/>
          </a:prstGeom>
          <a:noFill/>
        </p:spPr>
        <p:txBody>
          <a:bodyPr wrap="square" lIns="36576" rIns="36576" tIns="18288" bIns="18288" anchor="t">
            <a:spAutoFit/>
          </a:bodyPr>
          <a:lstStyle/>
          <a:p>
            <a:pPr algn="ctr">
              <a:spcAft>
                <a:spcPts val="400"/>
              </a:spcAft>
            </a:pPr>
            <a:r>
              <a:rPr sz="2200" b="1" i="0">
                <a:solidFill>
                  <a:srgbClr val="0D3889"/>
                </a:solidFill>
                <a:latin typeface="Calibri"/>
              </a:rPr>
              <a:t>43</a:t>
            </a:r>
          </a:p>
        </p:txBody>
      </p:sp>
      <p:sp>
        <p:nvSpPr>
          <p:cNvPr id="12" name="TextBox 11"/>
          <p:cNvSpPr txBox="1"/>
          <p:nvPr/>
        </p:nvSpPr>
        <p:spPr>
          <a:xfrm>
            <a:off x="3124504" y="4389120"/>
            <a:ext cx="1783080" cy="365760"/>
          </a:xfrm>
          <a:prstGeom prst="rect">
            <a:avLst/>
          </a:prstGeom>
          <a:noFill/>
        </p:spPr>
        <p:txBody>
          <a:bodyPr wrap="square" lIns="36576" rIns="36576" tIns="18288" bIns="18288" anchor="t">
            <a:spAutoFit/>
          </a:bodyPr>
          <a:lstStyle/>
          <a:p>
            <a:pPr algn="ctr">
              <a:spcAft>
                <a:spcPts val="400"/>
              </a:spcAft>
            </a:pPr>
            <a:r>
              <a:rPr sz="1100" b="0" i="0">
                <a:solidFill>
                  <a:srgbClr val="5A6370"/>
                </a:solidFill>
                <a:latin typeface="Calibri"/>
              </a:rPr>
              <a:t>connectivity links</a:t>
            </a:r>
          </a:p>
        </p:txBody>
      </p:sp>
      <p:sp>
        <p:nvSpPr>
          <p:cNvPr id="13" name="Rounded Rectangle 12"/>
          <p:cNvSpPr/>
          <p:nvPr/>
        </p:nvSpPr>
        <p:spPr>
          <a:xfrm>
            <a:off x="5060289" y="3840480"/>
            <a:ext cx="1783080" cy="9601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60289" y="3886200"/>
            <a:ext cx="1783080" cy="502920"/>
          </a:xfrm>
          <a:prstGeom prst="rect">
            <a:avLst/>
          </a:prstGeom>
          <a:noFill/>
        </p:spPr>
        <p:txBody>
          <a:bodyPr wrap="square" lIns="36576" rIns="36576" tIns="18288" bIns="18288" anchor="t">
            <a:spAutoFit/>
          </a:bodyPr>
          <a:lstStyle/>
          <a:p>
            <a:pPr algn="ctr">
              <a:spcAft>
                <a:spcPts val="400"/>
              </a:spcAft>
            </a:pPr>
            <a:r>
              <a:rPr sz="2200" b="1" i="0">
                <a:solidFill>
                  <a:srgbClr val="0D3889"/>
                </a:solidFill>
                <a:latin typeface="Calibri"/>
              </a:rPr>
              <a:t>≈ 220 ha</a:t>
            </a:r>
          </a:p>
        </p:txBody>
      </p:sp>
      <p:sp>
        <p:nvSpPr>
          <p:cNvPr id="15" name="TextBox 14"/>
          <p:cNvSpPr txBox="1"/>
          <p:nvPr/>
        </p:nvSpPr>
        <p:spPr>
          <a:xfrm>
            <a:off x="5060289" y="4389120"/>
            <a:ext cx="1783080" cy="365760"/>
          </a:xfrm>
          <a:prstGeom prst="rect">
            <a:avLst/>
          </a:prstGeom>
          <a:noFill/>
        </p:spPr>
        <p:txBody>
          <a:bodyPr wrap="square" lIns="36576" rIns="36576" tIns="18288" bIns="18288" anchor="t">
            <a:spAutoFit/>
          </a:bodyPr>
          <a:lstStyle/>
          <a:p>
            <a:pPr algn="ctr">
              <a:spcAft>
                <a:spcPts val="400"/>
              </a:spcAft>
            </a:pPr>
            <a:r>
              <a:rPr sz="1100" b="0" i="0">
                <a:solidFill>
                  <a:srgbClr val="5A6370"/>
                </a:solidFill>
                <a:latin typeface="Calibri"/>
              </a:rPr>
              <a:t>mangrove mapped</a:t>
            </a:r>
          </a:p>
        </p:txBody>
      </p:sp>
      <p:sp>
        <p:nvSpPr>
          <p:cNvPr id="16" name="Rounded Rectangle 15"/>
          <p:cNvSpPr/>
          <p:nvPr/>
        </p:nvSpPr>
        <p:spPr>
          <a:xfrm>
            <a:off x="6996074" y="3840480"/>
            <a:ext cx="1783080" cy="96012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96074" y="3886200"/>
            <a:ext cx="1783080" cy="502920"/>
          </a:xfrm>
          <a:prstGeom prst="rect">
            <a:avLst/>
          </a:prstGeom>
          <a:noFill/>
        </p:spPr>
        <p:txBody>
          <a:bodyPr wrap="square" lIns="36576" rIns="36576" tIns="18288" bIns="18288" anchor="t">
            <a:spAutoFit/>
          </a:bodyPr>
          <a:lstStyle/>
          <a:p>
            <a:pPr algn="ctr">
              <a:spcAft>
                <a:spcPts val="400"/>
              </a:spcAft>
            </a:pPr>
            <a:r>
              <a:rPr sz="2200" b="1" i="0">
                <a:solidFill>
                  <a:srgbClr val="0D3889"/>
                </a:solidFill>
                <a:latin typeface="Calibri"/>
              </a:rPr>
              <a:t>4</a:t>
            </a:r>
          </a:p>
        </p:txBody>
      </p:sp>
      <p:sp>
        <p:nvSpPr>
          <p:cNvPr id="18" name="TextBox 17"/>
          <p:cNvSpPr txBox="1"/>
          <p:nvPr/>
        </p:nvSpPr>
        <p:spPr>
          <a:xfrm>
            <a:off x="6996074" y="4389120"/>
            <a:ext cx="1783080" cy="365760"/>
          </a:xfrm>
          <a:prstGeom prst="rect">
            <a:avLst/>
          </a:prstGeom>
          <a:noFill/>
        </p:spPr>
        <p:txBody>
          <a:bodyPr wrap="square" lIns="36576" rIns="36576" tIns="18288" bIns="18288" anchor="t">
            <a:spAutoFit/>
          </a:bodyPr>
          <a:lstStyle/>
          <a:p>
            <a:pPr algn="ctr">
              <a:spcAft>
                <a:spcPts val="400"/>
              </a:spcAft>
            </a:pPr>
            <a:r>
              <a:rPr sz="1100" b="0" i="0">
                <a:solidFill>
                  <a:srgbClr val="5A6370"/>
                </a:solidFill>
                <a:latin typeface="Calibri"/>
              </a:rPr>
              <a:t>restoration candidates</a:t>
            </a:r>
          </a:p>
        </p:txBody>
      </p:sp>
      <p:sp>
        <p:nvSpPr>
          <p:cNvPr id="19" name="TextBox 18"/>
          <p:cNvSpPr txBox="1"/>
          <p:nvPr/>
        </p:nvSpPr>
        <p:spPr>
          <a:xfrm>
            <a:off x="1188720" y="4983480"/>
            <a:ext cx="7589520" cy="411480"/>
          </a:xfrm>
          <a:prstGeom prst="rect">
            <a:avLst/>
          </a:prstGeom>
          <a:noFill/>
        </p:spPr>
        <p:txBody>
          <a:bodyPr wrap="square" lIns="36576" rIns="36576" tIns="18288" bIns="18288" anchor="t">
            <a:spAutoFit/>
          </a:bodyPr>
          <a:lstStyle/>
          <a:p>
            <a:pPr algn="ctr">
              <a:spcAft>
                <a:spcPts val="400"/>
              </a:spcAft>
            </a:pPr>
            <a:r>
              <a:rPr sz="1050" b="0" i="1">
                <a:solidFill>
                  <a:srgbClr val="5A6370"/>
                </a:solidFill>
                <a:latin typeface="Calibri"/>
              </a:rPr>
              <a:t>Kerala (Vembanad–Kol) latest analysis run — development model, not final.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Results — Which Patch Matters?</a:t>
            </a:r>
          </a:p>
        </p:txBody>
      </p:sp>
      <p:sp>
        <p:nvSpPr>
          <p:cNvPr id="3" name="TextBox 2"/>
          <p:cNvSpPr txBox="1"/>
          <p:nvPr/>
        </p:nvSpPr>
        <p:spPr>
          <a:xfrm>
            <a:off x="1188720" y="1005840"/>
            <a:ext cx="7589520" cy="365760"/>
          </a:xfrm>
          <a:prstGeom prst="rect">
            <a:avLst/>
          </a:prstGeom>
          <a:noFill/>
        </p:spPr>
        <p:txBody>
          <a:bodyPr wrap="square" lIns="36576" rIns="36576" tIns="18288" bIns="18288" anchor="t">
            <a:spAutoFit/>
          </a:bodyPr>
          <a:lstStyle/>
          <a:p>
            <a:pPr algn="l">
              <a:spcAft>
                <a:spcPts val="400"/>
              </a:spcAft>
            </a:pPr>
            <a:r>
              <a:rPr sz="1600" b="1" i="0">
                <a:solidFill>
                  <a:srgbClr val="0D3889"/>
                </a:solidFill>
                <a:latin typeface="Calibri"/>
              </a:rPr>
              <a:t>Size alone does not tell us which patch is important</a:t>
            </a:r>
          </a:p>
        </p:txBody>
      </p:sp>
      <p:sp>
        <p:nvSpPr>
          <p:cNvPr id="4" name="Rounded Rectangle 3"/>
          <p:cNvSpPr/>
          <p:nvPr/>
        </p:nvSpPr>
        <p:spPr>
          <a:xfrm>
            <a:off x="1188720" y="1463040"/>
            <a:ext cx="2194560" cy="2194560"/>
          </a:xfrm>
          <a:prstGeom prst="roundRect">
            <a:avLst>
              <a:gd name="adj" fmla="val 12000"/>
            </a:avLst>
          </a:prstGeom>
          <a:solidFill>
            <a:srgbClr val="EEF2F8"/>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280160" y="1527048"/>
            <a:ext cx="2011680" cy="365760"/>
          </a:xfrm>
          <a:prstGeom prst="rect">
            <a:avLst/>
          </a:prstGeom>
          <a:noFill/>
        </p:spPr>
        <p:txBody>
          <a:bodyPr wrap="square" lIns="36576" rIns="36576" tIns="18288" bIns="18288" anchor="t">
            <a:spAutoFit/>
          </a:bodyPr>
          <a:lstStyle/>
          <a:p>
            <a:pPr algn="ctr">
              <a:spcAft>
                <a:spcPts val="400"/>
              </a:spcAft>
            </a:pPr>
            <a:r>
              <a:rPr sz="1250" b="1" i="0">
                <a:solidFill>
                  <a:srgbClr val="0D3889"/>
                </a:solidFill>
                <a:latin typeface="Calibri"/>
              </a:rPr>
              <a:t>P01 — largest patch</a:t>
            </a:r>
          </a:p>
        </p:txBody>
      </p:sp>
      <p:sp>
        <p:nvSpPr>
          <p:cNvPr id="6" name="TextBox 5"/>
          <p:cNvSpPr txBox="1"/>
          <p:nvPr/>
        </p:nvSpPr>
        <p:spPr>
          <a:xfrm>
            <a:off x="1280160" y="1938528"/>
            <a:ext cx="2011680" cy="530352"/>
          </a:xfrm>
          <a:prstGeom prst="rect">
            <a:avLst/>
          </a:prstGeom>
          <a:noFill/>
        </p:spPr>
        <p:txBody>
          <a:bodyPr wrap="square" lIns="36576" rIns="36576" tIns="18288" bIns="18288" anchor="t">
            <a:spAutoFit/>
          </a:bodyPr>
          <a:lstStyle/>
          <a:p>
            <a:pPr algn="ctr">
              <a:spcAft>
                <a:spcPts val="0"/>
              </a:spcAft>
            </a:pPr>
            <a:r>
              <a:rPr sz="1600" b="1" i="0">
                <a:solidFill>
                  <a:srgbClr val="0D3889"/>
                </a:solidFill>
                <a:latin typeface="Calibri"/>
              </a:rPr>
              <a:t>35.1 ha</a:t>
            </a:r>
          </a:p>
          <a:p>
            <a:pPr algn="ctr">
              <a:spcAft>
                <a:spcPts val="0"/>
              </a:spcAft>
            </a:pPr>
            <a:r>
              <a:rPr sz="1000" b="0" i="0">
                <a:solidFill>
                  <a:srgbClr val="5A6370"/>
                </a:solidFill>
                <a:latin typeface="Calibri"/>
              </a:rPr>
              <a:t>#1 by size</a:t>
            </a:r>
          </a:p>
        </p:txBody>
      </p:sp>
      <p:sp>
        <p:nvSpPr>
          <p:cNvPr id="7" name="TextBox 6"/>
          <p:cNvSpPr txBox="1"/>
          <p:nvPr/>
        </p:nvSpPr>
        <p:spPr>
          <a:xfrm>
            <a:off x="1280160" y="2487168"/>
            <a:ext cx="2011680" cy="530352"/>
          </a:xfrm>
          <a:prstGeom prst="rect">
            <a:avLst/>
          </a:prstGeom>
          <a:noFill/>
        </p:spPr>
        <p:txBody>
          <a:bodyPr wrap="square" lIns="36576" rIns="36576" tIns="18288" bIns="18288" anchor="t">
            <a:spAutoFit/>
          </a:bodyPr>
          <a:lstStyle/>
          <a:p>
            <a:pPr algn="ctr">
              <a:spcAft>
                <a:spcPts val="0"/>
              </a:spcAft>
            </a:pPr>
            <a:r>
              <a:rPr sz="1600" b="1" i="0">
                <a:solidFill>
                  <a:srgbClr val="0D3889"/>
                </a:solidFill>
                <a:latin typeface="Calibri"/>
              </a:rPr>
              <a:t>−30.7%</a:t>
            </a:r>
          </a:p>
          <a:p>
            <a:pPr algn="ctr">
              <a:spcAft>
                <a:spcPts val="0"/>
              </a:spcAft>
            </a:pPr>
            <a:r>
              <a:rPr sz="1000" b="0" i="0">
                <a:solidFill>
                  <a:srgbClr val="5A6370"/>
                </a:solidFill>
                <a:latin typeface="Calibri"/>
              </a:rPr>
              <a:t>connectivity if removed</a:t>
            </a:r>
          </a:p>
        </p:txBody>
      </p:sp>
      <p:sp>
        <p:nvSpPr>
          <p:cNvPr id="8" name="TextBox 7"/>
          <p:cNvSpPr txBox="1"/>
          <p:nvPr/>
        </p:nvSpPr>
        <p:spPr>
          <a:xfrm>
            <a:off x="1280160" y="3035808"/>
            <a:ext cx="2011680" cy="530352"/>
          </a:xfrm>
          <a:prstGeom prst="rect">
            <a:avLst/>
          </a:prstGeom>
          <a:noFill/>
        </p:spPr>
        <p:txBody>
          <a:bodyPr wrap="square" lIns="36576" rIns="36576" tIns="18288" bIns="18288" anchor="t">
            <a:spAutoFit/>
          </a:bodyPr>
          <a:lstStyle/>
          <a:p>
            <a:pPr algn="ctr">
              <a:spcAft>
                <a:spcPts val="0"/>
              </a:spcAft>
            </a:pPr>
            <a:r>
              <a:rPr sz="1600" b="1" i="0">
                <a:solidFill>
                  <a:srgbClr val="0D3889"/>
                </a:solidFill>
                <a:latin typeface="Calibri"/>
              </a:rPr>
              <a:t>No split</a:t>
            </a:r>
          </a:p>
          <a:p>
            <a:pPr algn="ctr">
              <a:spcAft>
                <a:spcPts val="0"/>
              </a:spcAft>
            </a:pPr>
            <a:r>
              <a:rPr sz="1000" b="0" i="0">
                <a:solidFill>
                  <a:srgbClr val="5A6370"/>
                </a:solidFill>
                <a:latin typeface="Calibri"/>
              </a:rPr>
              <a:t>other routes still connect</a:t>
            </a:r>
          </a:p>
        </p:txBody>
      </p:sp>
      <p:sp>
        <p:nvSpPr>
          <p:cNvPr id="9" name="Rounded Rectangle 8"/>
          <p:cNvSpPr/>
          <p:nvPr/>
        </p:nvSpPr>
        <p:spPr>
          <a:xfrm>
            <a:off x="3520440" y="1463040"/>
            <a:ext cx="2194560" cy="2194560"/>
          </a:xfrm>
          <a:prstGeom prst="roundRect">
            <a:avLst>
              <a:gd name="adj" fmla="val 12000"/>
            </a:avLst>
          </a:prstGeom>
          <a:solidFill>
            <a:srgbClr val="FBEFE6"/>
          </a:solidFill>
          <a:ln w="12700">
            <a:solidFill>
              <a:srgbClr val="D96A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611880" y="1527048"/>
            <a:ext cx="2011680" cy="365760"/>
          </a:xfrm>
          <a:prstGeom prst="rect">
            <a:avLst/>
          </a:prstGeom>
          <a:noFill/>
        </p:spPr>
        <p:txBody>
          <a:bodyPr wrap="square" lIns="36576" rIns="36576" tIns="18288" bIns="18288" anchor="t">
            <a:spAutoFit/>
          </a:bodyPr>
          <a:lstStyle/>
          <a:p>
            <a:pPr algn="ctr">
              <a:spcAft>
                <a:spcPts val="400"/>
              </a:spcAft>
            </a:pPr>
            <a:r>
              <a:rPr sz="1250" b="1" i="0">
                <a:solidFill>
                  <a:srgbClr val="D96A2B"/>
                </a:solidFill>
                <a:latin typeface="Calibri"/>
              </a:rPr>
              <a:t>P17 — small bridge patch</a:t>
            </a:r>
          </a:p>
        </p:txBody>
      </p:sp>
      <p:sp>
        <p:nvSpPr>
          <p:cNvPr id="11" name="TextBox 10"/>
          <p:cNvSpPr txBox="1"/>
          <p:nvPr/>
        </p:nvSpPr>
        <p:spPr>
          <a:xfrm>
            <a:off x="3611880" y="1938528"/>
            <a:ext cx="2011680" cy="530352"/>
          </a:xfrm>
          <a:prstGeom prst="rect">
            <a:avLst/>
          </a:prstGeom>
          <a:noFill/>
        </p:spPr>
        <p:txBody>
          <a:bodyPr wrap="square" lIns="36576" rIns="36576" tIns="18288" bIns="18288" anchor="t">
            <a:spAutoFit/>
          </a:bodyPr>
          <a:lstStyle/>
          <a:p>
            <a:pPr algn="ctr">
              <a:spcAft>
                <a:spcPts val="0"/>
              </a:spcAft>
            </a:pPr>
            <a:r>
              <a:rPr sz="1600" b="1" i="0">
                <a:solidFill>
                  <a:srgbClr val="D96A2B"/>
                </a:solidFill>
                <a:latin typeface="Calibri"/>
              </a:rPr>
              <a:t>3.1 ha</a:t>
            </a:r>
          </a:p>
          <a:p>
            <a:pPr algn="ctr">
              <a:spcAft>
                <a:spcPts val="0"/>
              </a:spcAft>
            </a:pPr>
            <a:r>
              <a:rPr sz="1000" b="0" i="0">
                <a:solidFill>
                  <a:srgbClr val="5A6370"/>
                </a:solidFill>
                <a:latin typeface="Calibri"/>
              </a:rPr>
              <a:t>only #17 by size</a:t>
            </a:r>
          </a:p>
        </p:txBody>
      </p:sp>
      <p:sp>
        <p:nvSpPr>
          <p:cNvPr id="12" name="TextBox 11"/>
          <p:cNvSpPr txBox="1"/>
          <p:nvPr/>
        </p:nvSpPr>
        <p:spPr>
          <a:xfrm>
            <a:off x="3611880" y="2487168"/>
            <a:ext cx="2011680" cy="530352"/>
          </a:xfrm>
          <a:prstGeom prst="rect">
            <a:avLst/>
          </a:prstGeom>
          <a:noFill/>
        </p:spPr>
        <p:txBody>
          <a:bodyPr wrap="square" lIns="36576" rIns="36576" tIns="18288" bIns="18288" anchor="t">
            <a:spAutoFit/>
          </a:bodyPr>
          <a:lstStyle/>
          <a:p>
            <a:pPr algn="ctr">
              <a:spcAft>
                <a:spcPts val="0"/>
              </a:spcAft>
            </a:pPr>
            <a:r>
              <a:rPr sz="1600" b="1" i="0">
                <a:solidFill>
                  <a:srgbClr val="D96A2B"/>
                </a:solidFill>
                <a:latin typeface="Calibri"/>
              </a:rPr>
              <a:t>−27.0%</a:t>
            </a:r>
          </a:p>
          <a:p>
            <a:pPr algn="ctr">
              <a:spcAft>
                <a:spcPts val="0"/>
              </a:spcAft>
            </a:pPr>
            <a:r>
              <a:rPr sz="1000" b="0" i="0">
                <a:solidFill>
                  <a:srgbClr val="5A6370"/>
                </a:solidFill>
                <a:latin typeface="Calibri"/>
              </a:rPr>
              <a:t>connectivity if removed</a:t>
            </a:r>
          </a:p>
        </p:txBody>
      </p:sp>
      <p:sp>
        <p:nvSpPr>
          <p:cNvPr id="13" name="TextBox 12"/>
          <p:cNvSpPr txBox="1"/>
          <p:nvPr/>
        </p:nvSpPr>
        <p:spPr>
          <a:xfrm>
            <a:off x="3611880" y="3035808"/>
            <a:ext cx="2011680" cy="530352"/>
          </a:xfrm>
          <a:prstGeom prst="rect">
            <a:avLst/>
          </a:prstGeom>
          <a:noFill/>
        </p:spPr>
        <p:txBody>
          <a:bodyPr wrap="square" lIns="36576" rIns="36576" tIns="18288" bIns="18288" anchor="t">
            <a:spAutoFit/>
          </a:bodyPr>
          <a:lstStyle/>
          <a:p>
            <a:pPr algn="ctr">
              <a:spcAft>
                <a:spcPts val="0"/>
              </a:spcAft>
            </a:pPr>
            <a:r>
              <a:rPr sz="1600" b="1" i="0">
                <a:solidFill>
                  <a:srgbClr val="D96A2B"/>
                </a:solidFill>
                <a:latin typeface="Calibri"/>
              </a:rPr>
              <a:t>2 → 3 groups</a:t>
            </a:r>
          </a:p>
          <a:p>
            <a:pPr algn="ctr">
              <a:spcAft>
                <a:spcPts val="0"/>
              </a:spcAft>
            </a:pPr>
            <a:r>
              <a:rPr sz="1000" b="0" i="0">
                <a:solidFill>
                  <a:srgbClr val="5A6370"/>
                </a:solidFill>
                <a:latin typeface="Calibri"/>
              </a:rPr>
              <a:t>network breaks apart</a:t>
            </a:r>
          </a:p>
        </p:txBody>
      </p:sp>
      <p:pic>
        <p:nvPicPr>
          <p:cNvPr id="14" name="Picture 13" descr="graph_zoom.png"/>
          <p:cNvPicPr>
            <a:picLocks noChangeAspect="1"/>
          </p:cNvPicPr>
          <p:nvPr/>
        </p:nvPicPr>
        <p:blipFill>
          <a:blip r:embed="rId2"/>
          <a:stretch>
            <a:fillRect/>
          </a:stretch>
        </p:blipFill>
        <p:spPr>
          <a:xfrm>
            <a:off x="6510528" y="1463040"/>
            <a:ext cx="1653871" cy="2194560"/>
          </a:xfrm>
          <a:prstGeom prst="rect">
            <a:avLst/>
          </a:prstGeom>
          <a:ln w="12700">
            <a:solidFill>
              <a:srgbClr val="C9D3E6"/>
            </a:solidFill>
          </a:ln>
        </p:spPr>
      </p:pic>
      <p:sp>
        <p:nvSpPr>
          <p:cNvPr id="15" name="TextBox 14"/>
          <p:cNvSpPr txBox="1"/>
          <p:nvPr/>
        </p:nvSpPr>
        <p:spPr>
          <a:xfrm>
            <a:off x="5897880" y="3675887"/>
            <a:ext cx="2880360" cy="320040"/>
          </a:xfrm>
          <a:prstGeom prst="rect">
            <a:avLst/>
          </a:prstGeom>
          <a:noFill/>
        </p:spPr>
        <p:txBody>
          <a:bodyPr wrap="square" lIns="36576" rIns="36576" tIns="18288" bIns="18288" anchor="t">
            <a:spAutoFit/>
          </a:bodyPr>
          <a:lstStyle/>
          <a:p>
            <a:pPr algn="ctr">
              <a:spcAft>
                <a:spcPts val="400"/>
              </a:spcAft>
            </a:pPr>
            <a:r>
              <a:rPr sz="1000" b="0" i="1">
                <a:solidFill>
                  <a:srgbClr val="5A6370"/>
                </a:solidFill>
                <a:latin typeface="Calibri"/>
              </a:rPr>
              <a:t>P17 and P07 are the only “bridge” patches</a:t>
            </a:r>
          </a:p>
        </p:txBody>
      </p:sp>
      <p:sp>
        <p:nvSpPr>
          <p:cNvPr id="16" name="Rounded Rectangle 15"/>
          <p:cNvSpPr/>
          <p:nvPr/>
        </p:nvSpPr>
        <p:spPr>
          <a:xfrm>
            <a:off x="1188720" y="4114800"/>
            <a:ext cx="7589520" cy="1371600"/>
          </a:xfrm>
          <a:prstGeom prst="roundRect">
            <a:avLst>
              <a:gd name="adj" fmla="val 12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4160520"/>
            <a:ext cx="7315200" cy="1280160"/>
          </a:xfrm>
          <a:prstGeom prst="rect">
            <a:avLst/>
          </a:prstGeom>
          <a:noFill/>
        </p:spPr>
        <p:txBody>
          <a:bodyPr wrap="square" lIns="36576" rIns="36576" tIns="18288" bIns="18288" anchor="t">
            <a:spAutoFit/>
          </a:bodyPr>
          <a:lstStyle/>
          <a:p>
            <a:pPr algn="l">
              <a:spcAft>
                <a:spcPts val="200"/>
              </a:spcAft>
            </a:pPr>
            <a:r>
              <a:rPr sz="1300" b="1" i="0">
                <a:solidFill>
                  <a:srgbClr val="0D3889"/>
                </a:solidFill>
                <a:latin typeface="Calibri"/>
              </a:rPr>
              <a:t>Discussion</a:t>
            </a:r>
          </a:p>
          <a:p>
            <a:pPr algn="l">
              <a:spcAft>
                <a:spcPts val="200"/>
              </a:spcAft>
            </a:pPr>
            <a:r>
              <a:rPr sz="1100" b="0" i="0">
                <a:solidFill>
                  <a:srgbClr val="1A1A1A"/>
                </a:solidFill>
                <a:latin typeface="Calibri"/>
              </a:rPr>
              <a:t>• Two of the top-3 critical patches are small (P07 8.8 ha, P17 3.1 ha) — position in the network matters, not just size.</a:t>
            </a:r>
          </a:p>
          <a:p>
            <a:pPr algn="l">
              <a:spcAft>
                <a:spcPts val="200"/>
              </a:spcAft>
            </a:pPr>
            <a:r>
              <a:rPr sz="1100" b="0" i="0">
                <a:solidFill>
                  <a:srgbClr val="1A1A1A"/>
                </a:solidFill>
                <a:latin typeface="Calibri"/>
              </a:rPr>
              <a:t>• In Odisha, a 55.6 ha patch ranks above a 910 ha patch for the same reason.</a:t>
            </a:r>
          </a:p>
          <a:p>
            <a:pPr algn="l">
              <a:spcAft>
                <a:spcPts val="200"/>
              </a:spcAft>
            </a:pPr>
            <a:r>
              <a:rPr sz="1100" b="0" i="0">
                <a:solidFill>
                  <a:srgbClr val="1A1A1A"/>
                </a:solidFill>
                <a:latin typeface="Calibri"/>
              </a:rPr>
              <a:t>• The ranking stayed stable when the link distance was changed to 3 km or 8 km (correlation ≥ 0.96 in Kerala).</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2800" b="0">
                <a:solidFill>
                  <a:srgbClr val="1A1A1A"/>
                </a:solidFill>
                <a:latin typeface="Calibri"/>
              </a:rPr>
              <a:t>Results — What-if and Restoration</a:t>
            </a:r>
          </a:p>
        </p:txBody>
      </p:sp>
      <p:sp>
        <p:nvSpPr>
          <p:cNvPr id="3" name="Rounded Rectangle 2"/>
          <p:cNvSpPr/>
          <p:nvPr/>
        </p:nvSpPr>
        <p:spPr>
          <a:xfrm>
            <a:off x="1188720" y="1051560"/>
            <a:ext cx="3749039" cy="4434840"/>
          </a:xfrm>
          <a:prstGeom prst="roundRect">
            <a:avLst>
              <a:gd name="adj" fmla="val 12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25880" y="1115568"/>
            <a:ext cx="3566160" cy="411480"/>
          </a:xfrm>
          <a:prstGeom prst="rect">
            <a:avLst/>
          </a:prstGeom>
          <a:noFill/>
        </p:spPr>
        <p:txBody>
          <a:bodyPr wrap="square" lIns="36576" rIns="36576" tIns="18288" bIns="18288" anchor="t">
            <a:spAutoFit/>
          </a:bodyPr>
          <a:lstStyle/>
          <a:p>
            <a:pPr algn="l">
              <a:spcAft>
                <a:spcPts val="400"/>
              </a:spcAft>
            </a:pPr>
            <a:r>
              <a:rPr sz="1450" b="1" i="0">
                <a:solidFill>
                  <a:srgbClr val="0D3889"/>
                </a:solidFill>
                <a:latin typeface="Calibri"/>
              </a:rPr>
              <a:t>What happens if a patch is lost?</a:t>
            </a:r>
          </a:p>
        </p:txBody>
      </p:sp>
      <p:graphicFrame>
        <p:nvGraphicFramePr>
          <p:cNvPr id="5" name="Chart 4"/>
          <p:cNvGraphicFramePr>
            <a:graphicFrameLocks noGrp="1"/>
          </p:cNvGraphicFramePr>
          <p:nvPr/>
        </p:nvGraphicFramePr>
        <p:xfrm>
          <a:off x="1280160" y="1554480"/>
          <a:ext cx="3566160" cy="2834640"/>
        </p:xfrm>
        <a:graphic>
          <a:graphicData uri="http://schemas.openxmlformats.org/drawingml/2006/chart">
            <c:chart xmlns:c="http://schemas.openxmlformats.org/drawingml/2006/chart" r:id="rId2"/>
          </a:graphicData>
        </a:graphic>
      </p:graphicFrame>
      <p:sp>
        <p:nvSpPr>
          <p:cNvPr id="6" name="TextBox 5"/>
          <p:cNvSpPr txBox="1"/>
          <p:nvPr/>
        </p:nvSpPr>
        <p:spPr>
          <a:xfrm>
            <a:off x="1325880" y="4434840"/>
            <a:ext cx="3566160" cy="1005840"/>
          </a:xfrm>
          <a:prstGeom prst="rect">
            <a:avLst/>
          </a:prstGeom>
          <a:noFill/>
        </p:spPr>
        <p:txBody>
          <a:bodyPr wrap="square" lIns="36576" rIns="36576" tIns="18288" bIns="18288" anchor="t">
            <a:spAutoFit/>
          </a:bodyPr>
          <a:lstStyle/>
          <a:p>
            <a:pPr algn="l">
              <a:spcAft>
                <a:spcPts val="100"/>
              </a:spcAft>
            </a:pPr>
            <a:r>
              <a:rPr sz="1100" b="0" i="0">
                <a:solidFill>
                  <a:srgbClr val="1A1A1A"/>
                </a:solidFill>
                <a:latin typeface="Calibri"/>
              </a:rPr>
              <a:t>P17 is tiny but costs almost as much connectivity as the biggest patch.</a:t>
            </a:r>
          </a:p>
          <a:p>
            <a:pPr algn="l">
              <a:spcAft>
                <a:spcPts val="100"/>
              </a:spcAft>
            </a:pPr>
            <a:r>
              <a:rPr sz="1000" b="0" i="1">
                <a:solidFill>
                  <a:srgbClr val="5A6370"/>
                </a:solidFill>
                <a:latin typeface="Calibri"/>
              </a:rPr>
              <a:t>Simulated under project assumptions.</a:t>
            </a:r>
          </a:p>
        </p:txBody>
      </p:sp>
      <p:sp>
        <p:nvSpPr>
          <p:cNvPr id="7" name="Rounded Rectangle 6"/>
          <p:cNvSpPr/>
          <p:nvPr/>
        </p:nvSpPr>
        <p:spPr>
          <a:xfrm>
            <a:off x="5120640" y="1051560"/>
            <a:ext cx="3657600" cy="4434840"/>
          </a:xfrm>
          <a:prstGeom prst="roundRect">
            <a:avLst>
              <a:gd name="adj" fmla="val 12000"/>
            </a:avLst>
          </a:prstGeom>
          <a:solidFill>
            <a:srgbClr val="FFFFFF"/>
          </a:solidFill>
          <a:ln w="12700">
            <a:solidFill>
              <a:srgbClr val="C9D3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257800" y="1115568"/>
            <a:ext cx="3474720" cy="411480"/>
          </a:xfrm>
          <a:prstGeom prst="rect">
            <a:avLst/>
          </a:prstGeom>
          <a:noFill/>
        </p:spPr>
        <p:txBody>
          <a:bodyPr wrap="square" lIns="36576" rIns="36576" tIns="18288" bIns="18288" anchor="t">
            <a:spAutoFit/>
          </a:bodyPr>
          <a:lstStyle/>
          <a:p>
            <a:pPr algn="l">
              <a:spcAft>
                <a:spcPts val="400"/>
              </a:spcAft>
            </a:pPr>
            <a:r>
              <a:rPr sz="1450" b="1" i="0">
                <a:solidFill>
                  <a:srgbClr val="0E9E74"/>
                </a:solidFill>
                <a:latin typeface="Calibri"/>
              </a:rPr>
              <a:t>What happens if we restore an area?</a:t>
            </a:r>
          </a:p>
        </p:txBody>
      </p:sp>
      <p:sp>
        <p:nvSpPr>
          <p:cNvPr id="9" name="Rounded Rectangle 8"/>
          <p:cNvSpPr/>
          <p:nvPr/>
        </p:nvSpPr>
        <p:spPr>
          <a:xfrm>
            <a:off x="5349240" y="1600200"/>
            <a:ext cx="3200400" cy="384048"/>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50" b="1">
                <a:solidFill>
                  <a:srgbClr val="0E9E74"/>
                </a:solidFill>
                <a:latin typeface="Calibri"/>
              </a:rPr>
              <a:t>Candidate C1 (1.6 ha)</a:t>
            </a:r>
          </a:p>
        </p:txBody>
      </p:sp>
      <p:sp>
        <p:nvSpPr>
          <p:cNvPr id="10" name="Down Arrow 9"/>
          <p:cNvSpPr/>
          <p:nvPr/>
        </p:nvSpPr>
        <p:spPr>
          <a:xfrm>
            <a:off x="6839712" y="2002536"/>
            <a:ext cx="201168" cy="128016"/>
          </a:xfrm>
          <a:prstGeom prst="down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5349240" y="2148840"/>
            <a:ext cx="3200400" cy="384048"/>
          </a:xfrm>
          <a:prstGeom prst="roundRect">
            <a:avLst>
              <a:gd name="adj" fmla="val 12000"/>
            </a:avLst>
          </a:prstGeom>
          <a:solidFill>
            <a:srgbClr val="E7F6F1"/>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50" b="1">
                <a:solidFill>
                  <a:srgbClr val="0E9E74"/>
                </a:solidFill>
                <a:latin typeface="Calibri"/>
              </a:rPr>
              <a:t>Added to the network</a:t>
            </a:r>
          </a:p>
        </p:txBody>
      </p:sp>
      <p:sp>
        <p:nvSpPr>
          <p:cNvPr id="12" name="Down Arrow 11"/>
          <p:cNvSpPr/>
          <p:nvPr/>
        </p:nvSpPr>
        <p:spPr>
          <a:xfrm>
            <a:off x="6839712" y="2551176"/>
            <a:ext cx="201168" cy="128016"/>
          </a:xfrm>
          <a:prstGeom prst="downArrow">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5349240" y="2697480"/>
            <a:ext cx="3200400" cy="384048"/>
          </a:xfrm>
          <a:prstGeom prst="roundRect">
            <a:avLst>
              <a:gd name="adj" fmla="val 12000"/>
            </a:avLst>
          </a:prstGeom>
          <a:solidFill>
            <a:srgbClr val="0E9E74"/>
          </a:solidFill>
          <a:ln w="12700">
            <a:solidFill>
              <a:srgbClr val="0E9E74"/>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tIns="18288" bIns="18288"/>
          <a:lstStyle/>
          <a:p>
            <a:pPr algn="ctr"/>
            <a:r>
              <a:rPr sz="1150" b="1">
                <a:solidFill>
                  <a:srgbClr val="FFFFFF"/>
                </a:solidFill>
                <a:latin typeface="Calibri"/>
              </a:rPr>
              <a:t>+1.29% connectivity · 3 new links</a:t>
            </a:r>
          </a:p>
        </p:txBody>
      </p:sp>
      <p:pic>
        <p:nvPicPr>
          <p:cNvPr id="14" name="Picture 13" descr="restoration.png"/>
          <p:cNvPicPr>
            <a:picLocks noChangeAspect="1"/>
          </p:cNvPicPr>
          <p:nvPr/>
        </p:nvPicPr>
        <p:blipFill>
          <a:blip r:embed="rId3"/>
          <a:stretch>
            <a:fillRect/>
          </a:stretch>
        </p:blipFill>
        <p:spPr>
          <a:xfrm>
            <a:off x="5257800" y="3291840"/>
            <a:ext cx="3383280" cy="1353312"/>
          </a:xfrm>
          <a:prstGeom prst="rect">
            <a:avLst/>
          </a:prstGeom>
          <a:ln w="12700">
            <a:solidFill>
              <a:srgbClr val="C9D3E6"/>
            </a:solidFill>
          </a:ln>
        </p:spPr>
      </p:pic>
      <p:sp>
        <p:nvSpPr>
          <p:cNvPr id="15" name="TextBox 14"/>
          <p:cNvSpPr txBox="1"/>
          <p:nvPr/>
        </p:nvSpPr>
        <p:spPr>
          <a:xfrm>
            <a:off x="5257800" y="4663440"/>
            <a:ext cx="3429000" cy="777240"/>
          </a:xfrm>
          <a:prstGeom prst="rect">
            <a:avLst/>
          </a:prstGeom>
          <a:noFill/>
        </p:spPr>
        <p:txBody>
          <a:bodyPr wrap="square" lIns="36576" rIns="36576" tIns="18288" bIns="18288" anchor="t">
            <a:spAutoFit/>
          </a:bodyPr>
          <a:lstStyle/>
          <a:p>
            <a:pPr algn="l">
              <a:spcAft>
                <a:spcPts val="0"/>
              </a:spcAft>
            </a:pPr>
            <a:r>
              <a:rPr sz="1000" b="0" i="0">
                <a:solidFill>
                  <a:srgbClr val="1A1A1A"/>
                </a:solidFill>
                <a:latin typeface="Calibri"/>
              </a:rPr>
              <a:t>Candidates come from model outputs — not field-confirmed.</a:t>
            </a:r>
          </a:p>
          <a:p>
            <a:pPr algn="l">
              <a:spcAft>
                <a:spcPts val="0"/>
              </a:spcAft>
            </a:pPr>
            <a:r>
              <a:rPr sz="1000" b="0" i="1">
                <a:solidFill>
                  <a:srgbClr val="5A6370"/>
                </a:solidFill>
                <a:latin typeface="Calibri"/>
              </a:rPr>
              <a:t>No cost data yet, so ranking is by connectivity gain.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3000" b="0">
                <a:solidFill>
                  <a:srgbClr val="1A1A1A"/>
                </a:solidFill>
                <a:latin typeface="Calibri"/>
              </a:rPr>
              <a:t>Conclusion</a:t>
            </a:r>
          </a:p>
        </p:txBody>
      </p:sp>
      <p:sp>
        <p:nvSpPr>
          <p:cNvPr id="3" name="Rounded Rectangle 2"/>
          <p:cNvSpPr/>
          <p:nvPr/>
        </p:nvSpPr>
        <p:spPr>
          <a:xfrm>
            <a:off x="1188720" y="1097280"/>
            <a:ext cx="7589520" cy="1097280"/>
          </a:xfrm>
          <a:prstGeom prst="roundRect">
            <a:avLst>
              <a:gd name="adj" fmla="val 12000"/>
            </a:avLst>
          </a:prstGeom>
          <a:solidFill>
            <a:srgbClr val="EEF2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371600" y="1161288"/>
            <a:ext cx="7223760" cy="1005840"/>
          </a:xfrm>
          <a:prstGeom prst="rect">
            <a:avLst/>
          </a:prstGeom>
          <a:noFill/>
        </p:spPr>
        <p:txBody>
          <a:bodyPr wrap="square" lIns="36576" rIns="36576" tIns="18288" bIns="18288" anchor="t">
            <a:spAutoFit/>
          </a:bodyPr>
          <a:lstStyle/>
          <a:p>
            <a:pPr algn="l">
              <a:spcAft>
                <a:spcPts val="200"/>
              </a:spcAft>
            </a:pPr>
            <a:r>
              <a:rPr sz="1400" b="1" i="0">
                <a:solidFill>
                  <a:srgbClr val="0D3889"/>
                </a:solidFill>
                <a:latin typeface="Calibri"/>
              </a:rPr>
              <a:t>Summary</a:t>
            </a:r>
          </a:p>
          <a:p>
            <a:pPr algn="l">
              <a:spcAft>
                <a:spcPts val="200"/>
              </a:spcAft>
            </a:pPr>
            <a:r>
              <a:rPr sz="1200" b="0" i="0">
                <a:solidFill>
                  <a:srgbClr val="1A1A1A"/>
                </a:solidFill>
                <a:latin typeface="Calibri"/>
              </a:rPr>
              <a:t>EcoConnectAI combines satellite radar images, AI mangrove detection, a network of habitat patches and what-if analysis to help decide which coastal habitat to protect or restore first.</a:t>
            </a:r>
          </a:p>
        </p:txBody>
      </p:sp>
      <p:sp>
        <p:nvSpPr>
          <p:cNvPr id="5" name="Rounded Rectangle 4"/>
          <p:cNvSpPr/>
          <p:nvPr/>
        </p:nvSpPr>
        <p:spPr>
          <a:xfrm>
            <a:off x="1188720" y="2377440"/>
            <a:ext cx="3703320" cy="2423160"/>
          </a:xfrm>
          <a:prstGeom prst="roundRect">
            <a:avLst>
              <a:gd name="adj" fmla="val 12000"/>
            </a:avLst>
          </a:prstGeom>
          <a:solidFill>
            <a:srgbClr val="E7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325880" y="2441448"/>
            <a:ext cx="3474720" cy="365760"/>
          </a:xfrm>
          <a:prstGeom prst="rect">
            <a:avLst/>
          </a:prstGeom>
          <a:noFill/>
        </p:spPr>
        <p:txBody>
          <a:bodyPr wrap="square" lIns="36576" rIns="36576" tIns="18288" bIns="18288" anchor="t">
            <a:spAutoFit/>
          </a:bodyPr>
          <a:lstStyle/>
          <a:p>
            <a:pPr algn="l">
              <a:spcAft>
                <a:spcPts val="400"/>
              </a:spcAft>
            </a:pPr>
            <a:r>
              <a:rPr sz="1400" b="1" i="0">
                <a:solidFill>
                  <a:srgbClr val="0E9E74"/>
                </a:solidFill>
                <a:latin typeface="Calibri"/>
              </a:rPr>
              <a:t>Key findings</a:t>
            </a:r>
          </a:p>
        </p:txBody>
      </p:sp>
      <p:sp>
        <p:nvSpPr>
          <p:cNvPr id="7" name="Oval 6"/>
          <p:cNvSpPr/>
          <p:nvPr/>
        </p:nvSpPr>
        <p:spPr>
          <a:xfrm>
            <a:off x="1325880" y="2944368"/>
            <a:ext cx="82296" cy="82296"/>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490472" y="2852928"/>
            <a:ext cx="3310127" cy="59436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Working end-to-end system on real data for 4 coastal areas</a:t>
            </a:r>
          </a:p>
        </p:txBody>
      </p:sp>
      <p:sp>
        <p:nvSpPr>
          <p:cNvPr id="9" name="Oval 8"/>
          <p:cNvSpPr/>
          <p:nvPr/>
        </p:nvSpPr>
        <p:spPr>
          <a:xfrm>
            <a:off x="1325880" y="3566160"/>
            <a:ext cx="82296" cy="82296"/>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490472" y="3474720"/>
            <a:ext cx="3310127" cy="59436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Development model: IoU 0.842 vs reference labels</a:t>
            </a:r>
          </a:p>
        </p:txBody>
      </p:sp>
      <p:sp>
        <p:nvSpPr>
          <p:cNvPr id="11" name="Oval 10"/>
          <p:cNvSpPr/>
          <p:nvPr/>
        </p:nvSpPr>
        <p:spPr>
          <a:xfrm>
            <a:off x="1325880" y="4187952"/>
            <a:ext cx="82296" cy="82296"/>
          </a:xfrm>
          <a:prstGeom prst="ellipse">
            <a:avLst/>
          </a:prstGeom>
          <a:solidFill>
            <a:srgbClr val="0E9E7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490472" y="4096512"/>
            <a:ext cx="3310127" cy="59436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Small patches can be critical: P17 (3.1 ha) → −27% connectivity</a:t>
            </a:r>
          </a:p>
        </p:txBody>
      </p:sp>
      <p:sp>
        <p:nvSpPr>
          <p:cNvPr id="13" name="Rounded Rectangle 12"/>
          <p:cNvSpPr/>
          <p:nvPr/>
        </p:nvSpPr>
        <p:spPr>
          <a:xfrm>
            <a:off x="5074920" y="2377440"/>
            <a:ext cx="3703320" cy="2423160"/>
          </a:xfrm>
          <a:prstGeom prst="roundRect">
            <a:avLst>
              <a:gd name="adj" fmla="val 12000"/>
            </a:avLst>
          </a:prstGeom>
          <a:solidFill>
            <a:srgbClr val="FBEF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212080" y="2441448"/>
            <a:ext cx="3474720" cy="365760"/>
          </a:xfrm>
          <a:prstGeom prst="rect">
            <a:avLst/>
          </a:prstGeom>
          <a:noFill/>
        </p:spPr>
        <p:txBody>
          <a:bodyPr wrap="square" lIns="36576" rIns="36576" tIns="18288" bIns="18288" anchor="t">
            <a:spAutoFit/>
          </a:bodyPr>
          <a:lstStyle/>
          <a:p>
            <a:pPr algn="l">
              <a:spcAft>
                <a:spcPts val="400"/>
              </a:spcAft>
            </a:pPr>
            <a:r>
              <a:rPr sz="1400" b="1" i="0">
                <a:solidFill>
                  <a:srgbClr val="D96A2B"/>
                </a:solidFill>
                <a:latin typeface="Calibri"/>
              </a:rPr>
              <a:t>Future scope</a:t>
            </a:r>
          </a:p>
        </p:txBody>
      </p:sp>
      <p:sp>
        <p:nvSpPr>
          <p:cNvPr id="15" name="Oval 14"/>
          <p:cNvSpPr/>
          <p:nvPr/>
        </p:nvSpPr>
        <p:spPr>
          <a:xfrm>
            <a:off x="5212080" y="2944368"/>
            <a:ext cx="82296" cy="82296"/>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376672" y="2852928"/>
            <a:ext cx="3310127" cy="45720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Train the full UNB7 model on a GPU</a:t>
            </a:r>
          </a:p>
        </p:txBody>
      </p:sp>
      <p:sp>
        <p:nvSpPr>
          <p:cNvPr id="17" name="Oval 16"/>
          <p:cNvSpPr/>
          <p:nvPr/>
        </p:nvSpPr>
        <p:spPr>
          <a:xfrm>
            <a:off x="5212080" y="3401568"/>
            <a:ext cx="82296" cy="82296"/>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376672" y="3310128"/>
            <a:ext cx="3310127" cy="45720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Field validation of results</a:t>
            </a:r>
          </a:p>
        </p:txBody>
      </p:sp>
      <p:sp>
        <p:nvSpPr>
          <p:cNvPr id="19" name="Oval 18"/>
          <p:cNvSpPr/>
          <p:nvPr/>
        </p:nvSpPr>
        <p:spPr>
          <a:xfrm>
            <a:off x="5212080" y="3858768"/>
            <a:ext cx="82296" cy="82296"/>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376672" y="3767328"/>
            <a:ext cx="3310127" cy="45720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Real restoration cost data</a:t>
            </a:r>
          </a:p>
        </p:txBody>
      </p:sp>
      <p:sp>
        <p:nvSpPr>
          <p:cNvPr id="21" name="Oval 20"/>
          <p:cNvSpPr/>
          <p:nvPr/>
        </p:nvSpPr>
        <p:spPr>
          <a:xfrm>
            <a:off x="5212080" y="4315968"/>
            <a:ext cx="82296" cy="82296"/>
          </a:xfrm>
          <a:prstGeom prst="ellipse">
            <a:avLst/>
          </a:prstGeom>
          <a:solidFill>
            <a:srgbClr val="D96A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76672" y="4224528"/>
            <a:ext cx="3310127" cy="457200"/>
          </a:xfrm>
          <a:prstGeom prst="rect">
            <a:avLst/>
          </a:prstGeom>
          <a:noFill/>
        </p:spPr>
        <p:txBody>
          <a:bodyPr wrap="square" lIns="36576" rIns="36576" tIns="18288" bIns="18288" anchor="t">
            <a:spAutoFit/>
          </a:bodyPr>
          <a:lstStyle/>
          <a:p>
            <a:pPr algn="l">
              <a:spcAft>
                <a:spcPts val="400"/>
              </a:spcAft>
            </a:pPr>
            <a:r>
              <a:rPr sz="1150" b="0" i="0">
                <a:solidFill>
                  <a:srgbClr val="1A1A1A"/>
                </a:solidFill>
                <a:latin typeface="Calibri"/>
              </a:rPr>
              <a:t>Larger-scale deployment for forest departments</a:t>
            </a:r>
          </a:p>
        </p:txBody>
      </p:sp>
      <p:sp>
        <p:nvSpPr>
          <p:cNvPr id="23" name="Rounded Rectangle 22"/>
          <p:cNvSpPr/>
          <p:nvPr/>
        </p:nvSpPr>
        <p:spPr>
          <a:xfrm>
            <a:off x="1188720" y="5029200"/>
            <a:ext cx="7589520" cy="457200"/>
          </a:xfrm>
          <a:prstGeom prst="roundRect">
            <a:avLst>
              <a:gd name="adj" fmla="val 18000"/>
            </a:avLst>
          </a:prstGeom>
          <a:solidFill>
            <a:srgbClr val="0D388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400" b="1" i="1">
                <a:solidFill>
                  <a:srgbClr val="FFD54A"/>
                </a:solidFill>
                <a:latin typeface="Calibri"/>
              </a:rPr>
              <a:t>From mapping habitat to understanding which habitat matters.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3000" b="0">
                <a:solidFill>
                  <a:srgbClr val="1A1A1A"/>
                </a:solidFill>
                <a:latin typeface="Calibri"/>
              </a:rPr>
              <a:t>Co-guide Meeting Proof</a:t>
            </a:r>
          </a:p>
        </p:txBody>
      </p:sp>
      <p:sp>
        <p:nvSpPr>
          <p:cNvPr id="3" name="TextBox 2"/>
          <p:cNvSpPr txBox="1"/>
          <p:nvPr/>
        </p:nvSpPr>
        <p:spPr>
          <a:xfrm>
            <a:off x="1188720" y="1005840"/>
            <a:ext cx="7589520" cy="365760"/>
          </a:xfrm>
          <a:prstGeom prst="rect">
            <a:avLst/>
          </a:prstGeom>
          <a:noFill/>
        </p:spPr>
        <p:txBody>
          <a:bodyPr wrap="square" lIns="36576" rIns="36576" tIns="18288" bIns="18288" anchor="t">
            <a:spAutoFit/>
          </a:bodyPr>
          <a:lstStyle/>
          <a:p>
            <a:pPr algn="l">
              <a:spcAft>
                <a:spcPts val="400"/>
              </a:spcAft>
            </a:pPr>
            <a:r>
              <a:rPr sz="1250" b="1" i="0">
                <a:solidFill>
                  <a:srgbClr val="0D3889"/>
                </a:solidFill>
                <a:latin typeface="Calibri"/>
              </a:rPr>
              <a:t>Co-guide: [Name, Designation]   ·   Guide: Dr. Anusha Preetham (Associate Professor)</a:t>
            </a:r>
          </a:p>
        </p:txBody>
      </p:sp>
      <p:graphicFrame>
        <p:nvGraphicFramePr>
          <p:cNvPr id="4" name="Table 3"/>
          <p:cNvGraphicFramePr>
            <a:graphicFrameLocks noGrp="1"/>
          </p:cNvGraphicFramePr>
          <p:nvPr/>
        </p:nvGraphicFramePr>
        <p:xfrm>
          <a:off x="1188720" y="1417320"/>
          <a:ext cx="7589520" cy="1600200"/>
        </p:xfrm>
        <a:graphic>
          <a:graphicData uri="http://schemas.openxmlformats.org/drawingml/2006/table">
            <a:tbl>
              <a:tblPr firstRow="1" bandRow="0">
                <a:tableStyleId>{5C22544A-7EE6-4342-B048-85BDC9FD1C3A}</a:tableStyleId>
              </a:tblPr>
              <a:tblGrid>
                <a:gridCol w="1463040"/>
                <a:gridCol w="4480560"/>
                <a:gridCol w="1645920"/>
              </a:tblGrid>
              <a:tr h="365760">
                <a:tc>
                  <a:txBody>
                    <a:bodyPr wrap="square"/>
                    <a:lstStyle/>
                    <a:p>
                      <a:r>
                        <a:rPr sz="1150" b="1" i="0">
                          <a:solidFill>
                            <a:srgbClr val="FFFFFF"/>
                          </a:solidFill>
                          <a:latin typeface="Calibri"/>
                        </a:rPr>
                        <a:t>Date</a:t>
                      </a:r>
                    </a:p>
                  </a:txBody>
                  <a:tcPr marL="64008" marR="64008" marT="45720" marB="45720">
                    <a:solidFill>
                      <a:srgbClr val="0D3889"/>
                    </a:solidFill>
                  </a:tcPr>
                </a:tc>
                <a:tc>
                  <a:txBody>
                    <a:bodyPr wrap="square"/>
                    <a:lstStyle/>
                    <a:p>
                      <a:r>
                        <a:rPr sz="1150" b="1" i="0">
                          <a:solidFill>
                            <a:srgbClr val="FFFFFF"/>
                          </a:solidFill>
                          <a:latin typeface="Calibri"/>
                        </a:rPr>
                        <a:t>Discussion</a:t>
                      </a:r>
                    </a:p>
                  </a:txBody>
                  <a:tcPr marL="64008" marR="64008" marT="45720" marB="45720">
                    <a:solidFill>
                      <a:srgbClr val="0D3889"/>
                    </a:solidFill>
                  </a:tcPr>
                </a:tc>
                <a:tc>
                  <a:txBody>
                    <a:bodyPr wrap="square"/>
                    <a:lstStyle/>
                    <a:p>
                      <a:r>
                        <a:rPr sz="1150" b="1" i="0">
                          <a:solidFill>
                            <a:srgbClr val="FFFFFF"/>
                          </a:solidFill>
                          <a:latin typeface="Calibri"/>
                        </a:rPr>
                        <a:t>Signature</a:t>
                      </a:r>
                    </a:p>
                  </a:txBody>
                  <a:tcPr marL="64008" marR="64008" marT="45720" marB="45720">
                    <a:solidFill>
                      <a:srgbClr val="0D3889"/>
                    </a:solidFill>
                  </a:tcPr>
                </a:tc>
              </a:tr>
              <a:tr h="411480">
                <a:tc>
                  <a:txBody>
                    <a:bodyPr wrap="square"/>
                    <a:lstStyle/>
                    <a:p>
                      <a:r>
                        <a:rPr sz="1100" b="0" i="0">
                          <a:solidFill>
                            <a:srgbClr val="1A1A1A"/>
                          </a:solidFill>
                          <a:latin typeface="Calibri"/>
                        </a:rPr>
                        <a:t>[dd-mm-2026]</a:t>
                      </a:r>
                    </a:p>
                  </a:txBody>
                  <a:tcPr marL="64008" marR="64008" marT="45720" marB="45720">
                    <a:solidFill>
                      <a:srgbClr val="EEF2F8"/>
                    </a:solidFill>
                  </a:tcPr>
                </a:tc>
                <a:tc>
                  <a:txBody>
                    <a:bodyPr wrap="square"/>
                    <a:lstStyle/>
                    <a:p>
                      <a:r>
                        <a:rPr sz="1100" b="0" i="0">
                          <a:solidFill>
                            <a:srgbClr val="1A1A1A"/>
                          </a:solidFill>
                          <a:latin typeface="Calibri"/>
                        </a:rPr>
                        <a:t>[Topic discussed / feedback received]</a:t>
                      </a:r>
                    </a:p>
                  </a:txBody>
                  <a:tcPr marL="64008" marR="64008" marT="45720" marB="45720">
                    <a:solidFill>
                      <a:srgbClr val="EEF2F8"/>
                    </a:solidFill>
                  </a:tcPr>
                </a:tc>
                <a:tc>
                  <a:txBody>
                    <a:bodyPr wrap="square"/>
                    <a:lstStyle/>
                    <a:p>
                      <a:r>
                        <a:rPr sz="1100" b="0" i="0">
                          <a:solidFill>
                            <a:srgbClr val="1A1A1A"/>
                          </a:solidFill>
                          <a:latin typeface="Calibri"/>
                        </a:rPr>
                        <a:t/>
                      </a:r>
                    </a:p>
                  </a:txBody>
                  <a:tcPr marL="64008" marR="64008" marT="45720" marB="45720">
                    <a:solidFill>
                      <a:srgbClr val="EEF2F8"/>
                    </a:solidFill>
                  </a:tcPr>
                </a:tc>
              </a:tr>
              <a:tr h="411480">
                <a:tc>
                  <a:txBody>
                    <a:bodyPr wrap="square"/>
                    <a:lstStyle/>
                    <a:p>
                      <a:r>
                        <a:rPr sz="1100" b="0" i="0">
                          <a:solidFill>
                            <a:srgbClr val="1A1A1A"/>
                          </a:solidFill>
                          <a:latin typeface="Calibri"/>
                        </a:rPr>
                        <a:t>[dd-mm-2026]</a:t>
                      </a:r>
                    </a:p>
                  </a:txBody>
                  <a:tcPr marL="64008" marR="64008" marT="45720" marB="45720">
                    <a:solidFill>
                      <a:srgbClr val="FFFFFF"/>
                    </a:solidFill>
                  </a:tcPr>
                </a:tc>
                <a:tc>
                  <a:txBody>
                    <a:bodyPr wrap="square"/>
                    <a:lstStyle/>
                    <a:p>
                      <a:r>
                        <a:rPr sz="1100" b="0" i="0">
                          <a:solidFill>
                            <a:srgbClr val="1A1A1A"/>
                          </a:solidFill>
                          <a:latin typeface="Calibri"/>
                        </a:rPr>
                        <a:t>[Topic discussed / feedback received]</a:t>
                      </a:r>
                    </a:p>
                  </a:txBody>
                  <a:tcPr marL="64008" marR="64008" marT="45720" marB="45720">
                    <a:solidFill>
                      <a:srgbClr val="FFFFFF"/>
                    </a:solidFill>
                  </a:tcPr>
                </a:tc>
                <a:tc>
                  <a:txBody>
                    <a:bodyPr wrap="square"/>
                    <a:lstStyle/>
                    <a:p>
                      <a:r>
                        <a:rPr sz="1100" b="0" i="0">
                          <a:solidFill>
                            <a:srgbClr val="1A1A1A"/>
                          </a:solidFill>
                          <a:latin typeface="Calibri"/>
                        </a:rPr>
                        <a:t/>
                      </a:r>
                    </a:p>
                  </a:txBody>
                  <a:tcPr marL="64008" marR="64008" marT="45720" marB="45720">
                    <a:solidFill>
                      <a:srgbClr val="FFFFFF"/>
                    </a:solidFill>
                  </a:tcPr>
                </a:tc>
              </a:tr>
              <a:tr h="411480">
                <a:tc>
                  <a:txBody>
                    <a:bodyPr wrap="square"/>
                    <a:lstStyle/>
                    <a:p>
                      <a:r>
                        <a:rPr sz="1100" b="0" i="0">
                          <a:solidFill>
                            <a:srgbClr val="1A1A1A"/>
                          </a:solidFill>
                          <a:latin typeface="Calibri"/>
                        </a:rPr>
                        <a:t>[dd-mm-2026]</a:t>
                      </a:r>
                    </a:p>
                  </a:txBody>
                  <a:tcPr marL="64008" marR="64008" marT="45720" marB="45720">
                    <a:solidFill>
                      <a:srgbClr val="EEF2F8"/>
                    </a:solidFill>
                  </a:tcPr>
                </a:tc>
                <a:tc>
                  <a:txBody>
                    <a:bodyPr wrap="square"/>
                    <a:lstStyle/>
                    <a:p>
                      <a:r>
                        <a:rPr sz="1100" b="0" i="0">
                          <a:solidFill>
                            <a:srgbClr val="1A1A1A"/>
                          </a:solidFill>
                          <a:latin typeface="Calibri"/>
                        </a:rPr>
                        <a:t>[Topic discussed / feedback received]</a:t>
                      </a:r>
                    </a:p>
                  </a:txBody>
                  <a:tcPr marL="64008" marR="64008" marT="45720" marB="45720">
                    <a:solidFill>
                      <a:srgbClr val="EEF2F8"/>
                    </a:solidFill>
                  </a:tcPr>
                </a:tc>
                <a:tc>
                  <a:txBody>
                    <a:bodyPr wrap="square"/>
                    <a:lstStyle/>
                    <a:p>
                      <a:r>
                        <a:rPr sz="1100" b="0" i="0">
                          <a:solidFill>
                            <a:srgbClr val="1A1A1A"/>
                          </a:solidFill>
                          <a:latin typeface="Calibri"/>
                        </a:rPr>
                        <a:t/>
                      </a:r>
                    </a:p>
                  </a:txBody>
                  <a:tcPr marL="64008" marR="64008" marT="45720" marB="45720">
                    <a:solidFill>
                      <a:srgbClr val="EEF2F8"/>
                    </a:solidFill>
                  </a:tcPr>
                </a:tc>
              </a:tr>
            </a:tbl>
          </a:graphicData>
        </a:graphic>
      </p:graphicFrame>
      <p:sp>
        <p:nvSpPr>
          <p:cNvPr id="5" name="Rounded Rectangle 4"/>
          <p:cNvSpPr/>
          <p:nvPr/>
        </p:nvSpPr>
        <p:spPr>
          <a:xfrm>
            <a:off x="1188720" y="3291840"/>
            <a:ext cx="3703320" cy="2148840"/>
          </a:xfrm>
          <a:prstGeom prst="roundRect">
            <a:avLst>
              <a:gd name="adj" fmla="val 12000"/>
            </a:avLst>
          </a:prstGeom>
          <a:noFill/>
          <a:ln w="12700">
            <a:solidFill>
              <a:srgbClr val="5A63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1188720" y="4069080"/>
            <a:ext cx="3703320" cy="548640"/>
          </a:xfrm>
          <a:prstGeom prst="rect">
            <a:avLst/>
          </a:prstGeom>
          <a:noFill/>
        </p:spPr>
        <p:txBody>
          <a:bodyPr wrap="square" lIns="36576" rIns="36576" tIns="18288" bIns="18288" anchor="t">
            <a:spAutoFit/>
          </a:bodyPr>
          <a:lstStyle/>
          <a:p>
            <a:pPr algn="ctr">
              <a:spcAft>
                <a:spcPts val="400"/>
              </a:spcAft>
            </a:pPr>
            <a:r>
              <a:rPr sz="1200" b="0" i="1">
                <a:solidFill>
                  <a:srgbClr val="5A6370"/>
                </a:solidFill>
                <a:latin typeface="Calibri"/>
              </a:rPr>
              <a:t>Insert meeting photo / screenshot here</a:t>
            </a:r>
          </a:p>
        </p:txBody>
      </p:sp>
      <p:sp>
        <p:nvSpPr>
          <p:cNvPr id="7" name="Rounded Rectangle 6"/>
          <p:cNvSpPr/>
          <p:nvPr/>
        </p:nvSpPr>
        <p:spPr>
          <a:xfrm>
            <a:off x="5074920" y="3291840"/>
            <a:ext cx="3703320" cy="2148840"/>
          </a:xfrm>
          <a:prstGeom prst="roundRect">
            <a:avLst>
              <a:gd name="adj" fmla="val 12000"/>
            </a:avLst>
          </a:prstGeom>
          <a:noFill/>
          <a:ln w="12700">
            <a:solidFill>
              <a:srgbClr val="5A6370"/>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74920" y="4069080"/>
            <a:ext cx="3703320" cy="548640"/>
          </a:xfrm>
          <a:prstGeom prst="rect">
            <a:avLst/>
          </a:prstGeom>
          <a:noFill/>
        </p:spPr>
        <p:txBody>
          <a:bodyPr wrap="square" lIns="36576" rIns="36576" tIns="18288" bIns="18288" anchor="t">
            <a:spAutoFit/>
          </a:bodyPr>
          <a:lstStyle/>
          <a:p>
            <a:pPr algn="ctr">
              <a:spcAft>
                <a:spcPts val="400"/>
              </a:spcAft>
            </a:pPr>
            <a:r>
              <a:rPr sz="1200" b="0" i="1">
                <a:solidFill>
                  <a:srgbClr val="5A6370"/>
                </a:solidFill>
                <a:latin typeface="Calibri"/>
              </a:rPr>
              <a:t>Insert meeting photo / screenshot here</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3000" b="0">
                <a:solidFill>
                  <a:srgbClr val="1A1A1A"/>
                </a:solidFill>
                <a:latin typeface="Calibri"/>
              </a:rPr>
              <a:t>SDG Goal</a:t>
            </a:r>
          </a:p>
        </p:txBody>
      </p:sp>
      <p:sp>
        <p:nvSpPr>
          <p:cNvPr id="3" name="TextBox 2"/>
          <p:cNvSpPr txBox="1"/>
          <p:nvPr/>
        </p:nvSpPr>
        <p:spPr>
          <a:xfrm>
            <a:off x="1188720" y="1005840"/>
            <a:ext cx="7589520" cy="365760"/>
          </a:xfrm>
          <a:prstGeom prst="rect">
            <a:avLst/>
          </a:prstGeom>
          <a:noFill/>
        </p:spPr>
        <p:txBody>
          <a:bodyPr wrap="square" lIns="36576" rIns="36576" tIns="18288" bIns="18288" anchor="t">
            <a:spAutoFit/>
          </a:bodyPr>
          <a:lstStyle/>
          <a:p>
            <a:pPr algn="l">
              <a:spcAft>
                <a:spcPts val="400"/>
              </a:spcAft>
            </a:pPr>
            <a:r>
              <a:rPr sz="1300" b="0" i="1">
                <a:solidFill>
                  <a:srgbClr val="5A6370"/>
                </a:solidFill>
                <a:latin typeface="Calibri"/>
              </a:rPr>
              <a:t>EcoConnectAI maps to three of the 17 UN Sustainable Development Goals</a:t>
            </a:r>
          </a:p>
        </p:txBody>
      </p:sp>
      <p:sp>
        <p:nvSpPr>
          <p:cNvPr id="4" name="Rounded Rectangle 3"/>
          <p:cNvSpPr/>
          <p:nvPr/>
        </p:nvSpPr>
        <p:spPr>
          <a:xfrm>
            <a:off x="1188720" y="1508760"/>
            <a:ext cx="2395728" cy="3611880"/>
          </a:xfrm>
          <a:prstGeom prst="roundRect">
            <a:avLst>
              <a:gd name="adj" fmla="val 12000"/>
            </a:avLst>
          </a:prstGeom>
          <a:solidFill>
            <a:srgbClr val="FFFFFF"/>
          </a:solidFill>
          <a:ln w="25400">
            <a:solidFill>
              <a:srgbClr val="0A97D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746504" y="1691640"/>
            <a:ext cx="1280160" cy="1280160"/>
          </a:xfrm>
          <a:prstGeom prst="roundRect">
            <a:avLst>
              <a:gd name="adj" fmla="val 10000"/>
            </a:avLst>
          </a:prstGeom>
          <a:solidFill>
            <a:srgbClr val="0A97D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libri"/>
              </a:rPr>
              <a:t>14</a:t>
            </a:r>
          </a:p>
        </p:txBody>
      </p:sp>
      <p:sp>
        <p:nvSpPr>
          <p:cNvPr id="6" name="TextBox 5"/>
          <p:cNvSpPr txBox="1"/>
          <p:nvPr/>
        </p:nvSpPr>
        <p:spPr>
          <a:xfrm>
            <a:off x="1280160" y="3063240"/>
            <a:ext cx="2212848" cy="411480"/>
          </a:xfrm>
          <a:prstGeom prst="rect">
            <a:avLst/>
          </a:prstGeom>
          <a:noFill/>
        </p:spPr>
        <p:txBody>
          <a:bodyPr wrap="square" lIns="36576" rIns="36576" tIns="18288" bIns="18288" anchor="t">
            <a:spAutoFit/>
          </a:bodyPr>
          <a:lstStyle/>
          <a:p>
            <a:pPr algn="ctr">
              <a:spcAft>
                <a:spcPts val="400"/>
              </a:spcAft>
            </a:pPr>
            <a:r>
              <a:rPr sz="1350" b="1" i="0">
                <a:solidFill>
                  <a:srgbClr val="0A97D9"/>
                </a:solidFill>
                <a:latin typeface="Calibri"/>
              </a:rPr>
              <a:t>SDG 14: Life Below Water</a:t>
            </a:r>
          </a:p>
        </p:txBody>
      </p:sp>
      <p:sp>
        <p:nvSpPr>
          <p:cNvPr id="7" name="TextBox 6"/>
          <p:cNvSpPr txBox="1"/>
          <p:nvPr/>
        </p:nvSpPr>
        <p:spPr>
          <a:xfrm>
            <a:off x="1325880" y="3520440"/>
            <a:ext cx="2121408" cy="1554480"/>
          </a:xfrm>
          <a:prstGeom prst="rect">
            <a:avLst/>
          </a:prstGeom>
          <a:noFill/>
        </p:spPr>
        <p:txBody>
          <a:bodyPr wrap="square" lIns="36576" rIns="36576" tIns="18288" bIns="18288" anchor="t">
            <a:spAutoFit/>
          </a:bodyPr>
          <a:lstStyle/>
          <a:p>
            <a:pPr algn="ctr">
              <a:spcAft>
                <a:spcPts val="400"/>
              </a:spcAft>
            </a:pPr>
            <a:r>
              <a:rPr sz="1100" b="0" i="0">
                <a:solidFill>
                  <a:srgbClr val="1A1A1A"/>
                </a:solidFill>
                <a:latin typeface="Calibri"/>
              </a:rPr>
              <a:t>Mangroves are nurseries for fish and protect coastal marine life. We help find and protect the most important patches.</a:t>
            </a:r>
          </a:p>
        </p:txBody>
      </p:sp>
      <p:sp>
        <p:nvSpPr>
          <p:cNvPr id="8" name="Rounded Rectangle 7"/>
          <p:cNvSpPr/>
          <p:nvPr/>
        </p:nvSpPr>
        <p:spPr>
          <a:xfrm>
            <a:off x="3785615" y="1508760"/>
            <a:ext cx="2395728" cy="3611880"/>
          </a:xfrm>
          <a:prstGeom prst="roundRect">
            <a:avLst>
              <a:gd name="adj" fmla="val 12000"/>
            </a:avLst>
          </a:prstGeom>
          <a:solidFill>
            <a:srgbClr val="FFFFFF"/>
          </a:solidFill>
          <a:ln w="25400">
            <a:solidFill>
              <a:srgbClr val="3F7E4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4343400" y="1691640"/>
            <a:ext cx="1280160" cy="1280160"/>
          </a:xfrm>
          <a:prstGeom prst="roundRect">
            <a:avLst>
              <a:gd name="adj" fmla="val 10000"/>
            </a:avLst>
          </a:prstGeom>
          <a:solidFill>
            <a:srgbClr val="3F7E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libri"/>
              </a:rPr>
              <a:t>13</a:t>
            </a:r>
          </a:p>
        </p:txBody>
      </p:sp>
      <p:sp>
        <p:nvSpPr>
          <p:cNvPr id="10" name="TextBox 9"/>
          <p:cNvSpPr txBox="1"/>
          <p:nvPr/>
        </p:nvSpPr>
        <p:spPr>
          <a:xfrm>
            <a:off x="3877055" y="3063240"/>
            <a:ext cx="2212848" cy="411480"/>
          </a:xfrm>
          <a:prstGeom prst="rect">
            <a:avLst/>
          </a:prstGeom>
          <a:noFill/>
        </p:spPr>
        <p:txBody>
          <a:bodyPr wrap="square" lIns="36576" rIns="36576" tIns="18288" bIns="18288" anchor="t">
            <a:spAutoFit/>
          </a:bodyPr>
          <a:lstStyle/>
          <a:p>
            <a:pPr algn="ctr">
              <a:spcAft>
                <a:spcPts val="400"/>
              </a:spcAft>
            </a:pPr>
            <a:r>
              <a:rPr sz="1350" b="1" i="0">
                <a:solidFill>
                  <a:srgbClr val="3F7E44"/>
                </a:solidFill>
                <a:latin typeface="Calibri"/>
              </a:rPr>
              <a:t>SDG 13: Climate Action</a:t>
            </a:r>
          </a:p>
        </p:txBody>
      </p:sp>
      <p:sp>
        <p:nvSpPr>
          <p:cNvPr id="11" name="TextBox 10"/>
          <p:cNvSpPr txBox="1"/>
          <p:nvPr/>
        </p:nvSpPr>
        <p:spPr>
          <a:xfrm>
            <a:off x="3922776" y="3520440"/>
            <a:ext cx="2121408" cy="1554480"/>
          </a:xfrm>
          <a:prstGeom prst="rect">
            <a:avLst/>
          </a:prstGeom>
          <a:noFill/>
        </p:spPr>
        <p:txBody>
          <a:bodyPr wrap="square" lIns="36576" rIns="36576" tIns="18288" bIns="18288" anchor="t">
            <a:spAutoFit/>
          </a:bodyPr>
          <a:lstStyle/>
          <a:p>
            <a:pPr algn="ctr">
              <a:spcAft>
                <a:spcPts val="400"/>
              </a:spcAft>
            </a:pPr>
            <a:r>
              <a:rPr sz="1100" b="0" i="0">
                <a:solidFill>
                  <a:srgbClr val="1A1A1A"/>
                </a:solidFill>
                <a:latin typeface="Calibri"/>
              </a:rPr>
              <a:t>Mangroves store carbon and shield coasts from storms. Keeping them connected keeps these services working.</a:t>
            </a:r>
          </a:p>
        </p:txBody>
      </p:sp>
      <p:sp>
        <p:nvSpPr>
          <p:cNvPr id="12" name="Rounded Rectangle 11"/>
          <p:cNvSpPr/>
          <p:nvPr/>
        </p:nvSpPr>
        <p:spPr>
          <a:xfrm>
            <a:off x="6382512" y="1508760"/>
            <a:ext cx="2395728" cy="3611880"/>
          </a:xfrm>
          <a:prstGeom prst="roundRect">
            <a:avLst>
              <a:gd name="adj" fmla="val 12000"/>
            </a:avLst>
          </a:prstGeom>
          <a:solidFill>
            <a:srgbClr val="FFFFFF"/>
          </a:solidFill>
          <a:ln w="25400">
            <a:solidFill>
              <a:srgbClr val="56C0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6940296" y="1691640"/>
            <a:ext cx="1280160" cy="1280160"/>
          </a:xfrm>
          <a:prstGeom prst="roundRect">
            <a:avLst>
              <a:gd name="adj" fmla="val 10000"/>
            </a:avLst>
          </a:prstGeom>
          <a:solidFill>
            <a:srgbClr val="56C0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4000" b="1">
                <a:solidFill>
                  <a:srgbClr val="FFFFFF"/>
                </a:solidFill>
                <a:latin typeface="Calibri"/>
              </a:rPr>
              <a:t>15</a:t>
            </a:r>
          </a:p>
        </p:txBody>
      </p:sp>
      <p:sp>
        <p:nvSpPr>
          <p:cNvPr id="14" name="TextBox 13"/>
          <p:cNvSpPr txBox="1"/>
          <p:nvPr/>
        </p:nvSpPr>
        <p:spPr>
          <a:xfrm>
            <a:off x="6473951" y="3063240"/>
            <a:ext cx="2212848" cy="411480"/>
          </a:xfrm>
          <a:prstGeom prst="rect">
            <a:avLst/>
          </a:prstGeom>
          <a:noFill/>
        </p:spPr>
        <p:txBody>
          <a:bodyPr wrap="square" lIns="36576" rIns="36576" tIns="18288" bIns="18288" anchor="t">
            <a:spAutoFit/>
          </a:bodyPr>
          <a:lstStyle/>
          <a:p>
            <a:pPr algn="ctr">
              <a:spcAft>
                <a:spcPts val="400"/>
              </a:spcAft>
            </a:pPr>
            <a:r>
              <a:rPr sz="1350" b="1" i="0">
                <a:solidFill>
                  <a:srgbClr val="56C02B"/>
                </a:solidFill>
                <a:latin typeface="Calibri"/>
              </a:rPr>
              <a:t>SDG 15: Life on Land</a:t>
            </a:r>
          </a:p>
        </p:txBody>
      </p:sp>
      <p:sp>
        <p:nvSpPr>
          <p:cNvPr id="15" name="TextBox 14"/>
          <p:cNvSpPr txBox="1"/>
          <p:nvPr/>
        </p:nvSpPr>
        <p:spPr>
          <a:xfrm>
            <a:off x="6519672" y="3520440"/>
            <a:ext cx="2121408" cy="1554480"/>
          </a:xfrm>
          <a:prstGeom prst="rect">
            <a:avLst/>
          </a:prstGeom>
          <a:noFill/>
        </p:spPr>
        <p:txBody>
          <a:bodyPr wrap="square" lIns="36576" rIns="36576" tIns="18288" bIns="18288" anchor="t">
            <a:spAutoFit/>
          </a:bodyPr>
          <a:lstStyle/>
          <a:p>
            <a:pPr algn="ctr">
              <a:spcAft>
                <a:spcPts val="400"/>
              </a:spcAft>
            </a:pPr>
            <a:r>
              <a:rPr sz="1100" b="0" i="0">
                <a:solidFill>
                  <a:srgbClr val="1A1A1A"/>
                </a:solidFill>
                <a:latin typeface="Calibri"/>
              </a:rPr>
              <a:t>Stopping habitat fragmentation and guiding restoration of degraded ecosystems.</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201168"/>
            <a:ext cx="7863840" cy="822960"/>
          </a:xfrm>
        </p:spPr>
        <p:txBody>
          <a:bodyPr anchor="ctr"/>
          <a:lstStyle/>
          <a:p>
            <a:pPr algn="ctr"/>
            <a:r>
              <a:rPr sz="3000" b="0">
                <a:solidFill>
                  <a:srgbClr val="1A1A1A"/>
                </a:solidFill>
                <a:latin typeface="Calibri"/>
              </a:rPr>
              <a:t>References</a:t>
            </a:r>
          </a:p>
        </p:txBody>
      </p:sp>
      <p:sp>
        <p:nvSpPr>
          <p:cNvPr id="3" name="TextBox 2"/>
          <p:cNvSpPr txBox="1"/>
          <p:nvPr/>
        </p:nvSpPr>
        <p:spPr>
          <a:xfrm>
            <a:off x="1188720" y="1005840"/>
            <a:ext cx="7635240" cy="4572000"/>
          </a:xfrm>
          <a:prstGeom prst="rect">
            <a:avLst/>
          </a:prstGeom>
          <a:noFill/>
        </p:spPr>
        <p:txBody>
          <a:bodyPr wrap="square" lIns="36576" rIns="36576" tIns="18288" bIns="18288" anchor="t">
            <a:spAutoFit/>
          </a:bodyPr>
          <a:lstStyle/>
          <a:p>
            <a:pPr algn="l">
              <a:spcAft>
                <a:spcPts val="250"/>
              </a:spcAft>
            </a:pPr>
            <a:r>
              <a:rPr sz="950" b="1" i="0">
                <a:solidFill>
                  <a:srgbClr val="0D3889"/>
                </a:solidFill>
                <a:latin typeface="Calibri"/>
              </a:rPr>
              <a:t>[1]  </a:t>
            </a:r>
            <a:r>
              <a:rPr sz="950" b="0" i="0">
                <a:solidFill>
                  <a:srgbClr val="1A1A1A"/>
                </a:solidFill>
                <a:latin typeface="Calibri"/>
              </a:rPr>
              <a:t>A. Ghorbanian, A. Ghorbanian, S. A. Ahmadi, A. Mohammadzadeh, and A. Naboureh, “Weakly supervised semantic segmentation of mangrove ecosystem using Sentinel-1 SAR and deep convolutional neural networks,” IEEE J. Sel. Topics Appl. Earth Observ. Remote Sens., vol. 18, pp. 17497–17512, 2025.</a:t>
            </a:r>
          </a:p>
          <a:p>
            <a:pPr algn="l">
              <a:spcAft>
                <a:spcPts val="250"/>
              </a:spcAft>
            </a:pPr>
            <a:r>
              <a:rPr sz="950" b="1" i="0">
                <a:solidFill>
                  <a:srgbClr val="0D3889"/>
                </a:solidFill>
                <a:latin typeface="Calibri"/>
              </a:rPr>
              <a:t>[2]  </a:t>
            </a:r>
            <a:r>
              <a:rPr sz="950" b="0" i="0">
                <a:solidFill>
                  <a:srgbClr val="1A1A1A"/>
                </a:solidFill>
                <a:latin typeface="Calibri"/>
              </a:rPr>
              <a:t>P. Bunting et al., “The Global Mangrove Watch — a new 2010 global baseline of mangrove extent,” Remote Sensing, vol. 10, no. 10, p. 1669, 2018.</a:t>
            </a:r>
          </a:p>
          <a:p>
            <a:pPr algn="l">
              <a:spcAft>
                <a:spcPts val="250"/>
              </a:spcAft>
            </a:pPr>
            <a:r>
              <a:rPr sz="950" b="1" i="0">
                <a:solidFill>
                  <a:srgbClr val="0D3889"/>
                </a:solidFill>
                <a:latin typeface="Calibri"/>
              </a:rPr>
              <a:t>[3]  </a:t>
            </a:r>
            <a:r>
              <a:rPr sz="950" b="0" i="0">
                <a:solidFill>
                  <a:srgbClr val="1A1A1A"/>
                </a:solidFill>
                <a:latin typeface="Calibri"/>
              </a:rPr>
              <a:t>O. Ronneberger, P. Fischer, and T. Brox, “U-Net: Convolutional networks for biomedical image segmentation,” in Proc. MICCAI, 2015, pp. 234–241.</a:t>
            </a:r>
          </a:p>
          <a:p>
            <a:pPr algn="l">
              <a:spcAft>
                <a:spcPts val="250"/>
              </a:spcAft>
            </a:pPr>
            <a:r>
              <a:rPr sz="950" b="1" i="0">
                <a:solidFill>
                  <a:srgbClr val="0D3889"/>
                </a:solidFill>
                <a:latin typeface="Calibri"/>
              </a:rPr>
              <a:t>[4]  </a:t>
            </a:r>
            <a:r>
              <a:rPr sz="950" b="0" i="0">
                <a:solidFill>
                  <a:srgbClr val="1A1A1A"/>
                </a:solidFill>
                <a:latin typeface="Calibri"/>
              </a:rPr>
              <a:t>M. Tan and Q. Le, “EfficientNet: Rethinking model scaling for convolutional neural networks,” in Proc. ICML, 2019, pp. 6105–6114.</a:t>
            </a:r>
          </a:p>
          <a:p>
            <a:pPr algn="l">
              <a:spcAft>
                <a:spcPts val="250"/>
              </a:spcAft>
            </a:pPr>
            <a:r>
              <a:rPr sz="950" b="1" i="0">
                <a:solidFill>
                  <a:srgbClr val="0D3889"/>
                </a:solidFill>
                <a:latin typeface="Calibri"/>
              </a:rPr>
              <a:t>[5]  </a:t>
            </a:r>
            <a:r>
              <a:rPr sz="950" b="0" i="0">
                <a:solidFill>
                  <a:srgbClr val="1A1A1A"/>
                </a:solidFill>
                <a:latin typeface="Calibri"/>
              </a:rPr>
              <a:t>Z. Liu et al., “Swin transformer: Hierarchical vision transformer using shifted windows,” in Proc. IEEE/CVF ICCV, 2021, pp. 10012–10022.</a:t>
            </a:r>
          </a:p>
          <a:p>
            <a:pPr algn="l">
              <a:spcAft>
                <a:spcPts val="250"/>
              </a:spcAft>
            </a:pPr>
            <a:r>
              <a:rPr sz="950" b="1" i="0">
                <a:solidFill>
                  <a:srgbClr val="0D3889"/>
                </a:solidFill>
                <a:latin typeface="Calibri"/>
              </a:rPr>
              <a:t>[6]  </a:t>
            </a:r>
            <a:r>
              <a:rPr sz="950" b="0" i="0">
                <a:solidFill>
                  <a:srgbClr val="1A1A1A"/>
                </a:solidFill>
                <a:latin typeface="Calibri"/>
              </a:rPr>
              <a:t>C. Yu et al., “Deep learning-based change detection in remote sensing: A comprehensive review,” IEEE J. Sel. Topics Appl. Earth Observ. Remote Sens., vol. 18, pp. 24415–24437, 2025.</a:t>
            </a:r>
          </a:p>
          <a:p>
            <a:pPr algn="l">
              <a:spcAft>
                <a:spcPts val="250"/>
              </a:spcAft>
            </a:pPr>
            <a:r>
              <a:rPr sz="950" b="1" i="0">
                <a:solidFill>
                  <a:srgbClr val="0D3889"/>
                </a:solidFill>
                <a:latin typeface="Calibri"/>
              </a:rPr>
              <a:t>[7]  </a:t>
            </a:r>
            <a:r>
              <a:rPr sz="950" b="0" i="0">
                <a:solidFill>
                  <a:srgbClr val="1A1A1A"/>
                </a:solidFill>
                <a:latin typeface="Calibri"/>
              </a:rPr>
              <a:t>D. Urban and T. Keitt, “Landscape connectivity: A graph-theoretic perspective,” Ecology, vol. 82, no. 5, pp. 1205–1218, 2001.</a:t>
            </a:r>
          </a:p>
          <a:p>
            <a:pPr algn="l">
              <a:spcAft>
                <a:spcPts val="250"/>
              </a:spcAft>
            </a:pPr>
            <a:r>
              <a:rPr sz="950" b="1" i="0">
                <a:solidFill>
                  <a:srgbClr val="0D3889"/>
                </a:solidFill>
                <a:latin typeface="Calibri"/>
              </a:rPr>
              <a:t>[8]  </a:t>
            </a:r>
            <a:r>
              <a:rPr sz="950" b="0" i="0">
                <a:solidFill>
                  <a:srgbClr val="1A1A1A"/>
                </a:solidFill>
                <a:latin typeface="Calibri"/>
              </a:rPr>
              <a:t>B. H. McRae, B. G. Dickson, T. H. Keitt, and V. B. Shah, “Using circuit theory to model connectivity in ecology, evolution, and conservation,” Ecology, vol. 89, no. 10, pp. 2712–2724, 2008.</a:t>
            </a:r>
          </a:p>
          <a:p>
            <a:pPr algn="l">
              <a:spcAft>
                <a:spcPts val="250"/>
              </a:spcAft>
            </a:pPr>
            <a:r>
              <a:rPr sz="950" b="1" i="0">
                <a:solidFill>
                  <a:srgbClr val="0D3889"/>
                </a:solidFill>
                <a:latin typeface="Calibri"/>
              </a:rPr>
              <a:t>[9]  </a:t>
            </a:r>
            <a:r>
              <a:rPr sz="950" b="0" i="0">
                <a:solidFill>
                  <a:srgbClr val="1A1A1A"/>
                </a:solidFill>
                <a:latin typeface="Calibri"/>
              </a:rPr>
              <a:t>L. Pascual-Hortal and S. Saura, “Comparison and development of new graph-based landscape connectivity indices,” Landscape Ecology, vol. 21, no. 7, pp. 959–967, 2006.</a:t>
            </a:r>
          </a:p>
          <a:p>
            <a:pPr algn="l">
              <a:spcAft>
                <a:spcPts val="250"/>
              </a:spcAft>
            </a:pPr>
            <a:r>
              <a:rPr sz="950" b="1" i="0">
                <a:solidFill>
                  <a:srgbClr val="0D3889"/>
                </a:solidFill>
                <a:latin typeface="Calibri"/>
              </a:rPr>
              <a:t>[10]  </a:t>
            </a:r>
            <a:r>
              <a:rPr sz="950" b="0" i="0">
                <a:solidFill>
                  <a:srgbClr val="1A1A1A"/>
                </a:solidFill>
                <a:latin typeface="Calibri"/>
              </a:rPr>
              <a:t>S. Saura and L. Pascual-Hortal, “A new habitat availability index to integrate connectivity in landscape conservation planning,” Landscape and Urban Planning, vol. 83, no. 2–3, pp. 91–103, 2007.</a:t>
            </a:r>
          </a:p>
          <a:p>
            <a:pPr algn="l">
              <a:spcAft>
                <a:spcPts val="250"/>
              </a:spcAft>
            </a:pPr>
            <a:r>
              <a:rPr sz="950" b="1" i="0">
                <a:solidFill>
                  <a:srgbClr val="0D3889"/>
                </a:solidFill>
                <a:latin typeface="Calibri"/>
              </a:rPr>
              <a:t>[11]  </a:t>
            </a:r>
            <a:r>
              <a:rPr sz="950" b="0" i="0">
                <a:solidFill>
                  <a:srgbClr val="1A1A1A"/>
                </a:solidFill>
                <a:latin typeface="Calibri"/>
              </a:rPr>
              <a:t>M. Liu et al., “Hybrid spatiotemporal graph convolutional network for detecting landscape pattern evolution from long-term remote sensing images,” IEEE Trans. Geosci. Remote Sens., vol. 60, pp. 1–16, 2022.</a:t>
            </a:r>
          </a:p>
          <a:p>
            <a:pPr algn="l">
              <a:spcAft>
                <a:spcPts val="250"/>
              </a:spcAft>
            </a:pPr>
            <a:r>
              <a:rPr sz="950" b="1" i="0">
                <a:solidFill>
                  <a:srgbClr val="0D3889"/>
                </a:solidFill>
                <a:latin typeface="Calibri"/>
              </a:rPr>
              <a:t>[12]  </a:t>
            </a:r>
            <a:r>
              <a:rPr sz="950" b="0" i="0">
                <a:solidFill>
                  <a:srgbClr val="1A1A1A"/>
                </a:solidFill>
                <a:latin typeface="Calibri"/>
              </a:rPr>
              <a:t>T. Liu and F. Liu, “Graph neural networks for evaluating the reliability and resilience of infrastructure systems: A systematic review,” IEEE Access, vol. 13, pp. 164883–164904, 2025.</a:t>
            </a:r>
          </a:p>
          <a:p>
            <a:pPr algn="l">
              <a:spcAft>
                <a:spcPts val="250"/>
              </a:spcAft>
            </a:pPr>
            <a:r>
              <a:rPr sz="950" b="1" i="0">
                <a:solidFill>
                  <a:srgbClr val="0D3889"/>
                </a:solidFill>
                <a:latin typeface="Calibri"/>
              </a:rPr>
              <a:t>[13]  </a:t>
            </a:r>
            <a:r>
              <a:rPr sz="950" b="0" i="0">
                <a:solidFill>
                  <a:srgbClr val="1A1A1A"/>
                </a:solidFill>
                <a:latin typeface="Calibri"/>
              </a:rPr>
              <a:t>Y. Naceur, S. Bouzidi, and M. Zaouali, “U-Net for remote sensing: A spectral index-based approach with explainable AI for robust change detection,” IEEE Trans. Geosci. Remote Sens., vol. 63, pp. 1–7, 2025.</a:t>
            </a:r>
          </a:p>
          <a:p>
            <a:pPr algn="l">
              <a:spcAft>
                <a:spcPts val="250"/>
              </a:spcAft>
            </a:pPr>
            <a:r>
              <a:rPr sz="950" b="1" i="0">
                <a:solidFill>
                  <a:srgbClr val="0D3889"/>
                </a:solidFill>
                <a:latin typeface="Calibri"/>
              </a:rPr>
              <a:t>[14]  </a:t>
            </a:r>
            <a:r>
              <a:rPr sz="950" b="0" i="0">
                <a:solidFill>
                  <a:srgbClr val="1A1A1A"/>
                </a:solidFill>
                <a:latin typeface="Calibri"/>
              </a:rPr>
              <a:t>J. Klotz, T. Burgert, and B. Demir, “On the effectiveness of methods and metrics for explainable AI in remote sensing image scene classification,” IEEE J. Sel. Topics Appl. Earth Observ. Remote Sens., vol. 18, pp. 27764–27780, 2025.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51560" y="1737360"/>
            <a:ext cx="7863840" cy="1097280"/>
          </a:xfrm>
        </p:spPr>
        <p:txBody>
          <a:bodyPr anchor="ctr"/>
          <a:lstStyle/>
          <a:p>
            <a:pPr algn="ctr"/>
            <a:r>
              <a:rPr sz="4800" b="0">
                <a:solidFill>
                  <a:srgbClr val="1A1A1A"/>
                </a:solidFill>
                <a:latin typeface="Calibri"/>
              </a:rPr>
              <a:t>Thank You</a:t>
            </a:r>
          </a:p>
        </p:txBody>
      </p:sp>
      <p:sp>
        <p:nvSpPr>
          <p:cNvPr id="3" name="TextBox 2"/>
          <p:cNvSpPr txBox="1"/>
          <p:nvPr/>
        </p:nvSpPr>
        <p:spPr>
          <a:xfrm>
            <a:off x="1188720" y="2880360"/>
            <a:ext cx="7589520" cy="548640"/>
          </a:xfrm>
          <a:prstGeom prst="rect">
            <a:avLst/>
          </a:prstGeom>
          <a:noFill/>
        </p:spPr>
        <p:txBody>
          <a:bodyPr wrap="square" lIns="36576" rIns="36576" tIns="18288" bIns="18288" anchor="t">
            <a:spAutoFit/>
          </a:bodyPr>
          <a:lstStyle/>
          <a:p>
            <a:pPr algn="ctr">
              <a:spcAft>
                <a:spcPts val="400"/>
              </a:spcAft>
            </a:pPr>
            <a:r>
              <a:rPr sz="2600" b="0" i="0">
                <a:solidFill>
                  <a:srgbClr val="0D3889"/>
                </a:solidFill>
                <a:latin typeface="Calibri"/>
              </a:rPr>
              <a:t>Queries?</a:t>
            </a:r>
          </a:p>
        </p:txBody>
      </p:sp>
      <p:sp>
        <p:nvSpPr>
          <p:cNvPr id="4" name="TextBox 3"/>
          <p:cNvSpPr txBox="1"/>
          <p:nvPr/>
        </p:nvSpPr>
        <p:spPr>
          <a:xfrm>
            <a:off x="1188720" y="3657600"/>
            <a:ext cx="7589520" cy="822960"/>
          </a:xfrm>
          <a:prstGeom prst="rect">
            <a:avLst/>
          </a:prstGeom>
          <a:noFill/>
        </p:spPr>
        <p:txBody>
          <a:bodyPr wrap="square" lIns="36576" rIns="36576" tIns="18288" bIns="18288" anchor="t">
            <a:spAutoFit/>
          </a:bodyPr>
          <a:lstStyle/>
          <a:p>
            <a:pPr algn="ctr">
              <a:spcAft>
                <a:spcPts val="200"/>
              </a:spcAft>
            </a:pPr>
            <a:r>
              <a:rPr sz="1500" b="1" i="0">
                <a:solidFill>
                  <a:srgbClr val="0D3889"/>
                </a:solidFill>
                <a:latin typeface="Calibri"/>
              </a:rPr>
              <a:t>EcoConnectAI</a:t>
            </a:r>
          </a:p>
          <a:p>
            <a:pPr algn="ctr">
              <a:spcAft>
                <a:spcPts val="200"/>
              </a:spcAft>
            </a:pPr>
            <a:r>
              <a:rPr sz="1200" b="0" i="0">
                <a:solidFill>
                  <a:srgbClr val="5A6370"/>
                </a:solidFill>
                <a:latin typeface="Calibri"/>
              </a:rPr>
              <a:t>Kuldeep Raj (1DS23CS112)  ·  Ruhinaaz (1DS23CS187)</a:t>
            </a:r>
          </a:p>
        </p:txBody>
      </p:sp>
    </p:spTree>
  </p:cSld>
  <p:clrMapOvr>
    <a:masterClrMapping/>
  </p:clrMapOvr>
</p:sld>
</file>

<file path=ppt/slides/slide9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342900" y="1097280"/>
            <a:ext cx="8435340" cy="411480"/>
          </a:xfrm>
          <a:prstGeom prst="rect">
            <a:avLst/>
          </a:prstGeom>
          <a:noFill/>
          <a:ln/>
        </p:spPr>
        <p:txBody>
          <a:bodyPr wrap="square" lIns="0" tIns="0" rIns="0" bIns="0" rtlCol="0" anchor="ctr"/>
          <a:lstStyle/>
          <a:p>
            <a:r>
              <a:rPr lang="en-US" sz="2250" b="1" dirty="0">
                <a:solidFill>
                  <a:srgbClr val="1E2761"/>
                </a:solidFill>
                <a:latin typeface="Cambria" pitchFamily="34" charset="0"/>
                <a:ea typeface="Cambria" pitchFamily="34" charset="-122"/>
                <a:cs typeface="Cambria" pitchFamily="34" charset="-120"/>
              </a:rPr>
              <a:t>Project Stakeholders &amp; Existing Application Gap</a:t>
            </a:r>
            <a:endParaRPr lang="en-US" sz="2250" dirty="0"/>
          </a:p>
        </p:txBody>
      </p:sp>
      <p:sp>
        <p:nvSpPr>
          <p:cNvPr id="3" name="Text 1"/>
          <p:cNvSpPr txBox="1"/>
          <p:nvPr/>
        </p:nvSpPr>
        <p:spPr>
          <a:xfrm>
            <a:off x="342900" y="1488186"/>
            <a:ext cx="8435340" cy="240030"/>
          </a:xfrm>
          <a:prstGeom prst="rect">
            <a:avLst/>
          </a:prstGeom>
          <a:noFill/>
          <a:ln/>
        </p:spPr>
        <p:txBody>
          <a:bodyPr wrap="square" lIns="0" tIns="0" rIns="0" bIns="0" rtlCol="0" anchor="ctr"/>
          <a:lstStyle/>
          <a:p>
            <a:endParaRPr lang="en-US" sz="900" dirty="0"/>
          </a:p>
        </p:txBody>
      </p:sp>
      <p:sp>
        <p:nvSpPr>
          <p:cNvPr id="4" name="Shape 2"/>
          <p:cNvSpPr/>
          <p:nvPr/>
        </p:nvSpPr>
        <p:spPr>
          <a:xfrm>
            <a:off x="342900" y="1748790"/>
            <a:ext cx="4080510" cy="1611630"/>
          </a:xfrm>
          <a:prstGeom prst="roundRect">
            <a:avLst>
              <a:gd name="adj" fmla="val 3404"/>
            </a:avLst>
          </a:prstGeom>
          <a:solidFill>
            <a:srgbClr val="F5F7FC"/>
          </a:solidFill>
          <a:ln/>
          <a:effectLst>
            <a:outerShdw blurRad="76200" dist="25400" dir="5400000" algn="bl" rotWithShape="0">
              <a:srgbClr val="1E2761">
                <a:alpha val="12000"/>
              </a:srgbClr>
            </a:outerShdw>
          </a:effectLst>
        </p:spPr>
        <p:txBody>
          <a:bodyPr/>
          <a:lstStyle/>
          <a:p>
            <a:endParaRPr lang="en-US" sz="1350"/>
          </a:p>
        </p:txBody>
      </p:sp>
      <p:sp>
        <p:nvSpPr>
          <p:cNvPr id="5" name="Shape 3"/>
          <p:cNvSpPr/>
          <p:nvPr/>
        </p:nvSpPr>
        <p:spPr>
          <a:xfrm>
            <a:off x="514350" y="1920240"/>
            <a:ext cx="342900" cy="342900"/>
          </a:xfrm>
          <a:prstGeom prst="ellipse">
            <a:avLst/>
          </a:prstGeom>
          <a:solidFill>
            <a:srgbClr val="1E2761"/>
          </a:solidFill>
          <a:ln/>
        </p:spPr>
        <p:txBody>
          <a:bodyPr/>
          <a:lstStyle/>
          <a:p>
            <a:endParaRPr lang="en-US" sz="1350"/>
          </a:p>
        </p:txBody>
      </p:sp>
      <p:sp>
        <p:nvSpPr>
          <p:cNvPr id="6" name="Text 4"/>
          <p:cNvSpPr txBox="1"/>
          <p:nvPr/>
        </p:nvSpPr>
        <p:spPr>
          <a:xfrm>
            <a:off x="514350" y="1920240"/>
            <a:ext cx="342900" cy="342900"/>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C</a:t>
            </a:r>
            <a:endParaRPr lang="en-US" sz="1350" dirty="0"/>
          </a:p>
        </p:txBody>
      </p:sp>
      <p:sp>
        <p:nvSpPr>
          <p:cNvPr id="7" name="Text 5"/>
          <p:cNvSpPr txBox="1"/>
          <p:nvPr/>
        </p:nvSpPr>
        <p:spPr>
          <a:xfrm>
            <a:off x="960120" y="1899666"/>
            <a:ext cx="3326130" cy="240030"/>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CLIENT</a:t>
            </a:r>
            <a:endParaRPr lang="en-US" sz="1200" dirty="0"/>
          </a:p>
        </p:txBody>
      </p:sp>
      <p:sp>
        <p:nvSpPr>
          <p:cNvPr id="8" name="Text 6"/>
          <p:cNvSpPr txBox="1"/>
          <p:nvPr/>
        </p:nvSpPr>
        <p:spPr>
          <a:xfrm>
            <a:off x="960120" y="2125980"/>
            <a:ext cx="3326130" cy="205740"/>
          </a:xfrm>
          <a:prstGeom prst="rect">
            <a:avLst/>
          </a:prstGeom>
          <a:noFill/>
          <a:ln/>
        </p:spPr>
        <p:txBody>
          <a:bodyPr wrap="square" lIns="0" tIns="0" rIns="0" bIns="0" rtlCol="0" anchor="ctr"/>
          <a:lstStyle/>
          <a:p>
            <a:r>
              <a:rPr lang="en-US" sz="788" i="1" dirty="0">
                <a:solidFill>
                  <a:srgbClr val="5B6B9E"/>
                </a:solidFill>
                <a:latin typeface="Calibri" pitchFamily="34" charset="0"/>
                <a:ea typeface="Calibri" pitchFamily="34" charset="-122"/>
                <a:cs typeface="Calibri" pitchFamily="34" charset="-120"/>
              </a:rPr>
              <a:t>Who requested, sponsors, or provides the problem statement</a:t>
            </a:r>
            <a:endParaRPr lang="en-US" sz="788" dirty="0"/>
          </a:p>
        </p:txBody>
      </p:sp>
      <p:sp>
        <p:nvSpPr>
          <p:cNvPr id="9" name="Shape 7"/>
          <p:cNvSpPr/>
          <p:nvPr/>
        </p:nvSpPr>
        <p:spPr>
          <a:xfrm>
            <a:off x="548640" y="2379726"/>
            <a:ext cx="3669030" cy="0"/>
          </a:xfrm>
          <a:prstGeom prst="line">
            <a:avLst/>
          </a:prstGeom>
          <a:noFill/>
          <a:ln w="12700">
            <a:solidFill>
              <a:srgbClr val="CADCFC"/>
            </a:solidFill>
            <a:prstDash val="solid"/>
          </a:ln>
        </p:spPr>
        <p:txBody>
          <a:bodyPr/>
          <a:lstStyle/>
          <a:p>
            <a:endParaRPr lang="en-US" sz="1350"/>
          </a:p>
        </p:txBody>
      </p:sp>
      <p:sp>
        <p:nvSpPr>
          <p:cNvPr id="10" name="Text 8"/>
          <p:cNvSpPr txBox="1"/>
          <p:nvPr/>
        </p:nvSpPr>
        <p:spPr>
          <a:xfrm>
            <a:off x="548640" y="2434590"/>
            <a:ext cx="3669030" cy="822960"/>
          </a:xfrm>
          <a:prstGeom prst="rect">
            <a:avLst/>
          </a:prstGeom>
          <a:noFill/>
          <a:ln/>
        </p:spPr>
        <p:txBody>
          <a:bodyPr wrap="square" lIns="0" tIns="0" rIns="0" bIns="0" rtlCol="0" anchor="t"/>
          <a:lstStyle/>
          <a:p>
            <a:pPr marL="133350" indent="-133350">
              <a:lnSpc>
                <a:spcPct val="130000"/>
              </a:lnSpc>
              <a:buSzPct val="100000"/>
              <a:buChar char="•"/>
            </a:pPr>
            <a:r>
              <a:rPr lang="en-US" sz="1000" b="1" dirty="0">
                <a:solidFill>
                  <a:srgbClr val="1E2761"/>
                </a:solidFill>
                <a:latin typeface="Calibri" pitchFamily="34" charset="0"/>
                <a:ea typeface="Calibri" pitchFamily="34" charset="-122"/>
                <a:cs typeface="Calibri" pitchFamily="34" charset="-120"/>
              </a:rPr>
              <a:t>Problem source:</a:t>
            </a:r>
            <a:r>
              <a:rPr lang="en-US" sz="1000" dirty="0">
                <a:solidFill>
                  <a:srgbClr val="333333"/>
                </a:solidFill>
                <a:latin typeface="Calibri" pitchFamily="34" charset="0"/>
                <a:ea typeface="Calibri" pitchFamily="34" charset="-122"/>
                <a:cs typeface="Calibri" pitchFamily="34" charset="-120"/>
              </a:rPr>
              <a:t> research gap found in the foundation paper</a:t>
            </a:r>
            <a:endParaRPr lang="en-US" sz="900" dirty="0"/>
          </a:p>
          <a:p>
            <a:pPr marL="133350" indent="-133350">
              <a:lnSpc>
                <a:spcPct val="130000"/>
              </a:lnSpc>
              <a:buSzPct val="100000"/>
              <a:buChar char="•"/>
            </a:pPr>
            <a:r>
              <a:rPr lang="en-US" sz="1000" b="1" dirty="0">
                <a:solidFill>
                  <a:srgbClr val="1E2761"/>
                </a:solidFill>
                <a:latin typeface="Calibri" pitchFamily="34" charset="0"/>
                <a:ea typeface="Calibri" pitchFamily="34" charset="-122"/>
                <a:cs typeface="Calibri" pitchFamily="34" charset="-120"/>
              </a:rPr>
              <a:t>Intended client:</a:t>
            </a:r>
            <a:r>
              <a:rPr lang="en-US" sz="1000" dirty="0">
                <a:solidFill>
                  <a:srgbClr val="333333"/>
                </a:solidFill>
                <a:latin typeface="Calibri" pitchFamily="34" charset="0"/>
                <a:ea typeface="Calibri" pitchFamily="34" charset="-122"/>
                <a:cs typeface="Calibri" pitchFamily="34" charset="-120"/>
              </a:rPr>
              <a:t> coastal forest &amp; wetland departments</a:t>
            </a:r>
            <a:endParaRPr lang="en-US" sz="900" dirty="0"/>
          </a:p>
        </p:txBody>
      </p:sp>
      <p:sp>
        <p:nvSpPr>
          <p:cNvPr id="11" name="Shape 9"/>
          <p:cNvSpPr/>
          <p:nvPr/>
        </p:nvSpPr>
        <p:spPr>
          <a:xfrm>
            <a:off x="4697730" y="1748790"/>
            <a:ext cx="4080510" cy="1611630"/>
          </a:xfrm>
          <a:prstGeom prst="roundRect">
            <a:avLst>
              <a:gd name="adj" fmla="val 3404"/>
            </a:avLst>
          </a:prstGeom>
          <a:solidFill>
            <a:srgbClr val="F5F7FC"/>
          </a:solidFill>
          <a:ln/>
          <a:effectLst>
            <a:outerShdw blurRad="76200" dist="25400" dir="5400000" algn="bl" rotWithShape="0">
              <a:srgbClr val="1E2761">
                <a:alpha val="12000"/>
              </a:srgbClr>
            </a:outerShdw>
          </a:effectLst>
        </p:spPr>
        <p:txBody>
          <a:bodyPr/>
          <a:lstStyle/>
          <a:p>
            <a:endParaRPr lang="en-US" sz="1350"/>
          </a:p>
        </p:txBody>
      </p:sp>
      <p:sp>
        <p:nvSpPr>
          <p:cNvPr id="12" name="Shape 10"/>
          <p:cNvSpPr/>
          <p:nvPr/>
        </p:nvSpPr>
        <p:spPr>
          <a:xfrm>
            <a:off x="4869180" y="1920240"/>
            <a:ext cx="342900" cy="342900"/>
          </a:xfrm>
          <a:prstGeom prst="ellipse">
            <a:avLst/>
          </a:prstGeom>
          <a:solidFill>
            <a:srgbClr val="3B4A9E"/>
          </a:solidFill>
          <a:ln/>
        </p:spPr>
        <p:txBody>
          <a:bodyPr/>
          <a:lstStyle/>
          <a:p>
            <a:endParaRPr lang="en-US" sz="1350"/>
          </a:p>
        </p:txBody>
      </p:sp>
      <p:sp>
        <p:nvSpPr>
          <p:cNvPr id="13" name="Text 11"/>
          <p:cNvSpPr txBox="1"/>
          <p:nvPr/>
        </p:nvSpPr>
        <p:spPr>
          <a:xfrm>
            <a:off x="4869180" y="1920240"/>
            <a:ext cx="342900" cy="342900"/>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U</a:t>
            </a:r>
            <a:endParaRPr lang="en-US" sz="1350" dirty="0"/>
          </a:p>
        </p:txBody>
      </p:sp>
      <p:sp>
        <p:nvSpPr>
          <p:cNvPr id="14" name="Text 12"/>
          <p:cNvSpPr txBox="1"/>
          <p:nvPr/>
        </p:nvSpPr>
        <p:spPr>
          <a:xfrm>
            <a:off x="5314950" y="1899666"/>
            <a:ext cx="3326130" cy="240030"/>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CUSTOMER / END USER</a:t>
            </a:r>
            <a:endParaRPr lang="en-US" sz="1200" dirty="0"/>
          </a:p>
        </p:txBody>
      </p:sp>
      <p:sp>
        <p:nvSpPr>
          <p:cNvPr id="15" name="Text 13"/>
          <p:cNvSpPr txBox="1"/>
          <p:nvPr/>
        </p:nvSpPr>
        <p:spPr>
          <a:xfrm>
            <a:off x="5314950" y="2125980"/>
            <a:ext cx="3326130" cy="205740"/>
          </a:xfrm>
          <a:prstGeom prst="rect">
            <a:avLst/>
          </a:prstGeom>
          <a:noFill/>
          <a:ln/>
        </p:spPr>
        <p:txBody>
          <a:bodyPr wrap="square" lIns="0" tIns="0" rIns="0" bIns="0" rtlCol="0" anchor="ctr"/>
          <a:lstStyle/>
          <a:p>
            <a:r>
              <a:rPr lang="en-US" sz="788" i="1" dirty="0">
                <a:solidFill>
                  <a:srgbClr val="5B6B9E"/>
                </a:solidFill>
                <a:latin typeface="Calibri" pitchFamily="34" charset="0"/>
                <a:ea typeface="Calibri" pitchFamily="34" charset="-122"/>
                <a:cs typeface="Calibri" pitchFamily="34" charset="-120"/>
              </a:rPr>
              <a:t>Who will actually use the proposed system</a:t>
            </a:r>
            <a:endParaRPr lang="en-US" sz="788" dirty="0"/>
          </a:p>
        </p:txBody>
      </p:sp>
      <p:sp>
        <p:nvSpPr>
          <p:cNvPr id="16" name="Shape 14"/>
          <p:cNvSpPr/>
          <p:nvPr/>
        </p:nvSpPr>
        <p:spPr>
          <a:xfrm>
            <a:off x="4903470" y="2379726"/>
            <a:ext cx="3669030" cy="0"/>
          </a:xfrm>
          <a:prstGeom prst="line">
            <a:avLst/>
          </a:prstGeom>
          <a:noFill/>
          <a:ln w="12700">
            <a:solidFill>
              <a:srgbClr val="CADCFC"/>
            </a:solidFill>
            <a:prstDash val="solid"/>
          </a:ln>
        </p:spPr>
        <p:txBody>
          <a:bodyPr/>
          <a:lstStyle/>
          <a:p>
            <a:endParaRPr lang="en-US" sz="1350"/>
          </a:p>
        </p:txBody>
      </p:sp>
      <p:sp>
        <p:nvSpPr>
          <p:cNvPr id="17" name="Text 15"/>
          <p:cNvSpPr txBox="1"/>
          <p:nvPr/>
        </p:nvSpPr>
        <p:spPr>
          <a:xfrm>
            <a:off x="4903470" y="2434590"/>
            <a:ext cx="3669030" cy="822960"/>
          </a:xfrm>
          <a:prstGeom prst="rect">
            <a:avLst/>
          </a:prstGeom>
          <a:noFill/>
          <a:ln/>
        </p:spPr>
        <p:txBody>
          <a:bodyPr wrap="square" lIns="0" tIns="0" rIns="0" bIns="0" rtlCol="0" anchor="t"/>
          <a:lstStyle/>
          <a:p>
            <a:pPr marL="133350" indent="-133350">
              <a:lnSpc>
                <a:spcPct val="130000"/>
              </a:lnSpc>
              <a:buSzPct val="100000"/>
              <a:buChar char="•"/>
            </a:pPr>
            <a:r>
              <a:rPr lang="en-US" sz="1000" b="1" dirty="0">
                <a:solidFill>
                  <a:srgbClr val="1E2761"/>
                </a:solidFill>
                <a:latin typeface="Calibri" pitchFamily="34" charset="0"/>
                <a:ea typeface="Calibri" pitchFamily="34" charset="-122"/>
                <a:cs typeface="Calibri" pitchFamily="34" charset="-120"/>
              </a:rPr>
              <a:t>Target Users:</a:t>
            </a:r>
            <a:r>
              <a:rPr lang="en-US" sz="1000" dirty="0">
                <a:solidFill>
                  <a:srgbClr val="333333"/>
                </a:solidFill>
                <a:latin typeface="Calibri" pitchFamily="34" charset="0"/>
                <a:ea typeface="Calibri" pitchFamily="34" charset="-122"/>
                <a:cs typeface="Calibri" pitchFamily="34" charset="-120"/>
              </a:rPr>
              <a:t> forest range officers, GIS analysts, researchers</a:t>
            </a:r>
            <a:endParaRPr lang="en-US" sz="900" dirty="0"/>
          </a:p>
          <a:p>
            <a:pPr marL="133350" indent="-133350">
              <a:lnSpc>
                <a:spcPct val="130000"/>
              </a:lnSpc>
              <a:buSzPct val="100000"/>
              <a:buChar char="•"/>
            </a:pPr>
            <a:r>
              <a:rPr lang="en-US" sz="1000" b="1" dirty="0">
                <a:solidFill>
                  <a:srgbClr val="1E2761"/>
                </a:solidFill>
                <a:latin typeface="Calibri" pitchFamily="34" charset="0"/>
                <a:ea typeface="Calibri" pitchFamily="34" charset="-122"/>
                <a:cs typeface="Calibri" pitchFamily="34" charset="-120"/>
              </a:rPr>
              <a:t>User Need:</a:t>
            </a:r>
            <a:r>
              <a:rPr lang="en-US" sz="1000" dirty="0">
                <a:solidFill>
                  <a:srgbClr val="333333"/>
                </a:solidFill>
                <a:latin typeface="Calibri" pitchFamily="34" charset="0"/>
                <a:ea typeface="Calibri" pitchFamily="34" charset="-122"/>
                <a:cs typeface="Calibri" pitchFamily="34" charset="-120"/>
              </a:rPr>
              <a:t> know which patches matter and test protect / restore options</a:t>
            </a:r>
            <a:endParaRPr lang="en-US" sz="900" dirty="0"/>
          </a:p>
        </p:txBody>
      </p:sp>
      <p:sp>
        <p:nvSpPr>
          <p:cNvPr id="18" name="Shape 16"/>
          <p:cNvSpPr/>
          <p:nvPr/>
        </p:nvSpPr>
        <p:spPr>
          <a:xfrm>
            <a:off x="342900" y="3531870"/>
            <a:ext cx="4080510" cy="1611630"/>
          </a:xfrm>
          <a:prstGeom prst="roundRect">
            <a:avLst>
              <a:gd name="adj" fmla="val 3404"/>
            </a:avLst>
          </a:prstGeom>
          <a:solidFill>
            <a:srgbClr val="F5F7FC"/>
          </a:solidFill>
          <a:ln/>
          <a:effectLst>
            <a:outerShdw blurRad="76200" dist="25400" dir="5400000" algn="bl" rotWithShape="0">
              <a:srgbClr val="1E2761">
                <a:alpha val="12000"/>
              </a:srgbClr>
            </a:outerShdw>
          </a:effectLst>
        </p:spPr>
        <p:txBody>
          <a:bodyPr/>
          <a:lstStyle/>
          <a:p>
            <a:endParaRPr lang="en-US" sz="1350"/>
          </a:p>
        </p:txBody>
      </p:sp>
      <p:sp>
        <p:nvSpPr>
          <p:cNvPr id="19" name="Shape 17"/>
          <p:cNvSpPr/>
          <p:nvPr/>
        </p:nvSpPr>
        <p:spPr>
          <a:xfrm>
            <a:off x="514350" y="3703320"/>
            <a:ext cx="342900" cy="342900"/>
          </a:xfrm>
          <a:prstGeom prst="ellipse">
            <a:avLst/>
          </a:prstGeom>
          <a:solidFill>
            <a:srgbClr val="5B6B9E"/>
          </a:solidFill>
          <a:ln/>
        </p:spPr>
        <p:txBody>
          <a:bodyPr/>
          <a:lstStyle/>
          <a:p>
            <a:endParaRPr lang="en-US" sz="1350"/>
          </a:p>
        </p:txBody>
      </p:sp>
      <p:sp>
        <p:nvSpPr>
          <p:cNvPr id="20" name="Text 18"/>
          <p:cNvSpPr txBox="1"/>
          <p:nvPr/>
        </p:nvSpPr>
        <p:spPr>
          <a:xfrm>
            <a:off x="514350" y="3703320"/>
            <a:ext cx="342900" cy="342900"/>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S</a:t>
            </a:r>
            <a:endParaRPr lang="en-US" sz="1350" dirty="0"/>
          </a:p>
        </p:txBody>
      </p:sp>
      <p:sp>
        <p:nvSpPr>
          <p:cNvPr id="21" name="Text 19"/>
          <p:cNvSpPr txBox="1"/>
          <p:nvPr/>
        </p:nvSpPr>
        <p:spPr>
          <a:xfrm>
            <a:off x="960120" y="3682746"/>
            <a:ext cx="3326130" cy="240030"/>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STAKEHOLDERS</a:t>
            </a:r>
            <a:endParaRPr lang="en-US" sz="1200" dirty="0"/>
          </a:p>
        </p:txBody>
      </p:sp>
      <p:sp>
        <p:nvSpPr>
          <p:cNvPr id="22" name="Text 20"/>
          <p:cNvSpPr txBox="1"/>
          <p:nvPr/>
        </p:nvSpPr>
        <p:spPr>
          <a:xfrm>
            <a:off x="960120" y="3909060"/>
            <a:ext cx="3326130" cy="205740"/>
          </a:xfrm>
          <a:prstGeom prst="rect">
            <a:avLst/>
          </a:prstGeom>
          <a:noFill/>
          <a:ln/>
        </p:spPr>
        <p:txBody>
          <a:bodyPr wrap="square" lIns="0" tIns="0" rIns="0" bIns="0" rtlCol="0" anchor="ctr"/>
          <a:lstStyle/>
          <a:p>
            <a:r>
              <a:rPr lang="en-US" sz="788" i="1" dirty="0">
                <a:solidFill>
                  <a:srgbClr val="5B6B9E"/>
                </a:solidFill>
                <a:latin typeface="Calibri" pitchFamily="34" charset="0"/>
                <a:ea typeface="Calibri" pitchFamily="34" charset="-122"/>
                <a:cs typeface="Calibri" pitchFamily="34" charset="-120"/>
              </a:rPr>
              <a:t>People/organizations affected by or involved in the project</a:t>
            </a:r>
            <a:endParaRPr lang="en-US" sz="788" dirty="0"/>
          </a:p>
        </p:txBody>
      </p:sp>
      <p:sp>
        <p:nvSpPr>
          <p:cNvPr id="23" name="Shape 21"/>
          <p:cNvSpPr/>
          <p:nvPr/>
        </p:nvSpPr>
        <p:spPr>
          <a:xfrm>
            <a:off x="548640" y="4162806"/>
            <a:ext cx="3669030" cy="0"/>
          </a:xfrm>
          <a:prstGeom prst="line">
            <a:avLst/>
          </a:prstGeom>
          <a:noFill/>
          <a:ln w="12700">
            <a:solidFill>
              <a:srgbClr val="CADCFC"/>
            </a:solidFill>
            <a:prstDash val="solid"/>
          </a:ln>
        </p:spPr>
        <p:txBody>
          <a:bodyPr/>
          <a:lstStyle/>
          <a:p>
            <a:endParaRPr lang="en-US" sz="1350"/>
          </a:p>
        </p:txBody>
      </p:sp>
      <p:sp>
        <p:nvSpPr>
          <p:cNvPr id="24" name="Text 22"/>
          <p:cNvSpPr txBox="1"/>
          <p:nvPr/>
        </p:nvSpPr>
        <p:spPr>
          <a:xfrm>
            <a:off x="548640" y="4217670"/>
            <a:ext cx="3669030" cy="822960"/>
          </a:xfrm>
          <a:prstGeom prst="rect">
            <a:avLst/>
          </a:prstGeom>
          <a:noFill/>
          <a:ln/>
        </p:spPr>
        <p:txBody>
          <a:bodyPr wrap="square" lIns="0" tIns="0" rIns="0" bIns="0" rtlCol="0" anchor="t"/>
          <a:lstStyle/>
          <a:p>
            <a:pPr marL="133350" indent="-133350">
              <a:lnSpc>
                <a:spcPct val="130000"/>
              </a:lnSpc>
              <a:buSzPct val="100000"/>
              <a:buChar char="•"/>
            </a:pPr>
            <a:r>
              <a:rPr lang="en-US" sz="1000" dirty="0">
                <a:solidFill>
                  <a:srgbClr val="333333"/>
                </a:solidFill>
                <a:latin typeface="Calibri" pitchFamily="34" charset="0"/>
                <a:ea typeface="Calibri" pitchFamily="34" charset="-122"/>
                <a:cs typeface="Calibri" pitchFamily="34" charset="-120"/>
              </a:rPr>
              <a:t>Coastal communities (fishing, storm protection)</a:t>
            </a:r>
            <a:endParaRPr lang="en-US" sz="900" dirty="0"/>
          </a:p>
          <a:p>
            <a:pPr marL="133350" indent="-133350">
              <a:lnSpc>
                <a:spcPct val="130000"/>
              </a:lnSpc>
              <a:buSzPct val="100000"/>
              <a:buChar char="•"/>
            </a:pPr>
            <a:r>
              <a:rPr lang="en-US" sz="1000" dirty="0">
                <a:solidFill>
                  <a:srgbClr val="333333"/>
                </a:solidFill>
                <a:latin typeface="Calibri" pitchFamily="34" charset="0"/>
                <a:ea typeface="Calibri" pitchFamily="34" charset="-122"/>
                <a:cs typeface="Calibri" pitchFamily="34" charset="-120"/>
              </a:rPr>
              <a:t>Conservation NGOs and ecologists</a:t>
            </a:r>
            <a:endParaRPr lang="en-US" sz="900" dirty="0"/>
          </a:p>
          <a:p>
            <a:pPr marL="133350" indent="-133350">
              <a:lnSpc>
                <a:spcPct val="130000"/>
              </a:lnSpc>
              <a:buSzPct val="100000"/>
              <a:buChar char="•"/>
            </a:pPr>
            <a:r>
              <a:rPr lang="en-US" sz="1000" dirty="0">
                <a:solidFill>
                  <a:srgbClr val="333333"/>
                </a:solidFill>
                <a:latin typeface="Calibri" pitchFamily="34" charset="0"/>
                <a:ea typeface="Calibri" pitchFamily="34" charset="-122"/>
                <a:cs typeface="Calibri" pitchFamily="34" charset="-120"/>
              </a:rPr>
              <a:t>Policymakers and coastal planning authorities</a:t>
            </a:r>
            <a:endParaRPr lang="en-US" sz="900" dirty="0"/>
          </a:p>
        </p:txBody>
      </p:sp>
      <p:sp>
        <p:nvSpPr>
          <p:cNvPr id="25" name="Shape 23"/>
          <p:cNvSpPr/>
          <p:nvPr/>
        </p:nvSpPr>
        <p:spPr>
          <a:xfrm>
            <a:off x="4697730" y="3531870"/>
            <a:ext cx="4080510" cy="1611630"/>
          </a:xfrm>
          <a:prstGeom prst="roundRect">
            <a:avLst>
              <a:gd name="adj" fmla="val 3404"/>
            </a:avLst>
          </a:prstGeom>
          <a:solidFill>
            <a:srgbClr val="F5F7FC"/>
          </a:solidFill>
          <a:ln/>
          <a:effectLst>
            <a:outerShdw blurRad="76200" dist="25400" dir="5400000" algn="bl" rotWithShape="0">
              <a:srgbClr val="1E2761">
                <a:alpha val="12000"/>
              </a:srgbClr>
            </a:outerShdw>
          </a:effectLst>
        </p:spPr>
        <p:txBody>
          <a:bodyPr/>
          <a:lstStyle/>
          <a:p>
            <a:endParaRPr lang="en-US" sz="1350"/>
          </a:p>
        </p:txBody>
      </p:sp>
      <p:sp>
        <p:nvSpPr>
          <p:cNvPr id="26" name="Shape 24"/>
          <p:cNvSpPr/>
          <p:nvPr/>
        </p:nvSpPr>
        <p:spPr>
          <a:xfrm>
            <a:off x="4869180" y="3703320"/>
            <a:ext cx="342900" cy="342900"/>
          </a:xfrm>
          <a:prstGeom prst="ellipse">
            <a:avLst/>
          </a:prstGeom>
          <a:solidFill>
            <a:srgbClr val="C0392B"/>
          </a:solidFill>
          <a:ln/>
        </p:spPr>
        <p:txBody>
          <a:bodyPr/>
          <a:lstStyle/>
          <a:p>
            <a:endParaRPr lang="en-US" sz="1350"/>
          </a:p>
        </p:txBody>
      </p:sp>
      <p:sp>
        <p:nvSpPr>
          <p:cNvPr id="27" name="Text 25"/>
          <p:cNvSpPr txBox="1"/>
          <p:nvPr/>
        </p:nvSpPr>
        <p:spPr>
          <a:xfrm>
            <a:off x="4869180" y="3703320"/>
            <a:ext cx="342900" cy="342900"/>
          </a:xfrm>
          <a:prstGeom prst="rect">
            <a:avLst/>
          </a:prstGeom>
          <a:noFill/>
          <a:ln/>
        </p:spPr>
        <p:txBody>
          <a:bodyPr wrap="square" lIns="0" tIns="0" rIns="0" bIns="0" rtlCol="0" anchor="ctr"/>
          <a:lstStyle/>
          <a:p>
            <a:pPr algn="ctr"/>
            <a:r>
              <a:rPr lang="en-US" sz="1350" b="1" dirty="0">
                <a:solidFill>
                  <a:srgbClr val="FFFFFF"/>
                </a:solidFill>
                <a:latin typeface="Calibri" pitchFamily="34" charset="0"/>
                <a:ea typeface="Calibri" pitchFamily="34" charset="-122"/>
                <a:cs typeface="Calibri" pitchFamily="34" charset="-120"/>
              </a:rPr>
              <a:t>!</a:t>
            </a:r>
            <a:endParaRPr lang="en-US" sz="1350" dirty="0"/>
          </a:p>
        </p:txBody>
      </p:sp>
      <p:sp>
        <p:nvSpPr>
          <p:cNvPr id="28" name="Text 26"/>
          <p:cNvSpPr txBox="1"/>
          <p:nvPr/>
        </p:nvSpPr>
        <p:spPr>
          <a:xfrm>
            <a:off x="5314950" y="3682746"/>
            <a:ext cx="3326130" cy="240030"/>
          </a:xfrm>
          <a:prstGeom prst="rect">
            <a:avLst/>
          </a:prstGeom>
          <a:noFill/>
          <a:ln/>
        </p:spPr>
        <p:txBody>
          <a:bodyPr wrap="square" lIns="0" tIns="0" rIns="0" bIns="0" rtlCol="0" anchor="ctr"/>
          <a:lstStyle/>
          <a:p>
            <a:r>
              <a:rPr lang="en-US" sz="1200" b="1" dirty="0">
                <a:solidFill>
                  <a:srgbClr val="1E2761"/>
                </a:solidFill>
                <a:latin typeface="Calibri" pitchFamily="34" charset="0"/>
                <a:ea typeface="Calibri" pitchFamily="34" charset="-122"/>
                <a:cs typeface="Calibri" pitchFamily="34" charset="-120"/>
              </a:rPr>
              <a:t>HOW IS OUR PROJECT DIFFERENT?</a:t>
            </a:r>
            <a:endParaRPr lang="en-US" sz="1200" dirty="0"/>
          </a:p>
        </p:txBody>
      </p:sp>
      <p:sp>
        <p:nvSpPr>
          <p:cNvPr id="29" name="Text 27"/>
          <p:cNvSpPr txBox="1"/>
          <p:nvPr/>
        </p:nvSpPr>
        <p:spPr>
          <a:xfrm>
            <a:off x="5314950" y="3909060"/>
            <a:ext cx="3326130" cy="205740"/>
          </a:xfrm>
          <a:prstGeom prst="rect">
            <a:avLst/>
          </a:prstGeom>
          <a:noFill/>
          <a:ln/>
        </p:spPr>
        <p:txBody>
          <a:bodyPr wrap="square" lIns="0" tIns="0" rIns="0" bIns="0" rtlCol="0" anchor="ctr"/>
          <a:lstStyle/>
          <a:p>
            <a:r>
              <a:rPr lang="en-US" sz="788" i="1" dirty="0">
                <a:solidFill>
                  <a:srgbClr val="5B6B9E"/>
                </a:solidFill>
                <a:latin typeface="Calibri" pitchFamily="34" charset="0"/>
                <a:ea typeface="Calibri" pitchFamily="34" charset="-122"/>
                <a:cs typeface="Calibri" pitchFamily="34" charset="-120"/>
              </a:rPr>
              <a:t>Comparison with existing applications/solutions</a:t>
            </a:r>
            <a:endParaRPr lang="en-US" sz="788" dirty="0"/>
          </a:p>
        </p:txBody>
      </p:sp>
      <p:sp>
        <p:nvSpPr>
          <p:cNvPr id="30" name="Shape 28"/>
          <p:cNvSpPr/>
          <p:nvPr/>
        </p:nvSpPr>
        <p:spPr>
          <a:xfrm>
            <a:off x="4903470" y="4162806"/>
            <a:ext cx="3669030" cy="0"/>
          </a:xfrm>
          <a:prstGeom prst="line">
            <a:avLst/>
          </a:prstGeom>
          <a:noFill/>
          <a:ln w="12700">
            <a:solidFill>
              <a:srgbClr val="CADCFC"/>
            </a:solidFill>
            <a:prstDash val="solid"/>
          </a:ln>
        </p:spPr>
        <p:txBody>
          <a:bodyPr/>
          <a:lstStyle/>
          <a:p>
            <a:endParaRPr lang="en-US" sz="1350"/>
          </a:p>
        </p:txBody>
      </p:sp>
      <p:sp>
        <p:nvSpPr>
          <p:cNvPr id="31" name="Text 29"/>
          <p:cNvSpPr txBox="1"/>
          <p:nvPr/>
        </p:nvSpPr>
        <p:spPr>
          <a:xfrm>
            <a:off x="4903470" y="4217670"/>
            <a:ext cx="3669030" cy="822960"/>
          </a:xfrm>
          <a:prstGeom prst="rect">
            <a:avLst/>
          </a:prstGeom>
          <a:noFill/>
          <a:ln/>
        </p:spPr>
        <p:txBody>
          <a:bodyPr wrap="square" lIns="0" tIns="0" rIns="0" bIns="0" rtlCol="0" anchor="t"/>
          <a:lstStyle/>
          <a:p>
            <a:pPr marL="133350" indent="-133350">
              <a:lnSpc>
                <a:spcPct val="130000"/>
              </a:lnSpc>
              <a:buSzPct val="100000"/>
              <a:buChar char="•"/>
            </a:pPr>
            <a:r>
              <a:rPr lang="en-US" sz="1000" b="1" dirty="0">
                <a:solidFill>
                  <a:srgbClr val="1E2761"/>
                </a:solidFill>
                <a:latin typeface="Calibri" pitchFamily="34" charset="0"/>
                <a:ea typeface="Calibri" pitchFamily="34" charset="-122"/>
                <a:cs typeface="Calibri" pitchFamily="34" charset="-120"/>
              </a:rPr>
              <a:t>Existing:</a:t>
            </a:r>
            <a:r>
              <a:rPr lang="en-US" sz="1000" dirty="0">
                <a:solidFill>
                  <a:srgbClr val="333333"/>
                </a:solidFill>
                <a:latin typeface="Calibri" pitchFamily="34" charset="0"/>
                <a:ea typeface="Calibri" pitchFamily="34" charset="-122"/>
                <a:cs typeface="Calibri" pitchFamily="34" charset="-120"/>
              </a:rPr>
              <a:t> GMW / Earth Engine maps show where it is</a:t>
            </a:r>
            <a:endParaRPr lang="en-US" sz="900" dirty="0"/>
          </a:p>
          <a:p>
            <a:pPr marL="133350" indent="-133350">
              <a:lnSpc>
                <a:spcPct val="130000"/>
              </a:lnSpc>
              <a:buSzPct val="100000"/>
              <a:buChar char="•"/>
            </a:pPr>
            <a:r>
              <a:rPr lang="en-US" sz="1000" b="1" dirty="0">
                <a:solidFill>
                  <a:srgbClr val="1E2761"/>
                </a:solidFill>
                <a:latin typeface="Calibri" pitchFamily="34" charset="0"/>
                <a:ea typeface="Calibri" pitchFamily="34" charset="-122"/>
                <a:cs typeface="Calibri" pitchFamily="34" charset="-120"/>
              </a:rPr>
              <a:t>Our Project:</a:t>
            </a:r>
            <a:r>
              <a:rPr lang="en-US" sz="1000" dirty="0">
                <a:solidFill>
                  <a:srgbClr val="333333"/>
                </a:solidFill>
                <a:latin typeface="Calibri" pitchFamily="34" charset="0"/>
                <a:ea typeface="Calibri" pitchFamily="34" charset="-122"/>
                <a:cs typeface="Calibri" pitchFamily="34" charset="-120"/>
              </a:rPr>
              <a:t> ranks patches; what-if and restoration</a:t>
            </a:r>
            <a:endParaRPr lang="en-US" sz="900" dirty="0"/>
          </a:p>
          <a:p>
            <a:pPr marL="133350" indent="-133350">
              <a:lnSpc>
                <a:spcPct val="130000"/>
              </a:lnSpc>
              <a:buSzPct val="100000"/>
              <a:buChar char="•"/>
            </a:pPr>
            <a:r>
              <a:rPr lang="en-US" sz="1000" b="1" dirty="0">
                <a:solidFill>
                  <a:srgbClr val="1E2761"/>
                </a:solidFill>
                <a:latin typeface="Calibri" pitchFamily="34" charset="0"/>
                <a:ea typeface="Calibri" pitchFamily="34" charset="-122"/>
                <a:cs typeface="Calibri" pitchFamily="34" charset="-120"/>
              </a:rPr>
              <a:t>Key Improvement:</a:t>
            </a:r>
            <a:r>
              <a:rPr lang="en-US" sz="1000" dirty="0">
                <a:solidFill>
                  <a:srgbClr val="333333"/>
                </a:solidFill>
                <a:latin typeface="Calibri" pitchFamily="34" charset="0"/>
                <a:ea typeface="Calibri" pitchFamily="34" charset="-122"/>
                <a:cs typeface="Calibri" pitchFamily="34" charset="-120"/>
              </a:rPr>
              <a:t> “which habitat matters?”</a:t>
            </a:r>
            <a:endParaRPr lang="en-US" sz="900" dirty="0"/>
          </a:p>
        </p:txBody>
      </p:sp>
      <p:sp>
        <p:nvSpPr>
          <p:cNvPr id="32" name="Shape 30"/>
          <p:cNvSpPr/>
          <p:nvPr/>
        </p:nvSpPr>
        <p:spPr>
          <a:xfrm>
            <a:off x="342900" y="5335524"/>
            <a:ext cx="8435340" cy="425196"/>
          </a:xfrm>
          <a:prstGeom prst="roundRect">
            <a:avLst>
              <a:gd name="adj" fmla="val 12903"/>
            </a:avLst>
          </a:prstGeom>
          <a:solidFill>
            <a:srgbClr val="1E2761"/>
          </a:solidFill>
          <a:ln/>
        </p:spPr>
        <p:txBody>
          <a:bodyPr/>
          <a:lstStyle/>
          <a:p>
            <a:endParaRPr lang="en-US" sz="1350"/>
          </a:p>
        </p:txBody>
      </p:sp>
      <p:sp>
        <p:nvSpPr>
          <p:cNvPr id="33" name="Text 31"/>
          <p:cNvSpPr txBox="1"/>
          <p:nvPr/>
        </p:nvSpPr>
        <p:spPr>
          <a:xfrm>
            <a:off x="514350" y="5335524"/>
            <a:ext cx="8092440" cy="425196"/>
          </a:xfrm>
          <a:prstGeom prst="rect">
            <a:avLst/>
          </a:prstGeom>
          <a:noFill/>
          <a:ln/>
        </p:spPr>
        <p:txBody>
          <a:bodyPr wrap="square" lIns="0" tIns="0" rIns="0" bIns="0" rtlCol="0" anchor="ctr"/>
          <a:lstStyle/>
          <a:p>
            <a:r>
              <a:rPr lang="en-US" sz="1000" b="1" dirty="0">
                <a:solidFill>
                  <a:srgbClr val="CADCFC"/>
                </a:solidFill>
                <a:latin typeface="Calibri" pitchFamily="34" charset="0"/>
                <a:ea typeface="Calibri" pitchFamily="34" charset="-122"/>
                <a:cs typeface="Calibri" pitchFamily="34" charset="-120"/>
              </a:rPr>
              <a:t>KEY DIFFERENTIATOR:  </a:t>
            </a:r>
            <a:r>
              <a:rPr lang="en-US" sz="1000" i="1" dirty="0">
                <a:solidFill>
                  <a:srgbClr val="FFFFFF"/>
                </a:solidFill>
                <a:latin typeface="Calibri" pitchFamily="34" charset="0"/>
                <a:ea typeface="Calibri" pitchFamily="34" charset="-122"/>
                <a:cs typeface="Calibri" pitchFamily="34" charset="-120"/>
              </a:rPr>
              <a:t>EcoConnectAI turns a satellite habitat map into a network and measures how much connectivity is lost when each patch is removed — so a small but critical patch is found, explained and testable before it is lost.</a:t>
            </a:r>
            <a:endParaRPr lang="en-US" sz="975"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1528</TotalTime>
  <Words>325</Words>
  <Application>Microsoft Macintosh PowerPoint</Application>
  <PresentationFormat>On-screen Show (4:3)</PresentationFormat>
  <Paragraphs>40</Paragraphs>
  <Slides>4</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vt:i4>
      </vt:variant>
    </vt:vector>
  </HeadingPairs>
  <TitlesOfParts>
    <vt:vector size="8" baseType="lpstr">
      <vt:lpstr>Arial</vt:lpstr>
      <vt:lpstr>Calibri</vt:lpstr>
      <vt:lpstr>Cambria</vt:lpstr>
      <vt:lpstr>Office Theme</vt:lpstr>
      <vt:lpstr>Follow this format:  </vt:lpstr>
      <vt:lpstr>SDG GOAL</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CRYPTOGRAPHY  AND  NETWORK SECURITY</dc:title>
  <dc:creator>Admin</dc:creator>
  <cp:lastModifiedBy>Prakash Arumugam</cp:lastModifiedBy>
  <cp:revision>208</cp:revision>
  <dcterms:created xsi:type="dcterms:W3CDTF">2019-01-31T09:57:57Z</dcterms:created>
  <dcterms:modified xsi:type="dcterms:W3CDTF">2026-09-22T09:05:57Z</dcterms:modified>
</cp:coreProperties>
</file>