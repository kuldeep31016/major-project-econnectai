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4E7951-33BE-4C99-9211-738E3C35EC04}">
  <a:tblStyle styleId="{854E7951-33BE-4C99-9211-738E3C35EC0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Habitat lost (%)</c:v>
                </c:pt>
              </c:strCache>
            </c:strRef>
          </c:tx>
          <c:spPr>
            <a:solidFill>
              <a:srgbClr val="5A6370"/>
            </a:solidFill>
          </c:spPr>
          <c:dLbls>
            <c:numFmt formatCode="0.0&quot;%&quot;" sourceLinked="0"/>
            <c:txPr>
              <a:bodyPr/>
              <a:lstStyle/>
              <a:p>
                <a:pPr>
                  <a:defRPr sz="1000" b="1"/>
                </a:pPr>
              </a:p>
            </c:txPr>
            <c:dLblPos val="outEnd"/>
            <c:showLegendKey val="0"/>
            <c:showVal val="1"/>
            <c:showCatName val="0"/>
            <c:showSerName val="0"/>
            <c:showPercent val="0"/>
            <c:showBubbleSize val="0"/>
            <c:showLeaderLines val="1"/>
          </c:dLbls>
          <c:cat>
            <c:strRef>
              <c:f>Sheet1!$A$2:$A$3</c:f>
              <c:strCache>
                <c:ptCount val="2"/>
                <c:pt idx="0">
                  <c:v>Remove P17 (3.1 ha)</c:v>
                </c:pt>
                <c:pt idx="1">
                  <c:v>Remove P01 (35.1 ha)</c:v>
                </c:pt>
              </c:strCache>
            </c:strRef>
          </c:cat>
          <c:val>
            <c:numRef>
              <c:f>Sheet1!$B$2:$B$3</c:f>
              <c:numCache>
                <c:formatCode>General</c:formatCode>
                <c:ptCount val="2"/>
                <c:pt idx="0">
                  <c:v>1.4</c:v>
                </c:pt>
                <c:pt idx="1">
                  <c:v>16.0</c:v>
                </c:pt>
              </c:numCache>
            </c:numRef>
          </c:val>
        </c:ser>
        <c:ser>
          <c:idx val="1"/>
          <c:order val="1"/>
          <c:tx>
            <c:strRef>
              <c:f>Sheet1!$C$1</c:f>
              <c:strCache>
                <c:ptCount val="1"/>
                <c:pt idx="0">
                  <c:v>Connectivity lost (%)</c:v>
                </c:pt>
              </c:strCache>
            </c:strRef>
          </c:tx>
          <c:spPr>
            <a:solidFill>
              <a:srgbClr val="D96A2B"/>
            </a:solidFill>
          </c:spPr>
          <c:dLbls>
            <c:numFmt formatCode="0.0&quot;%&quot;" sourceLinked="0"/>
            <c:txPr>
              <a:bodyPr/>
              <a:lstStyle/>
              <a:p>
                <a:pPr>
                  <a:defRPr sz="1000" b="1"/>
                </a:pPr>
              </a:p>
            </c:txPr>
            <c:dLblPos val="outEnd"/>
            <c:showLegendKey val="0"/>
            <c:showVal val="1"/>
            <c:showCatName val="0"/>
            <c:showSerName val="0"/>
            <c:showPercent val="0"/>
            <c:showBubbleSize val="0"/>
            <c:showLeaderLines val="1"/>
          </c:dLbls>
          <c:cat>
            <c:strRef>
              <c:f>Sheet1!$A$2:$A$3</c:f>
              <c:strCache>
                <c:ptCount val="2"/>
                <c:pt idx="0">
                  <c:v>Remove P17 (3.1 ha)</c:v>
                </c:pt>
                <c:pt idx="1">
                  <c:v>Remove P01 (35.1 ha)</c:v>
                </c:pt>
              </c:strCache>
            </c:strRef>
          </c:cat>
          <c:val>
            <c:numRef>
              <c:f>Sheet1!$C$2:$C$3</c:f>
              <c:numCache>
                <c:formatCode>General</c:formatCode>
                <c:ptCount val="2"/>
                <c:pt idx="0">
                  <c:v>27.0</c:v>
                </c:pt>
                <c:pt idx="1">
                  <c:v>30.7</c:v>
                </c:pt>
              </c:numCache>
            </c:numRef>
          </c:val>
        </c:ser>
        <c:axId val="-2068027336"/>
        <c:axId val="-2113994440"/>
      </c:barChart>
      <c:catAx>
        <c:axId val="-2068027336"/>
        <c:scaling>
          <c:orientation val="minMax"/>
        </c:scaling>
        <c:delete val="0"/>
        <c:axPos val="b"/>
        <c:majorTickMark val="out"/>
        <c:minorTickMark val="none"/>
        <c:tickLblPos val="nextTo"/>
        <c:spPr>
          <a:ln>
            <a:solidFill>
              <a:srgbClr val="C9D3E6"/>
            </a:solidFill>
          </a:ln>
        </c:spPr>
        <c:txPr>
          <a:bodyPr/>
          <a:lstStyle/>
          <a:p>
            <a:pPr>
              <a:defRPr sz="1000">
                <a:latin typeface="Calibri"/>
              </a:defRPr>
            </a:pPr>
          </a:p>
        </c:txPr>
        <c:crossAx val="-2113994440"/>
        <c:crosses val="autoZero"/>
        <c:auto val="1"/>
        <c:lblAlgn val="ctr"/>
        <c:lblOffset val="100"/>
        <c:noMultiLvlLbl val="0"/>
      </c:catAx>
      <c:valAx>
        <c:axId val="-2113994440"/>
        <c:scaling>
          <c:max val="36.0"/>
        </c:scaling>
        <c:delete/>
        <c:axPos val="l"/>
        <c:majorTickMark val="out"/>
        <c:minorTickMark val="none"/>
        <c:tickLblPos val="nextTo"/>
        <c:crossAx val="-2068027336"/>
        <c:crosses val="autoZero"/>
      </c:valAx>
    </c:plotArea>
    <c:legend>
      <c:legendPos val="b"/>
      <c:overlay val="0"/>
      <c:txPr>
        <a:bodyPr/>
        <a:lstStyle/>
        <a:p>
          <a:pPr>
            <a:defRPr sz="10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Good morning. Our project is EcoConnectAI — a tool that uses satellite images and AI to find mangrove habitat, and then works out which habitat patches matter most for keeping the coastal ecosystem connected.</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simple words: we detect mangroves from satellite images, split them into patches, connect nearby patches into a network, and remove one patch at a time to see how much connectivity is lost. The dashboard lets an officer test what happens if a patch is lost, or if an area is restored.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problem: finding where mangroves are is not enough. Two patches may look the same on a map, but one may be the only bridge between two groups. Our objective is to detect the habitat, split it into patches, find the important connecting patches, and help conservation teams decide what to protect or restore.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input is Sentinel-1 radar imagery for four coastal areas. For training labels we use Global Mangrove Watch 2020 — these are reference labels from a published map, not field ground truth. We cut the images into 1,373 tiles; this run used 800 for training, 195 for validation and 200 for testing. The model outputs a probability of mangrove for every pixel.</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Top: the analysis flow. Satellite data is prepared, the AI model detects mangrove and gives a probability map, we extract habitat patches, connect them into a network, find the critical patches, run what-if tests, rank restoration options and show everything on a web dashboard. Bottom: the software — Python and PyTorch for the AI, a FastAPI backend with a SQLite database, and a Next.js/React frontend with a Leaflet map and a React Flow network view.</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implemented five parts. A deep-learning model marks mangrove pixels. Touching pixels are grouped into patches. Each patch is linked to its nearest patches within 5 km — that forms the network. Then we remove one patch at a time and measure how much connectivity drops. Finally the dashboard shows the important patches, the what-if results and restoration options. The model is a U-Net with an EfficientNet-B0 encoder; the larger B7 version from the research paper is future work.</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development model reaches a test IoU of 0.842 and an F1 of 0.914 on 200 test tiles. These are measured against Global Mangrove Watch reference labels, not field surveys, and most of the strength comes from the Sundarbans. The 95.56% figure in the literature belongs to the foundation paper, not to us. The key finding: P01 is the biggest patch, but patch P17 is only 3.1 hectares and 17th by size — yet removing it cuts connectivity by 27% and splits the network into three groups. Size alone does not show importance. (Kerala 2025 analysis run, development model.)</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Left: what if a patch is lost? Removing P17 loses only 1.4% of the habitat but 27% of connectivity. Removing the largest patch P01 loses 16% of the habitat and 30.7% of connectivity. These are simulations under our assumptions, not predictions. Right: restoration works the other way — we add a candidate area to the network and measure the gain. Candidate C1 adds 1.29% connectivity with three new links. Candidates come from model outputs and are not field-confirmed, and since we have no cost data they are ranked by connectivity gain.</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conclude: EcoConnectAI combines satellite data, AI habitat detection, connectivity analysis and what-if scenarios to support coastal conservation decisions. Our limitations: the model is still a development version, the labels are reference labels rather than field-verified ground truth, and we still need field validation and real cost data. Next we want to improve the model per region, add field validation, use real cost information and prepare the system for larger-scale use. From mapping habitat to understanding which habitat matters. Thank you.</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4400">
                <a:solidFill>
                  <a:srgbClr val="1A1A1A"/>
                </a:solidFill>
                <a:latin typeface="Calibri"/>
              </a:rPr>
              <a:t>EcoConnectAI</a:t>
            </a:r>
          </a:p>
        </p:txBody>
      </p:sp>
      <p:sp>
        <p:nvSpPr>
          <p:cNvPr id="3" name="TextBox 2"/>
          <p:cNvSpPr txBox="1"/>
          <p:nvPr/>
        </p:nvSpPr>
        <p:spPr>
          <a:xfrm>
            <a:off x="1234440" y="1051560"/>
            <a:ext cx="7406640" cy="822960"/>
          </a:xfrm>
          <a:prstGeom prst="rect">
            <a:avLst/>
          </a:prstGeom>
          <a:noFill/>
        </p:spPr>
        <p:txBody>
          <a:bodyPr wrap="square" lIns="36576" rIns="36576" tIns="18288" bIns="18288" anchor="t">
            <a:spAutoFit/>
          </a:bodyPr>
          <a:lstStyle/>
          <a:p>
            <a:pPr algn="ctr">
              <a:spcAft>
                <a:spcPts val="0"/>
              </a:spcAft>
            </a:pPr>
            <a:r>
              <a:rPr sz="1900" b="0" i="1">
                <a:solidFill>
                  <a:srgbClr val="0D3889"/>
                </a:solidFill>
                <a:latin typeface="Calibri"/>
              </a:rPr>
              <a:t>A Satellite-Driven Framework for Coastal Ecosystem Connectivity</a:t>
            </a:r>
          </a:p>
          <a:p>
            <a:pPr algn="ctr">
              <a:spcAft>
                <a:spcPts val="0"/>
              </a:spcAft>
            </a:pPr>
            <a:r>
              <a:rPr sz="1900" b="0" i="1">
                <a:solidFill>
                  <a:srgbClr val="0D3889"/>
                </a:solidFill>
                <a:latin typeface="Calibri"/>
              </a:rPr>
              <a:t>and Conservation Decision Support</a:t>
            </a:r>
          </a:p>
        </p:txBody>
      </p:sp>
      <p:sp>
        <p:nvSpPr>
          <p:cNvPr id="4" name="TextBox 3"/>
          <p:cNvSpPr txBox="1"/>
          <p:nvPr/>
        </p:nvSpPr>
        <p:spPr>
          <a:xfrm>
            <a:off x="1234440" y="2148840"/>
            <a:ext cx="7406640" cy="1097280"/>
          </a:xfrm>
          <a:prstGeom prst="rect">
            <a:avLst/>
          </a:prstGeom>
          <a:noFill/>
        </p:spPr>
        <p:txBody>
          <a:bodyPr wrap="square" lIns="36576" rIns="36576" tIns="18288" bIns="18288" anchor="t">
            <a:spAutoFit/>
          </a:bodyPr>
          <a:lstStyle/>
          <a:p>
            <a:pPr algn="ctr">
              <a:spcAft>
                <a:spcPts val="200"/>
              </a:spcAft>
            </a:pPr>
            <a:r>
              <a:rPr sz="1200" b="0" i="0">
                <a:solidFill>
                  <a:srgbClr val="5A6370"/>
                </a:solidFill>
                <a:latin typeface="Calibri"/>
              </a:rPr>
              <a:t>Presented by</a:t>
            </a:r>
          </a:p>
          <a:p>
            <a:pPr algn="ctr">
              <a:spcAft>
                <a:spcPts val="200"/>
              </a:spcAft>
            </a:pPr>
            <a:r>
              <a:rPr sz="1500" b="0" i="0">
                <a:solidFill>
                  <a:srgbClr val="1A1A1A"/>
                </a:solidFill>
                <a:latin typeface="Calibri"/>
              </a:rPr>
              <a:t>Kuldeep Raj  (1DS23CS112)</a:t>
            </a:r>
          </a:p>
          <a:p>
            <a:pPr algn="ctr">
              <a:spcAft>
                <a:spcPts val="200"/>
              </a:spcAft>
            </a:pPr>
            <a:r>
              <a:rPr sz="1500" b="0" i="0">
                <a:solidFill>
                  <a:srgbClr val="1A1A1A"/>
                </a:solidFill>
                <a:latin typeface="Calibri"/>
              </a:rPr>
              <a:t>Ruhinaaz  (1DS23CS187)</a:t>
            </a:r>
          </a:p>
        </p:txBody>
      </p:sp>
      <p:sp>
        <p:nvSpPr>
          <p:cNvPr id="5" name="TextBox 4"/>
          <p:cNvSpPr txBox="1"/>
          <p:nvPr/>
        </p:nvSpPr>
        <p:spPr>
          <a:xfrm>
            <a:off x="1234440" y="3429000"/>
            <a:ext cx="7406640" cy="685800"/>
          </a:xfrm>
          <a:prstGeom prst="rect">
            <a:avLst/>
          </a:prstGeom>
          <a:noFill/>
        </p:spPr>
        <p:txBody>
          <a:bodyPr wrap="square" lIns="36576" rIns="36576" tIns="18288" bIns="18288" anchor="t">
            <a:spAutoFit/>
          </a:bodyPr>
          <a:lstStyle/>
          <a:p>
            <a:pPr algn="ctr">
              <a:spcAft>
                <a:spcPts val="200"/>
              </a:spcAft>
            </a:pPr>
            <a:r>
              <a:rPr sz="1200" b="0" i="0">
                <a:solidFill>
                  <a:srgbClr val="5A6370"/>
                </a:solidFill>
                <a:latin typeface="Calibri"/>
              </a:rPr>
              <a:t>Guided by</a:t>
            </a:r>
          </a:p>
          <a:p>
            <a:pPr algn="ctr">
              <a:spcAft>
                <a:spcPts val="200"/>
              </a:spcAft>
            </a:pPr>
            <a:r>
              <a:rPr sz="1500" b="0" i="0">
                <a:solidFill>
                  <a:srgbClr val="1A1A1A"/>
                </a:solidFill>
                <a:latin typeface="Calibri"/>
              </a:rPr>
              <a:t>Dr. Anusha Preetham  (Associate Professor)</a:t>
            </a:r>
          </a:p>
        </p:txBody>
      </p:sp>
      <p:sp>
        <p:nvSpPr>
          <p:cNvPr id="6" name="TextBox 5"/>
          <p:cNvSpPr txBox="1"/>
          <p:nvPr/>
        </p:nvSpPr>
        <p:spPr>
          <a:xfrm>
            <a:off x="1234440" y="4343400"/>
            <a:ext cx="7406640" cy="822960"/>
          </a:xfrm>
          <a:prstGeom prst="rect">
            <a:avLst/>
          </a:prstGeom>
          <a:noFill/>
        </p:spPr>
        <p:txBody>
          <a:bodyPr wrap="square" lIns="36576" rIns="36576" tIns="18288" bIns="18288" anchor="t">
            <a:spAutoFit/>
          </a:bodyPr>
          <a:lstStyle/>
          <a:p>
            <a:pPr algn="ctr">
              <a:spcAft>
                <a:spcPts val="100"/>
              </a:spcAft>
            </a:pPr>
            <a:r>
              <a:rPr sz="1250" b="0" i="0">
                <a:solidFill>
                  <a:srgbClr val="5A6370"/>
                </a:solidFill>
                <a:latin typeface="Calibri"/>
              </a:rPr>
              <a:t>Department of Computer Science and Engineering</a:t>
            </a:r>
          </a:p>
          <a:p>
            <a:pPr algn="ctr">
              <a:spcAft>
                <a:spcPts val="100"/>
              </a:spcAft>
            </a:pPr>
            <a:r>
              <a:rPr sz="1250" b="0" i="0">
                <a:solidFill>
                  <a:srgbClr val="5A6370"/>
                </a:solidFill>
                <a:latin typeface="Calibri"/>
              </a:rPr>
              <a:t>Dayananda Sagar College of Engineering</a:t>
            </a:r>
          </a:p>
          <a:p>
            <a:pPr algn="ctr">
              <a:spcAft>
                <a:spcPts val="100"/>
              </a:spcAft>
            </a:pPr>
            <a:r>
              <a:rPr sz="1250" b="0" i="0">
                <a:solidFill>
                  <a:srgbClr val="5A6370"/>
                </a:solidFill>
                <a:latin typeface="Calibri"/>
              </a:rPr>
              <a:t>Final Year Project Evaluation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3200">
                <a:solidFill>
                  <a:srgbClr val="1A1A1A"/>
                </a:solidFill>
                <a:latin typeface="Calibri"/>
              </a:rPr>
              <a:t>Abstract</a:t>
            </a:r>
          </a:p>
        </p:txBody>
      </p:sp>
      <p:sp>
        <p:nvSpPr>
          <p:cNvPr id="3" name="TextBox 2"/>
          <p:cNvSpPr txBox="1"/>
          <p:nvPr/>
        </p:nvSpPr>
        <p:spPr>
          <a:xfrm>
            <a:off x="1234440" y="1097280"/>
            <a:ext cx="7498079" cy="502920"/>
          </a:xfrm>
          <a:prstGeom prst="rect">
            <a:avLst/>
          </a:prstGeom>
          <a:noFill/>
        </p:spPr>
        <p:txBody>
          <a:bodyPr wrap="square" lIns="36576" rIns="36576" tIns="18288" bIns="18288" anchor="t">
            <a:spAutoFit/>
          </a:bodyPr>
          <a:lstStyle/>
          <a:p>
            <a:pPr algn="l">
              <a:spcAft>
                <a:spcPts val="400"/>
              </a:spcAft>
            </a:pPr>
            <a:r>
              <a:rPr sz="1400" b="0" i="1">
                <a:solidFill>
                  <a:srgbClr val="5A6370"/>
                </a:solidFill>
                <a:latin typeface="Calibri"/>
              </a:rPr>
              <a:t>EcoConnectAI uses satellite images and AI to find mangroves, then studies them as a connected network to see which patches matter most.</a:t>
            </a:r>
          </a:p>
        </p:txBody>
      </p:sp>
      <p:sp>
        <p:nvSpPr>
          <p:cNvPr id="4" name="Oval 3"/>
          <p:cNvSpPr/>
          <p:nvPr/>
        </p:nvSpPr>
        <p:spPr>
          <a:xfrm>
            <a:off x="1234440" y="1828800"/>
            <a:ext cx="384048" cy="384048"/>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737360" y="1783080"/>
            <a:ext cx="3017520" cy="658368"/>
          </a:xfrm>
          <a:prstGeom prst="rect">
            <a:avLst/>
          </a:prstGeom>
          <a:noFill/>
        </p:spPr>
        <p:txBody>
          <a:bodyPr wrap="square" lIns="36576" rIns="36576" tIns="18288" bIns="18288" anchor="t">
            <a:spAutoFit/>
          </a:bodyPr>
          <a:lstStyle/>
          <a:p>
            <a:pPr algn="l">
              <a:spcAft>
                <a:spcPts val="0"/>
              </a:spcAft>
            </a:pPr>
            <a:r>
              <a:rPr sz="1400" b="1" i="0">
                <a:solidFill>
                  <a:srgbClr val="0D3889"/>
                </a:solidFill>
                <a:latin typeface="Calibri"/>
              </a:rPr>
              <a:t>Detect mangroves</a:t>
            </a:r>
          </a:p>
          <a:p>
            <a:pPr algn="l">
              <a:spcAft>
                <a:spcPts val="0"/>
              </a:spcAft>
            </a:pPr>
            <a:r>
              <a:rPr sz="1150" b="0" i="0">
                <a:solidFill>
                  <a:srgbClr val="1A1A1A"/>
                </a:solidFill>
                <a:latin typeface="Calibri"/>
              </a:rPr>
              <a:t>from Sentinel-1 satellite images, pixel by pixel</a:t>
            </a:r>
          </a:p>
        </p:txBody>
      </p:sp>
      <p:sp>
        <p:nvSpPr>
          <p:cNvPr id="6" name="Oval 5"/>
          <p:cNvSpPr/>
          <p:nvPr/>
        </p:nvSpPr>
        <p:spPr>
          <a:xfrm>
            <a:off x="1234440" y="2542032"/>
            <a:ext cx="384048" cy="384048"/>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737360" y="2496312"/>
            <a:ext cx="3017520" cy="658368"/>
          </a:xfrm>
          <a:prstGeom prst="rect">
            <a:avLst/>
          </a:prstGeom>
          <a:noFill/>
        </p:spPr>
        <p:txBody>
          <a:bodyPr wrap="square" lIns="36576" rIns="36576" tIns="18288" bIns="18288" anchor="t">
            <a:spAutoFit/>
          </a:bodyPr>
          <a:lstStyle/>
          <a:p>
            <a:pPr algn="l">
              <a:spcAft>
                <a:spcPts val="0"/>
              </a:spcAft>
            </a:pPr>
            <a:r>
              <a:rPr sz="1400" b="1" i="0">
                <a:solidFill>
                  <a:srgbClr val="0D3889"/>
                </a:solidFill>
                <a:latin typeface="Calibri"/>
              </a:rPr>
              <a:t>Divide into patches</a:t>
            </a:r>
          </a:p>
          <a:p>
            <a:pPr algn="l">
              <a:spcAft>
                <a:spcPts val="0"/>
              </a:spcAft>
            </a:pPr>
            <a:r>
              <a:rPr sz="1150" b="0" i="0">
                <a:solidFill>
                  <a:srgbClr val="1A1A1A"/>
                </a:solidFill>
                <a:latin typeface="Calibri"/>
              </a:rPr>
              <a:t>group nearby mangrove pixels into habitat patches</a:t>
            </a:r>
          </a:p>
        </p:txBody>
      </p:sp>
      <p:sp>
        <p:nvSpPr>
          <p:cNvPr id="8" name="Oval 7"/>
          <p:cNvSpPr/>
          <p:nvPr/>
        </p:nvSpPr>
        <p:spPr>
          <a:xfrm>
            <a:off x="1234440" y="3255263"/>
            <a:ext cx="384048" cy="384048"/>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737360" y="3209544"/>
            <a:ext cx="3017520" cy="658368"/>
          </a:xfrm>
          <a:prstGeom prst="rect">
            <a:avLst/>
          </a:prstGeom>
          <a:noFill/>
        </p:spPr>
        <p:txBody>
          <a:bodyPr wrap="square" lIns="36576" rIns="36576" tIns="18288" bIns="18288" anchor="t">
            <a:spAutoFit/>
          </a:bodyPr>
          <a:lstStyle/>
          <a:p>
            <a:pPr algn="l">
              <a:spcAft>
                <a:spcPts val="0"/>
              </a:spcAft>
            </a:pPr>
            <a:r>
              <a:rPr sz="1400" b="1" i="0">
                <a:solidFill>
                  <a:srgbClr val="0D3889"/>
                </a:solidFill>
                <a:latin typeface="Calibri"/>
              </a:rPr>
              <a:t>Connect the patches</a:t>
            </a:r>
          </a:p>
          <a:p>
            <a:pPr algn="l">
              <a:spcAft>
                <a:spcPts val="0"/>
              </a:spcAft>
            </a:pPr>
            <a:r>
              <a:rPr sz="1150" b="0" i="0">
                <a:solidFill>
                  <a:srgbClr val="1A1A1A"/>
                </a:solidFill>
                <a:latin typeface="Calibri"/>
              </a:rPr>
              <a:t>link nearby patches to form a network</a:t>
            </a:r>
          </a:p>
        </p:txBody>
      </p:sp>
      <p:sp>
        <p:nvSpPr>
          <p:cNvPr id="10" name="Oval 9"/>
          <p:cNvSpPr/>
          <p:nvPr/>
        </p:nvSpPr>
        <p:spPr>
          <a:xfrm>
            <a:off x="1234440" y="3968496"/>
            <a:ext cx="384048" cy="384048"/>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737360" y="3922776"/>
            <a:ext cx="3017520" cy="658368"/>
          </a:xfrm>
          <a:prstGeom prst="rect">
            <a:avLst/>
          </a:prstGeom>
          <a:noFill/>
        </p:spPr>
        <p:txBody>
          <a:bodyPr wrap="square" lIns="36576" rIns="36576" tIns="18288" bIns="18288" anchor="t">
            <a:spAutoFit/>
          </a:bodyPr>
          <a:lstStyle/>
          <a:p>
            <a:pPr algn="l">
              <a:spcAft>
                <a:spcPts val="0"/>
              </a:spcAft>
            </a:pPr>
            <a:r>
              <a:rPr sz="1400" b="1" i="0">
                <a:solidFill>
                  <a:srgbClr val="0D3889"/>
                </a:solidFill>
                <a:latin typeface="Calibri"/>
              </a:rPr>
              <a:t>Find important patches</a:t>
            </a:r>
          </a:p>
          <a:p>
            <a:pPr algn="l">
              <a:spcAft>
                <a:spcPts val="0"/>
              </a:spcAft>
            </a:pPr>
            <a:r>
              <a:rPr sz="1150" b="0" i="0">
                <a:solidFill>
                  <a:srgbClr val="1A1A1A"/>
                </a:solidFill>
                <a:latin typeface="Calibri"/>
              </a:rPr>
              <a:t>remove one patch at a time and see what is lost</a:t>
            </a:r>
          </a:p>
        </p:txBody>
      </p:sp>
      <p:sp>
        <p:nvSpPr>
          <p:cNvPr id="12" name="Oval 11"/>
          <p:cNvSpPr/>
          <p:nvPr/>
        </p:nvSpPr>
        <p:spPr>
          <a:xfrm>
            <a:off x="1234440" y="4681728"/>
            <a:ext cx="384048" cy="384048"/>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737360" y="4636008"/>
            <a:ext cx="3017520" cy="658368"/>
          </a:xfrm>
          <a:prstGeom prst="rect">
            <a:avLst/>
          </a:prstGeom>
          <a:noFill/>
        </p:spPr>
        <p:txBody>
          <a:bodyPr wrap="square" lIns="36576" rIns="36576" tIns="18288" bIns="18288" anchor="t">
            <a:spAutoFit/>
          </a:bodyPr>
          <a:lstStyle/>
          <a:p>
            <a:pPr algn="l">
              <a:spcAft>
                <a:spcPts val="0"/>
              </a:spcAft>
            </a:pPr>
            <a:r>
              <a:rPr sz="1400" b="1" i="0">
                <a:solidFill>
                  <a:srgbClr val="0D3889"/>
                </a:solidFill>
                <a:latin typeface="Calibri"/>
              </a:rPr>
              <a:t>Support decisions</a:t>
            </a:r>
          </a:p>
          <a:p>
            <a:pPr algn="l">
              <a:spcAft>
                <a:spcPts val="0"/>
              </a:spcAft>
            </a:pPr>
            <a:r>
              <a:rPr sz="1150" b="0" i="0">
                <a:solidFill>
                  <a:srgbClr val="1A1A1A"/>
                </a:solidFill>
                <a:latin typeface="Calibri"/>
              </a:rPr>
              <a:t>test patch loss and restoration on a web dashboard</a:t>
            </a:r>
          </a:p>
        </p:txBody>
      </p:sp>
      <p:pic>
        <p:nvPicPr>
          <p:cNvPr id="14" name="Picture 13" descr="dashboard_map.png"/>
          <p:cNvPicPr>
            <a:picLocks noChangeAspect="1"/>
          </p:cNvPicPr>
          <p:nvPr/>
        </p:nvPicPr>
        <p:blipFill>
          <a:blip r:embed="rId2"/>
          <a:stretch>
            <a:fillRect/>
          </a:stretch>
        </p:blipFill>
        <p:spPr>
          <a:xfrm>
            <a:off x="4892040" y="1783080"/>
            <a:ext cx="3886200" cy="2335056"/>
          </a:xfrm>
          <a:prstGeom prst="rect">
            <a:avLst/>
          </a:prstGeom>
          <a:ln w="12700">
            <a:solidFill>
              <a:srgbClr val="C9D3E6"/>
            </a:solidFill>
          </a:ln>
        </p:spPr>
      </p:pic>
      <p:sp>
        <p:nvSpPr>
          <p:cNvPr id="15" name="TextBox 14"/>
          <p:cNvSpPr txBox="1"/>
          <p:nvPr/>
        </p:nvSpPr>
        <p:spPr>
          <a:xfrm>
            <a:off x="4892040" y="4160520"/>
            <a:ext cx="3886200" cy="457200"/>
          </a:xfrm>
          <a:prstGeom prst="rect">
            <a:avLst/>
          </a:prstGeom>
          <a:noFill/>
        </p:spPr>
        <p:txBody>
          <a:bodyPr wrap="square" lIns="36576" rIns="36576" tIns="18288" bIns="18288" anchor="t">
            <a:spAutoFit/>
          </a:bodyPr>
          <a:lstStyle/>
          <a:p>
            <a:pPr algn="ctr">
              <a:spcAft>
                <a:spcPts val="400"/>
              </a:spcAft>
            </a:pPr>
            <a:r>
              <a:rPr sz="1000" b="0" i="1">
                <a:solidFill>
                  <a:srgbClr val="5A6370"/>
                </a:solidFill>
                <a:latin typeface="Calibri"/>
              </a:rPr>
              <a:t>Our working dashboard — mangrove patches and links, Vembanad–Kol (Kerala)</a:t>
            </a:r>
          </a:p>
        </p:txBody>
      </p:sp>
      <p:sp>
        <p:nvSpPr>
          <p:cNvPr id="16" name="Rounded Rectangle 15"/>
          <p:cNvSpPr/>
          <p:nvPr/>
        </p:nvSpPr>
        <p:spPr>
          <a:xfrm>
            <a:off x="1234440" y="5349240"/>
            <a:ext cx="7543800" cy="457200"/>
          </a:xfrm>
          <a:prstGeom prst="roundRect">
            <a:avLst>
              <a:gd name="adj" fmla="val 18000"/>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300" b="1" i="0">
                <a:solidFill>
                  <a:srgbClr val="FFD54A"/>
                </a:solidFill>
                <a:latin typeface="Calibri"/>
              </a:rPr>
              <a:t>In short:  </a:t>
            </a:r>
            <a:r>
              <a:rPr sz="1300" b="0" i="0">
                <a:solidFill>
                  <a:srgbClr val="FFFFFF"/>
                </a:solidFill>
                <a:latin typeface="Calibri"/>
              </a:rPr>
              <a:t>from “where are the mangroves?” to “which mangrove patch matters most?”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3200">
                <a:solidFill>
                  <a:srgbClr val="1A1A1A"/>
                </a:solidFill>
                <a:latin typeface="Calibri"/>
              </a:rPr>
              <a:t>Problem and Objective</a:t>
            </a:r>
          </a:p>
        </p:txBody>
      </p:sp>
      <p:sp>
        <p:nvSpPr>
          <p:cNvPr id="3" name="Rounded Rectangle 2"/>
          <p:cNvSpPr/>
          <p:nvPr/>
        </p:nvSpPr>
        <p:spPr>
          <a:xfrm>
            <a:off x="1188720" y="1143000"/>
            <a:ext cx="3657600" cy="288036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71600" y="1298448"/>
            <a:ext cx="384048" cy="384048"/>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5" name="TextBox 4"/>
          <p:cNvSpPr txBox="1"/>
          <p:nvPr/>
        </p:nvSpPr>
        <p:spPr>
          <a:xfrm>
            <a:off x="1874519" y="1307592"/>
            <a:ext cx="2834640" cy="411480"/>
          </a:xfrm>
          <a:prstGeom prst="rect">
            <a:avLst/>
          </a:prstGeom>
          <a:noFill/>
        </p:spPr>
        <p:txBody>
          <a:bodyPr wrap="square" lIns="36576" rIns="36576" tIns="18288" bIns="18288" anchor="t">
            <a:spAutoFit/>
          </a:bodyPr>
          <a:lstStyle/>
          <a:p>
            <a:pPr algn="l">
              <a:spcAft>
                <a:spcPts val="400"/>
              </a:spcAft>
            </a:pPr>
            <a:r>
              <a:rPr sz="1800" b="1" i="0">
                <a:solidFill>
                  <a:srgbClr val="D96A2B"/>
                </a:solidFill>
                <a:latin typeface="Calibri"/>
              </a:rPr>
              <a:t>Problem</a:t>
            </a:r>
          </a:p>
        </p:txBody>
      </p:sp>
      <p:sp>
        <p:nvSpPr>
          <p:cNvPr id="6" name="Oval 5"/>
          <p:cNvSpPr/>
          <p:nvPr/>
        </p:nvSpPr>
        <p:spPr>
          <a:xfrm>
            <a:off x="1417320" y="1965960"/>
            <a:ext cx="91440" cy="91440"/>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600200" y="1874519"/>
            <a:ext cx="3108960" cy="640080"/>
          </a:xfrm>
          <a:prstGeom prst="rect">
            <a:avLst/>
          </a:prstGeom>
          <a:noFill/>
        </p:spPr>
        <p:txBody>
          <a:bodyPr wrap="square" lIns="36576" rIns="36576" tIns="18288" bIns="18288" anchor="t">
            <a:spAutoFit/>
          </a:bodyPr>
          <a:lstStyle/>
          <a:p>
            <a:pPr algn="l">
              <a:spcAft>
                <a:spcPts val="400"/>
              </a:spcAft>
            </a:pPr>
            <a:r>
              <a:rPr sz="1250" b="0" i="0">
                <a:solidFill>
                  <a:srgbClr val="1A1A1A"/>
                </a:solidFill>
                <a:latin typeface="Calibri"/>
              </a:rPr>
              <a:t>Maps show where mangroves are — not which patches matter.</a:t>
            </a:r>
          </a:p>
        </p:txBody>
      </p:sp>
      <p:sp>
        <p:nvSpPr>
          <p:cNvPr id="8" name="Oval 7"/>
          <p:cNvSpPr/>
          <p:nvPr/>
        </p:nvSpPr>
        <p:spPr>
          <a:xfrm>
            <a:off x="1417320" y="2651760"/>
            <a:ext cx="91440" cy="91440"/>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00200" y="2560320"/>
            <a:ext cx="3108960" cy="640080"/>
          </a:xfrm>
          <a:prstGeom prst="rect">
            <a:avLst/>
          </a:prstGeom>
          <a:noFill/>
        </p:spPr>
        <p:txBody>
          <a:bodyPr wrap="square" lIns="36576" rIns="36576" tIns="18288" bIns="18288" anchor="t">
            <a:spAutoFit/>
          </a:bodyPr>
          <a:lstStyle/>
          <a:p>
            <a:pPr algn="l">
              <a:spcAft>
                <a:spcPts val="400"/>
              </a:spcAft>
            </a:pPr>
            <a:r>
              <a:rPr sz="1250" b="0" i="0">
                <a:solidFill>
                  <a:srgbClr val="1A1A1A"/>
                </a:solidFill>
                <a:latin typeface="Calibri"/>
              </a:rPr>
              <a:t>Two patches can look alike, but one may be the only link between others.</a:t>
            </a:r>
          </a:p>
        </p:txBody>
      </p:sp>
      <p:sp>
        <p:nvSpPr>
          <p:cNvPr id="10" name="Oval 9"/>
          <p:cNvSpPr/>
          <p:nvPr/>
        </p:nvSpPr>
        <p:spPr>
          <a:xfrm>
            <a:off x="1417320" y="3337560"/>
            <a:ext cx="91440" cy="91440"/>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00200" y="3246120"/>
            <a:ext cx="3108960" cy="640080"/>
          </a:xfrm>
          <a:prstGeom prst="rect">
            <a:avLst/>
          </a:prstGeom>
          <a:noFill/>
        </p:spPr>
        <p:txBody>
          <a:bodyPr wrap="square" lIns="36576" rIns="36576" tIns="18288" bIns="18288" anchor="t">
            <a:spAutoFit/>
          </a:bodyPr>
          <a:lstStyle/>
          <a:p>
            <a:pPr algn="l">
              <a:spcAft>
                <a:spcPts val="400"/>
              </a:spcAft>
            </a:pPr>
            <a:r>
              <a:rPr sz="1250" b="0" i="0">
                <a:solidFill>
                  <a:srgbClr val="1A1A1A"/>
                </a:solidFill>
                <a:latin typeface="Calibri"/>
              </a:rPr>
              <a:t>If that small link is lost, the whole network can break apart.</a:t>
            </a:r>
          </a:p>
        </p:txBody>
      </p:sp>
      <p:sp>
        <p:nvSpPr>
          <p:cNvPr id="12" name="Rounded Rectangle 11"/>
          <p:cNvSpPr/>
          <p:nvPr/>
        </p:nvSpPr>
        <p:spPr>
          <a:xfrm>
            <a:off x="5074920" y="1143000"/>
            <a:ext cx="3703320" cy="288036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257800" y="1298448"/>
            <a:ext cx="384048" cy="384048"/>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4" name="TextBox 13"/>
          <p:cNvSpPr txBox="1"/>
          <p:nvPr/>
        </p:nvSpPr>
        <p:spPr>
          <a:xfrm>
            <a:off x="5760720" y="1307592"/>
            <a:ext cx="2834640" cy="411480"/>
          </a:xfrm>
          <a:prstGeom prst="rect">
            <a:avLst/>
          </a:prstGeom>
          <a:noFill/>
        </p:spPr>
        <p:txBody>
          <a:bodyPr wrap="square" lIns="36576" rIns="36576" tIns="18288" bIns="18288" anchor="t">
            <a:spAutoFit/>
          </a:bodyPr>
          <a:lstStyle/>
          <a:p>
            <a:pPr algn="l">
              <a:spcAft>
                <a:spcPts val="400"/>
              </a:spcAft>
            </a:pPr>
            <a:r>
              <a:rPr sz="1800" b="1" i="0">
                <a:solidFill>
                  <a:srgbClr val="0E9E74"/>
                </a:solidFill>
                <a:latin typeface="Calibri"/>
              </a:rPr>
              <a:t>Objectives</a:t>
            </a:r>
          </a:p>
        </p:txBody>
      </p:sp>
      <p:sp>
        <p:nvSpPr>
          <p:cNvPr id="15" name="Rounded Rectangle 14"/>
          <p:cNvSpPr/>
          <p:nvPr/>
        </p:nvSpPr>
        <p:spPr>
          <a:xfrm>
            <a:off x="5303520" y="1828800"/>
            <a:ext cx="3246120" cy="438912"/>
          </a:xfrm>
          <a:prstGeom prst="roundRect">
            <a:avLst>
              <a:gd name="adj" fmla="val 12000"/>
            </a:avLst>
          </a:prstGeom>
          <a:solidFill>
            <a:srgbClr val="FFFFFF"/>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Detect mangrove habitat</a:t>
            </a:r>
          </a:p>
        </p:txBody>
      </p:sp>
      <p:sp>
        <p:nvSpPr>
          <p:cNvPr id="16" name="Rounded Rectangle 15"/>
          <p:cNvSpPr/>
          <p:nvPr/>
        </p:nvSpPr>
        <p:spPr>
          <a:xfrm>
            <a:off x="5303520" y="2359152"/>
            <a:ext cx="3246120" cy="438912"/>
          </a:xfrm>
          <a:prstGeom prst="roundRect">
            <a:avLst>
              <a:gd name="adj" fmla="val 12000"/>
            </a:avLst>
          </a:prstGeom>
          <a:solidFill>
            <a:srgbClr val="FFFFFF"/>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Identify habitat patches</a:t>
            </a:r>
          </a:p>
        </p:txBody>
      </p:sp>
      <p:sp>
        <p:nvSpPr>
          <p:cNvPr id="17" name="Rounded Rectangle 16"/>
          <p:cNvSpPr/>
          <p:nvPr/>
        </p:nvSpPr>
        <p:spPr>
          <a:xfrm>
            <a:off x="5303520" y="2889504"/>
            <a:ext cx="3246120" cy="438912"/>
          </a:xfrm>
          <a:prstGeom prst="roundRect">
            <a:avLst>
              <a:gd name="adj" fmla="val 12000"/>
            </a:avLst>
          </a:prstGeom>
          <a:solidFill>
            <a:srgbClr val="FFFFFF"/>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Find important connecting patches</a:t>
            </a:r>
          </a:p>
        </p:txBody>
      </p:sp>
      <p:sp>
        <p:nvSpPr>
          <p:cNvPr id="18" name="Rounded Rectangle 17"/>
          <p:cNvSpPr/>
          <p:nvPr/>
        </p:nvSpPr>
        <p:spPr>
          <a:xfrm>
            <a:off x="5303520" y="3419856"/>
            <a:ext cx="3246120" cy="438912"/>
          </a:xfrm>
          <a:prstGeom prst="roundRect">
            <a:avLst>
              <a:gd name="adj" fmla="val 12000"/>
            </a:avLst>
          </a:prstGeom>
          <a:solidFill>
            <a:srgbClr val="FFFFFF"/>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Support protection &amp; restoration decisions</a:t>
            </a:r>
          </a:p>
        </p:txBody>
      </p:sp>
      <p:sp>
        <p:nvSpPr>
          <p:cNvPr id="19" name="TextBox 18"/>
          <p:cNvSpPr txBox="1"/>
          <p:nvPr/>
        </p:nvSpPr>
        <p:spPr>
          <a:xfrm>
            <a:off x="1188720" y="4206240"/>
            <a:ext cx="1737360" cy="365760"/>
          </a:xfrm>
          <a:prstGeom prst="rect">
            <a:avLst/>
          </a:prstGeom>
          <a:noFill/>
        </p:spPr>
        <p:txBody>
          <a:bodyPr wrap="square" lIns="36576" rIns="36576" tIns="18288" bIns="18288" anchor="t">
            <a:spAutoFit/>
          </a:bodyPr>
          <a:lstStyle/>
          <a:p>
            <a:pPr algn="l">
              <a:spcAft>
                <a:spcPts val="400"/>
              </a:spcAft>
            </a:pPr>
            <a:r>
              <a:rPr sz="1250" b="1" i="0">
                <a:solidFill>
                  <a:srgbClr val="5A6370"/>
                </a:solidFill>
                <a:latin typeface="Calibri"/>
              </a:rPr>
              <a:t>Existing approach</a:t>
            </a:r>
          </a:p>
        </p:txBody>
      </p:sp>
      <p:sp>
        <p:nvSpPr>
          <p:cNvPr id="20" name="Rounded Rectangle 19"/>
          <p:cNvSpPr/>
          <p:nvPr/>
        </p:nvSpPr>
        <p:spPr>
          <a:xfrm>
            <a:off x="2926080" y="4160520"/>
            <a:ext cx="1554480" cy="411480"/>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1A1A1A"/>
                </a:solidFill>
                <a:latin typeface="Calibri"/>
              </a:rPr>
              <a:t>Satellite map</a:t>
            </a:r>
          </a:p>
        </p:txBody>
      </p:sp>
      <p:sp>
        <p:nvSpPr>
          <p:cNvPr id="21" name="Right Arrow 20"/>
          <p:cNvSpPr/>
          <p:nvPr/>
        </p:nvSpPr>
        <p:spPr>
          <a:xfrm>
            <a:off x="4544568" y="4261104"/>
            <a:ext cx="256032"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4864608" y="4160520"/>
            <a:ext cx="1737360" cy="411480"/>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1A1A1A"/>
                </a:solidFill>
                <a:latin typeface="Calibri"/>
              </a:rPr>
              <a:t>Where is habitat?</a:t>
            </a:r>
          </a:p>
        </p:txBody>
      </p:sp>
      <p:sp>
        <p:nvSpPr>
          <p:cNvPr id="23" name="TextBox 22"/>
          <p:cNvSpPr txBox="1"/>
          <p:nvPr/>
        </p:nvSpPr>
        <p:spPr>
          <a:xfrm>
            <a:off x="1188720" y="4800600"/>
            <a:ext cx="1737360" cy="365760"/>
          </a:xfrm>
          <a:prstGeom prst="rect">
            <a:avLst/>
          </a:prstGeom>
          <a:noFill/>
        </p:spPr>
        <p:txBody>
          <a:bodyPr wrap="square" lIns="36576" rIns="36576" tIns="18288" bIns="18288" anchor="t">
            <a:spAutoFit/>
          </a:bodyPr>
          <a:lstStyle/>
          <a:p>
            <a:pPr algn="l">
              <a:spcAft>
                <a:spcPts val="400"/>
              </a:spcAft>
            </a:pPr>
            <a:r>
              <a:rPr sz="1250" b="1" i="0">
                <a:solidFill>
                  <a:srgbClr val="0D3889"/>
                </a:solidFill>
                <a:latin typeface="Calibri"/>
              </a:rPr>
              <a:t>Our approach</a:t>
            </a:r>
          </a:p>
        </p:txBody>
      </p:sp>
      <p:sp>
        <p:nvSpPr>
          <p:cNvPr id="24" name="Rounded Rectangle 23"/>
          <p:cNvSpPr/>
          <p:nvPr/>
        </p:nvSpPr>
        <p:spPr>
          <a:xfrm>
            <a:off x="2926080" y="4754880"/>
            <a:ext cx="1188720" cy="50292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D3889"/>
                </a:solidFill>
                <a:latin typeface="Calibri"/>
              </a:rPr>
              <a:t>Satellite map</a:t>
            </a:r>
          </a:p>
        </p:txBody>
      </p:sp>
      <p:sp>
        <p:nvSpPr>
          <p:cNvPr id="25" name="Right Arrow 24"/>
          <p:cNvSpPr/>
          <p:nvPr/>
        </p:nvSpPr>
        <p:spPr>
          <a:xfrm>
            <a:off x="4142232" y="4910328"/>
            <a:ext cx="182880" cy="182880"/>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325112" y="4754880"/>
            <a:ext cx="1188720" cy="50292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D3889"/>
                </a:solidFill>
                <a:latin typeface="Calibri"/>
              </a:rPr>
              <a:t>Where is habitat?</a:t>
            </a:r>
          </a:p>
        </p:txBody>
      </p:sp>
      <p:sp>
        <p:nvSpPr>
          <p:cNvPr id="27" name="Right Arrow 26"/>
          <p:cNvSpPr/>
          <p:nvPr/>
        </p:nvSpPr>
        <p:spPr>
          <a:xfrm>
            <a:off x="5541264" y="4910328"/>
            <a:ext cx="182880" cy="182880"/>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5724144" y="4754880"/>
            <a:ext cx="1188720" cy="50292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D3889"/>
                </a:solidFill>
                <a:latin typeface="Calibri"/>
              </a:rPr>
              <a:t>How is it connected?</a:t>
            </a:r>
          </a:p>
        </p:txBody>
      </p:sp>
      <p:sp>
        <p:nvSpPr>
          <p:cNvPr id="29" name="Right Arrow 28"/>
          <p:cNvSpPr/>
          <p:nvPr/>
        </p:nvSpPr>
        <p:spPr>
          <a:xfrm>
            <a:off x="6940296" y="4910328"/>
            <a:ext cx="182880" cy="182880"/>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7123176" y="4754880"/>
            <a:ext cx="1645920" cy="502920"/>
          </a:xfrm>
          <a:prstGeom prst="roundRect">
            <a:avLst>
              <a:gd name="adj" fmla="val 12000"/>
            </a:avLst>
          </a:prstGeom>
          <a:solidFill>
            <a:srgbClr val="0D3889"/>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Which patches matter?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3200">
                <a:solidFill>
                  <a:srgbClr val="1A1A1A"/>
                </a:solidFill>
                <a:latin typeface="Calibri"/>
              </a:rPr>
              <a:t>Data and Methodology</a:t>
            </a:r>
          </a:p>
        </p:txBody>
      </p:sp>
      <p:sp>
        <p:nvSpPr>
          <p:cNvPr id="3" name="Rounded Rectangle 2"/>
          <p:cNvSpPr/>
          <p:nvPr/>
        </p:nvSpPr>
        <p:spPr>
          <a:xfrm>
            <a:off x="1188720" y="1188720"/>
            <a:ext cx="420624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25880" y="1463040"/>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847088" y="1280160"/>
            <a:ext cx="3474720" cy="822960"/>
          </a:xfrm>
          <a:prstGeom prst="rect">
            <a:avLst/>
          </a:prstGeom>
          <a:noFill/>
        </p:spPr>
        <p:txBody>
          <a:bodyPr wrap="square" lIns="36576" rIns="36576" tIns="18288" bIns="18288" anchor="t">
            <a:spAutoFit/>
          </a:bodyPr>
          <a:lstStyle/>
          <a:p>
            <a:pPr algn="l">
              <a:spcAft>
                <a:spcPts val="100"/>
              </a:spcAft>
            </a:pPr>
            <a:r>
              <a:rPr sz="1400" b="1" i="0">
                <a:solidFill>
                  <a:srgbClr val="0D3889"/>
                </a:solidFill>
                <a:latin typeface="Calibri"/>
              </a:rPr>
              <a:t>Sentinel-1 satellite radar</a:t>
            </a:r>
          </a:p>
          <a:p>
            <a:pPr algn="l">
              <a:spcAft>
                <a:spcPts val="100"/>
              </a:spcAft>
            </a:pPr>
            <a:r>
              <a:rPr sz="1100" b="0" i="0">
                <a:solidFill>
                  <a:srgbClr val="1A1A1A"/>
                </a:solidFill>
                <a:latin typeface="Calibri"/>
              </a:rPr>
              <a:t>Free ESA images; radar sees through cloud (VV + VH, 10 m)</a:t>
            </a:r>
          </a:p>
        </p:txBody>
      </p:sp>
      <p:sp>
        <p:nvSpPr>
          <p:cNvPr id="6" name="Rounded Rectangle 5"/>
          <p:cNvSpPr/>
          <p:nvPr/>
        </p:nvSpPr>
        <p:spPr>
          <a:xfrm>
            <a:off x="1188720" y="2258568"/>
            <a:ext cx="420624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25880" y="2532887"/>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8" name="TextBox 7"/>
          <p:cNvSpPr txBox="1"/>
          <p:nvPr/>
        </p:nvSpPr>
        <p:spPr>
          <a:xfrm>
            <a:off x="1847088" y="2350008"/>
            <a:ext cx="3474720" cy="822960"/>
          </a:xfrm>
          <a:prstGeom prst="rect">
            <a:avLst/>
          </a:prstGeom>
          <a:noFill/>
        </p:spPr>
        <p:txBody>
          <a:bodyPr wrap="square" lIns="36576" rIns="36576" tIns="18288" bIns="18288" anchor="t">
            <a:spAutoFit/>
          </a:bodyPr>
          <a:lstStyle/>
          <a:p>
            <a:pPr algn="l">
              <a:spcAft>
                <a:spcPts val="100"/>
              </a:spcAft>
            </a:pPr>
            <a:r>
              <a:rPr sz="1400" b="1" i="0">
                <a:solidFill>
                  <a:srgbClr val="0D3889"/>
                </a:solidFill>
                <a:latin typeface="Calibri"/>
              </a:rPr>
              <a:t>4 coastal study areas</a:t>
            </a:r>
          </a:p>
          <a:p>
            <a:pPr algn="l">
              <a:spcAft>
                <a:spcPts val="100"/>
              </a:spcAft>
            </a:pPr>
            <a:r>
              <a:rPr sz="1100" b="0" i="0">
                <a:solidFill>
                  <a:srgbClr val="1A1A1A"/>
                </a:solidFill>
                <a:latin typeface="Calibri"/>
              </a:rPr>
              <a:t>Vembanad–Kol (Kerala) · Sundarbans (WB) · Gulf of Mannar (TN) · Bhitarkanika (Odisha)</a:t>
            </a:r>
          </a:p>
        </p:txBody>
      </p:sp>
      <p:sp>
        <p:nvSpPr>
          <p:cNvPr id="9" name="Rounded Rectangle 8"/>
          <p:cNvSpPr/>
          <p:nvPr/>
        </p:nvSpPr>
        <p:spPr>
          <a:xfrm>
            <a:off x="1188720" y="3328415"/>
            <a:ext cx="420624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325880" y="3602735"/>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1" name="TextBox 10"/>
          <p:cNvSpPr txBox="1"/>
          <p:nvPr/>
        </p:nvSpPr>
        <p:spPr>
          <a:xfrm>
            <a:off x="1847088" y="3419856"/>
            <a:ext cx="3474720" cy="822960"/>
          </a:xfrm>
          <a:prstGeom prst="rect">
            <a:avLst/>
          </a:prstGeom>
          <a:noFill/>
        </p:spPr>
        <p:txBody>
          <a:bodyPr wrap="square" lIns="36576" rIns="36576" tIns="18288" bIns="18288" anchor="t">
            <a:spAutoFit/>
          </a:bodyPr>
          <a:lstStyle/>
          <a:p>
            <a:pPr algn="l">
              <a:spcAft>
                <a:spcPts val="100"/>
              </a:spcAft>
            </a:pPr>
            <a:r>
              <a:rPr sz="1400" b="1" i="0">
                <a:solidFill>
                  <a:srgbClr val="0D3889"/>
                </a:solidFill>
                <a:latin typeface="Calibri"/>
              </a:rPr>
              <a:t>Global Mangrove Watch 2020</a:t>
            </a:r>
          </a:p>
          <a:p>
            <a:pPr algn="l">
              <a:spcAft>
                <a:spcPts val="100"/>
              </a:spcAft>
            </a:pPr>
            <a:r>
              <a:rPr sz="1100" b="0" i="0">
                <a:solidFill>
                  <a:srgbClr val="1A1A1A"/>
                </a:solidFill>
                <a:latin typeface="Calibri"/>
              </a:rPr>
              <a:t>Used as reference labels to train the model — not field-verified</a:t>
            </a:r>
          </a:p>
        </p:txBody>
      </p:sp>
      <p:sp>
        <p:nvSpPr>
          <p:cNvPr id="12" name="Rounded Rectangle 11"/>
          <p:cNvSpPr/>
          <p:nvPr/>
        </p:nvSpPr>
        <p:spPr>
          <a:xfrm>
            <a:off x="1188720" y="4398264"/>
            <a:ext cx="420624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25880" y="4672583"/>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4" name="TextBox 13"/>
          <p:cNvSpPr txBox="1"/>
          <p:nvPr/>
        </p:nvSpPr>
        <p:spPr>
          <a:xfrm>
            <a:off x="1847088" y="4489703"/>
            <a:ext cx="3474720" cy="822960"/>
          </a:xfrm>
          <a:prstGeom prst="rect">
            <a:avLst/>
          </a:prstGeom>
          <a:noFill/>
        </p:spPr>
        <p:txBody>
          <a:bodyPr wrap="square" lIns="36576" rIns="36576" tIns="18288" bIns="18288" anchor="t">
            <a:spAutoFit/>
          </a:bodyPr>
          <a:lstStyle/>
          <a:p>
            <a:pPr algn="l">
              <a:spcAft>
                <a:spcPts val="100"/>
              </a:spcAft>
            </a:pPr>
            <a:r>
              <a:rPr sz="1400" b="1" i="0">
                <a:solidFill>
                  <a:srgbClr val="0D3889"/>
                </a:solidFill>
                <a:latin typeface="Calibri"/>
              </a:rPr>
              <a:t>1,373 image tiles (256 × 256)</a:t>
            </a:r>
          </a:p>
          <a:p>
            <a:pPr algn="l">
              <a:spcAft>
                <a:spcPts val="100"/>
              </a:spcAft>
            </a:pPr>
            <a:r>
              <a:rPr sz="1100" b="0" i="0">
                <a:solidFill>
                  <a:srgbClr val="1A1A1A"/>
                </a:solidFill>
                <a:latin typeface="Calibri"/>
              </a:rPr>
              <a:t>Current run: 800 training · 195 validation · 200 test</a:t>
            </a:r>
          </a:p>
        </p:txBody>
      </p:sp>
      <p:sp>
        <p:nvSpPr>
          <p:cNvPr id="15" name="Rounded Rectangle 14"/>
          <p:cNvSpPr/>
          <p:nvPr/>
        </p:nvSpPr>
        <p:spPr>
          <a:xfrm>
            <a:off x="5715000" y="1188720"/>
            <a:ext cx="3063240" cy="65836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D3889"/>
                </a:solidFill>
                <a:latin typeface="Calibri"/>
              </a:rPr>
              <a:t>Satellite images</a:t>
            </a:r>
          </a:p>
          <a:p>
            <a:pPr algn="ctr"/>
            <a:r>
              <a:rPr sz="1000">
                <a:solidFill>
                  <a:srgbClr val="5A6370"/>
                </a:solidFill>
                <a:latin typeface="Calibri"/>
              </a:rPr>
              <a:t>Sentinel-1, 2020</a:t>
            </a:r>
          </a:p>
        </p:txBody>
      </p:sp>
      <p:sp>
        <p:nvSpPr>
          <p:cNvPr id="16" name="Down Arrow 15"/>
          <p:cNvSpPr/>
          <p:nvPr/>
        </p:nvSpPr>
        <p:spPr>
          <a:xfrm>
            <a:off x="7132320" y="1883664"/>
            <a:ext cx="219456" cy="182880"/>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5715000" y="2075688"/>
            <a:ext cx="3063240" cy="65836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D3889"/>
                </a:solidFill>
                <a:latin typeface="Calibri"/>
              </a:rPr>
              <a:t>Image tiles</a:t>
            </a:r>
          </a:p>
          <a:p>
            <a:pPr algn="ctr"/>
            <a:r>
              <a:rPr sz="1000">
                <a:solidFill>
                  <a:srgbClr val="5A6370"/>
                </a:solidFill>
                <a:latin typeface="Calibri"/>
              </a:rPr>
              <a:t>256 × 256 pixels</a:t>
            </a:r>
          </a:p>
        </p:txBody>
      </p:sp>
      <p:sp>
        <p:nvSpPr>
          <p:cNvPr id="18" name="Down Arrow 17"/>
          <p:cNvSpPr/>
          <p:nvPr/>
        </p:nvSpPr>
        <p:spPr>
          <a:xfrm>
            <a:off x="7132320" y="2770632"/>
            <a:ext cx="219456" cy="182880"/>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5715000" y="2962656"/>
            <a:ext cx="3063240" cy="65836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D3889"/>
                </a:solidFill>
                <a:latin typeface="Calibri"/>
              </a:rPr>
              <a:t>Reference labels</a:t>
            </a:r>
          </a:p>
          <a:p>
            <a:pPr algn="ctr"/>
            <a:r>
              <a:rPr sz="1000">
                <a:solidFill>
                  <a:srgbClr val="5A6370"/>
                </a:solidFill>
                <a:latin typeface="Calibri"/>
              </a:rPr>
              <a:t>Global Mangrove Watch</a:t>
            </a:r>
          </a:p>
        </p:txBody>
      </p:sp>
      <p:sp>
        <p:nvSpPr>
          <p:cNvPr id="20" name="Down Arrow 19"/>
          <p:cNvSpPr/>
          <p:nvPr/>
        </p:nvSpPr>
        <p:spPr>
          <a:xfrm>
            <a:off x="7132320" y="3657600"/>
            <a:ext cx="219456" cy="182880"/>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5715000" y="3849624"/>
            <a:ext cx="3063240" cy="65836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D3889"/>
                </a:solidFill>
                <a:latin typeface="Calibri"/>
              </a:rPr>
              <a:t>AI model</a:t>
            </a:r>
          </a:p>
          <a:p>
            <a:pPr algn="ctr"/>
            <a:r>
              <a:rPr sz="1000">
                <a:solidFill>
                  <a:srgbClr val="5A6370"/>
                </a:solidFill>
                <a:latin typeface="Calibri"/>
              </a:rPr>
              <a:t>learns what mangrove looks like</a:t>
            </a:r>
          </a:p>
        </p:txBody>
      </p:sp>
      <p:sp>
        <p:nvSpPr>
          <p:cNvPr id="22" name="Down Arrow 21"/>
          <p:cNvSpPr/>
          <p:nvPr/>
        </p:nvSpPr>
        <p:spPr>
          <a:xfrm>
            <a:off x="7132320" y="4544568"/>
            <a:ext cx="219456" cy="182880"/>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5715000" y="4736592"/>
            <a:ext cx="3063240" cy="658368"/>
          </a:xfrm>
          <a:prstGeom prst="roundRect">
            <a:avLst>
              <a:gd name="adj" fmla="val 12000"/>
            </a:avLst>
          </a:prstGeom>
          <a:solidFill>
            <a:srgbClr val="0D3889"/>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FFFFFF"/>
                </a:solidFill>
                <a:latin typeface="Calibri"/>
              </a:rPr>
              <a:t>Mangrove probability map</a:t>
            </a:r>
          </a:p>
          <a:p>
            <a:pPr algn="ctr"/>
            <a:r>
              <a:rPr sz="1000">
                <a:solidFill>
                  <a:srgbClr val="FFFFFF"/>
                </a:solidFill>
                <a:latin typeface="Calibri"/>
              </a:rPr>
              <a:t>chance of mangrove per pixel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3200">
                <a:solidFill>
                  <a:srgbClr val="1A1A1A"/>
                </a:solidFill>
                <a:latin typeface="Calibri"/>
              </a:rPr>
              <a:t>System Architecture</a:t>
            </a:r>
          </a:p>
        </p:txBody>
      </p:sp>
      <p:sp>
        <p:nvSpPr>
          <p:cNvPr id="3" name="TextBox 2"/>
          <p:cNvSpPr txBox="1"/>
          <p:nvPr/>
        </p:nvSpPr>
        <p:spPr>
          <a:xfrm>
            <a:off x="1188720" y="1051560"/>
            <a:ext cx="457200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How the analysis works</a:t>
            </a:r>
          </a:p>
        </p:txBody>
      </p:sp>
      <p:sp>
        <p:nvSpPr>
          <p:cNvPr id="4" name="Rounded Rectangle 3"/>
          <p:cNvSpPr/>
          <p:nvPr/>
        </p:nvSpPr>
        <p:spPr>
          <a:xfrm>
            <a:off x="1188720" y="1417320"/>
            <a:ext cx="2148840" cy="56692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Sentinel-1 satellite data</a:t>
            </a:r>
          </a:p>
        </p:txBody>
      </p:sp>
      <p:sp>
        <p:nvSpPr>
          <p:cNvPr id="5" name="Right Arrow 4"/>
          <p:cNvSpPr/>
          <p:nvPr/>
        </p:nvSpPr>
        <p:spPr>
          <a:xfrm>
            <a:off x="3502152" y="1600200"/>
            <a:ext cx="237744"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3886200" y="1417320"/>
            <a:ext cx="2148840" cy="56692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Preprocessing</a:t>
            </a:r>
          </a:p>
        </p:txBody>
      </p:sp>
      <p:sp>
        <p:nvSpPr>
          <p:cNvPr id="7" name="Right Arrow 6"/>
          <p:cNvSpPr/>
          <p:nvPr/>
        </p:nvSpPr>
        <p:spPr>
          <a:xfrm>
            <a:off x="6199631" y="1600200"/>
            <a:ext cx="237744"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583680" y="1417320"/>
            <a:ext cx="2148840" cy="56692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AI mangrove detection</a:t>
            </a:r>
          </a:p>
        </p:txBody>
      </p:sp>
      <p:sp>
        <p:nvSpPr>
          <p:cNvPr id="9" name="Down Arrow 8"/>
          <p:cNvSpPr/>
          <p:nvPr/>
        </p:nvSpPr>
        <p:spPr>
          <a:xfrm>
            <a:off x="7548372" y="2075688"/>
            <a:ext cx="219456" cy="237744"/>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583680" y="2377440"/>
            <a:ext cx="2148840" cy="56692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Mangrove probability map</a:t>
            </a:r>
          </a:p>
        </p:txBody>
      </p:sp>
      <p:sp>
        <p:nvSpPr>
          <p:cNvPr id="11" name="Left Arrow 10"/>
          <p:cNvSpPr/>
          <p:nvPr/>
        </p:nvSpPr>
        <p:spPr>
          <a:xfrm>
            <a:off x="6181344" y="2560320"/>
            <a:ext cx="237744" cy="201168"/>
          </a:xfrm>
          <a:prstGeom prst="lef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3886200" y="2377440"/>
            <a:ext cx="2148840" cy="56692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Habitat patch extraction</a:t>
            </a:r>
          </a:p>
        </p:txBody>
      </p:sp>
      <p:sp>
        <p:nvSpPr>
          <p:cNvPr id="13" name="Left Arrow 12"/>
          <p:cNvSpPr/>
          <p:nvPr/>
        </p:nvSpPr>
        <p:spPr>
          <a:xfrm>
            <a:off x="3483864" y="2560320"/>
            <a:ext cx="237744" cy="201168"/>
          </a:xfrm>
          <a:prstGeom prst="lef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188720" y="2377440"/>
            <a:ext cx="2148840" cy="56692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Connectivity network</a:t>
            </a:r>
          </a:p>
        </p:txBody>
      </p:sp>
      <p:sp>
        <p:nvSpPr>
          <p:cNvPr id="15" name="Down Arrow 14"/>
          <p:cNvSpPr/>
          <p:nvPr/>
        </p:nvSpPr>
        <p:spPr>
          <a:xfrm>
            <a:off x="2153412" y="3035808"/>
            <a:ext cx="219456" cy="237744"/>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1188720" y="3337560"/>
            <a:ext cx="2148840" cy="56692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Critical patches + what-if</a:t>
            </a:r>
          </a:p>
        </p:txBody>
      </p:sp>
      <p:sp>
        <p:nvSpPr>
          <p:cNvPr id="17" name="Right Arrow 16"/>
          <p:cNvSpPr/>
          <p:nvPr/>
        </p:nvSpPr>
        <p:spPr>
          <a:xfrm>
            <a:off x="3502152" y="3520440"/>
            <a:ext cx="237744"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886200" y="3337560"/>
            <a:ext cx="2148840" cy="566928"/>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D3889"/>
                </a:solidFill>
                <a:latin typeface="Calibri"/>
              </a:rPr>
              <a:t>Restoration priority</a:t>
            </a:r>
          </a:p>
        </p:txBody>
      </p:sp>
      <p:sp>
        <p:nvSpPr>
          <p:cNvPr id="19" name="Right Arrow 18"/>
          <p:cNvSpPr/>
          <p:nvPr/>
        </p:nvSpPr>
        <p:spPr>
          <a:xfrm>
            <a:off x="6199631" y="3520440"/>
            <a:ext cx="237744"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583680" y="3337560"/>
            <a:ext cx="2148840" cy="566928"/>
          </a:xfrm>
          <a:prstGeom prst="roundRect">
            <a:avLst>
              <a:gd name="adj" fmla="val 12000"/>
            </a:avLst>
          </a:prstGeom>
          <a:solidFill>
            <a:srgbClr val="0D3889"/>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FFFFFF"/>
                </a:solidFill>
                <a:latin typeface="Calibri"/>
              </a:rPr>
              <a:t>Web dashboard</a:t>
            </a:r>
          </a:p>
        </p:txBody>
      </p:sp>
      <p:sp>
        <p:nvSpPr>
          <p:cNvPr id="21" name="TextBox 20"/>
          <p:cNvSpPr txBox="1"/>
          <p:nvPr/>
        </p:nvSpPr>
        <p:spPr>
          <a:xfrm>
            <a:off x="1188720" y="4160520"/>
            <a:ext cx="4572000" cy="320040"/>
          </a:xfrm>
          <a:prstGeom prst="rect">
            <a:avLst/>
          </a:prstGeom>
          <a:noFill/>
        </p:spPr>
        <p:txBody>
          <a:bodyPr wrap="square" lIns="36576" rIns="36576" tIns="18288" bIns="18288" anchor="t">
            <a:spAutoFit/>
          </a:bodyPr>
          <a:lstStyle/>
          <a:p>
            <a:pPr algn="l">
              <a:spcAft>
                <a:spcPts val="400"/>
              </a:spcAft>
            </a:pPr>
            <a:r>
              <a:rPr sz="1400" b="1" i="0">
                <a:solidFill>
                  <a:srgbClr val="0E9E74"/>
                </a:solidFill>
                <a:latin typeface="Calibri"/>
              </a:rPr>
              <a:t>Software that runs it</a:t>
            </a:r>
          </a:p>
        </p:txBody>
      </p:sp>
      <p:sp>
        <p:nvSpPr>
          <p:cNvPr id="22" name="Rounded Rectangle 21"/>
          <p:cNvSpPr/>
          <p:nvPr/>
        </p:nvSpPr>
        <p:spPr>
          <a:xfrm>
            <a:off x="1188720" y="4526280"/>
            <a:ext cx="1371600" cy="713232"/>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9E74"/>
                </a:solidFill>
                <a:latin typeface="Calibri"/>
              </a:rPr>
              <a:t>Python + PyTorch</a:t>
            </a:r>
          </a:p>
          <a:p>
            <a:pPr algn="ctr"/>
            <a:r>
              <a:rPr sz="950">
                <a:solidFill>
                  <a:srgbClr val="5A6370"/>
                </a:solidFill>
                <a:latin typeface="Calibri"/>
              </a:rPr>
              <a:t>AI model</a:t>
            </a:r>
          </a:p>
        </p:txBody>
      </p:sp>
      <p:sp>
        <p:nvSpPr>
          <p:cNvPr id="23" name="Right Arrow 22"/>
          <p:cNvSpPr/>
          <p:nvPr/>
        </p:nvSpPr>
        <p:spPr>
          <a:xfrm>
            <a:off x="2587751" y="4791456"/>
            <a:ext cx="128016" cy="164592"/>
          </a:xfrm>
          <a:prstGeom prst="right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2743200" y="4526280"/>
            <a:ext cx="1371600" cy="713232"/>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9E74"/>
                </a:solidFill>
                <a:latin typeface="Calibri"/>
              </a:rPr>
              <a:t>FastAPI</a:t>
            </a:r>
          </a:p>
          <a:p>
            <a:pPr algn="ctr"/>
            <a:r>
              <a:rPr sz="950">
                <a:solidFill>
                  <a:srgbClr val="5A6370"/>
                </a:solidFill>
                <a:latin typeface="Calibri"/>
              </a:rPr>
              <a:t>backend server</a:t>
            </a:r>
          </a:p>
        </p:txBody>
      </p:sp>
      <p:sp>
        <p:nvSpPr>
          <p:cNvPr id="25" name="Right Arrow 24"/>
          <p:cNvSpPr/>
          <p:nvPr/>
        </p:nvSpPr>
        <p:spPr>
          <a:xfrm>
            <a:off x="4142232" y="4791456"/>
            <a:ext cx="128016" cy="164592"/>
          </a:xfrm>
          <a:prstGeom prst="right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297680" y="4526280"/>
            <a:ext cx="1371600" cy="713232"/>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9E74"/>
                </a:solidFill>
                <a:latin typeface="Calibri"/>
              </a:rPr>
              <a:t>SQLite</a:t>
            </a:r>
          </a:p>
          <a:p>
            <a:pPr algn="ctr"/>
            <a:r>
              <a:rPr sz="950">
                <a:solidFill>
                  <a:srgbClr val="5A6370"/>
                </a:solidFill>
                <a:latin typeface="Calibri"/>
              </a:rPr>
              <a:t>database</a:t>
            </a:r>
          </a:p>
        </p:txBody>
      </p:sp>
      <p:sp>
        <p:nvSpPr>
          <p:cNvPr id="27" name="Right Arrow 26"/>
          <p:cNvSpPr/>
          <p:nvPr/>
        </p:nvSpPr>
        <p:spPr>
          <a:xfrm>
            <a:off x="5696712" y="4791456"/>
            <a:ext cx="128016" cy="164592"/>
          </a:xfrm>
          <a:prstGeom prst="right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5852160" y="4526280"/>
            <a:ext cx="1371600" cy="713232"/>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9E74"/>
                </a:solidFill>
                <a:latin typeface="Calibri"/>
              </a:rPr>
              <a:t>Next.js + React</a:t>
            </a:r>
          </a:p>
          <a:p>
            <a:pPr algn="ctr"/>
            <a:r>
              <a:rPr sz="950">
                <a:solidFill>
                  <a:srgbClr val="5A6370"/>
                </a:solidFill>
                <a:latin typeface="Calibri"/>
              </a:rPr>
              <a:t>web frontend</a:t>
            </a:r>
          </a:p>
        </p:txBody>
      </p:sp>
      <p:sp>
        <p:nvSpPr>
          <p:cNvPr id="29" name="Right Arrow 28"/>
          <p:cNvSpPr/>
          <p:nvPr/>
        </p:nvSpPr>
        <p:spPr>
          <a:xfrm>
            <a:off x="7251192" y="4791456"/>
            <a:ext cx="128016" cy="164592"/>
          </a:xfrm>
          <a:prstGeom prst="right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7406640" y="4526280"/>
            <a:ext cx="1371600" cy="713232"/>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9E74"/>
                </a:solidFill>
                <a:latin typeface="Calibri"/>
              </a:rPr>
              <a:t>Leaflet + React Flow</a:t>
            </a:r>
          </a:p>
          <a:p>
            <a:pPr algn="ctr"/>
            <a:r>
              <a:rPr sz="950">
                <a:solidFill>
                  <a:srgbClr val="5A6370"/>
                </a:solidFill>
                <a:latin typeface="Calibri"/>
              </a:rPr>
              <a:t>map + network 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3200">
                <a:solidFill>
                  <a:srgbClr val="1A1A1A"/>
                </a:solidFill>
                <a:latin typeface="Calibri"/>
              </a:rPr>
              <a:t>Implementation</a:t>
            </a:r>
          </a:p>
        </p:txBody>
      </p:sp>
      <p:sp>
        <p:nvSpPr>
          <p:cNvPr id="3" name="Rounded Rectangle 2"/>
          <p:cNvSpPr/>
          <p:nvPr/>
        </p:nvSpPr>
        <p:spPr>
          <a:xfrm>
            <a:off x="1188720" y="1143000"/>
            <a:ext cx="4160520" cy="786384"/>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98448" y="1325880"/>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828800" y="1197864"/>
            <a:ext cx="3474720" cy="731520"/>
          </a:xfrm>
          <a:prstGeom prst="rect">
            <a:avLst/>
          </a:prstGeom>
          <a:noFill/>
        </p:spPr>
        <p:txBody>
          <a:bodyPr wrap="square" lIns="36576" rIns="36576" tIns="18288" bIns="18288" anchor="t">
            <a:spAutoFit/>
          </a:bodyPr>
          <a:lstStyle/>
          <a:p>
            <a:pPr algn="l">
              <a:spcAft>
                <a:spcPts val="0"/>
              </a:spcAft>
            </a:pPr>
            <a:r>
              <a:rPr sz="1350" b="1" i="0">
                <a:solidFill>
                  <a:srgbClr val="0D3889"/>
                </a:solidFill>
                <a:latin typeface="Calibri"/>
              </a:rPr>
              <a:t>Mangrove detection</a:t>
            </a:r>
          </a:p>
          <a:p>
            <a:pPr algn="l">
              <a:spcAft>
                <a:spcPts val="0"/>
              </a:spcAft>
            </a:pPr>
            <a:r>
              <a:rPr sz="1100" b="0" i="0">
                <a:solidFill>
                  <a:srgbClr val="1A1A1A"/>
                </a:solidFill>
                <a:latin typeface="Calibri"/>
              </a:rPr>
              <a:t>A deep-learning model marks mangrove pixels in the image.</a:t>
            </a:r>
          </a:p>
        </p:txBody>
      </p:sp>
      <p:sp>
        <p:nvSpPr>
          <p:cNvPr id="6" name="Rounded Rectangle 5"/>
          <p:cNvSpPr/>
          <p:nvPr/>
        </p:nvSpPr>
        <p:spPr>
          <a:xfrm>
            <a:off x="1188720" y="2020824"/>
            <a:ext cx="4160520" cy="786384"/>
          </a:xfrm>
          <a:prstGeom prst="roundRect">
            <a:avLst>
              <a:gd name="adj" fmla="val 12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98448" y="2203704"/>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8" name="TextBox 7"/>
          <p:cNvSpPr txBox="1"/>
          <p:nvPr/>
        </p:nvSpPr>
        <p:spPr>
          <a:xfrm>
            <a:off x="1828800" y="2075688"/>
            <a:ext cx="3474720" cy="731520"/>
          </a:xfrm>
          <a:prstGeom prst="rect">
            <a:avLst/>
          </a:prstGeom>
          <a:noFill/>
        </p:spPr>
        <p:txBody>
          <a:bodyPr wrap="square" lIns="36576" rIns="36576" tIns="18288" bIns="18288" anchor="t">
            <a:spAutoFit/>
          </a:bodyPr>
          <a:lstStyle/>
          <a:p>
            <a:pPr algn="l">
              <a:spcAft>
                <a:spcPts val="0"/>
              </a:spcAft>
            </a:pPr>
            <a:r>
              <a:rPr sz="1350" b="1" i="0">
                <a:solidFill>
                  <a:srgbClr val="0D3889"/>
                </a:solidFill>
                <a:latin typeface="Calibri"/>
              </a:rPr>
              <a:t>Patch extraction</a:t>
            </a:r>
          </a:p>
          <a:p>
            <a:pPr algn="l">
              <a:spcAft>
                <a:spcPts val="0"/>
              </a:spcAft>
            </a:pPr>
            <a:r>
              <a:rPr sz="1100" b="0" i="0">
                <a:solidFill>
                  <a:srgbClr val="1A1A1A"/>
                </a:solidFill>
                <a:latin typeface="Calibri"/>
              </a:rPr>
              <a:t>Touching mangrove pixels are grouped into habitat patches.</a:t>
            </a:r>
          </a:p>
        </p:txBody>
      </p:sp>
      <p:sp>
        <p:nvSpPr>
          <p:cNvPr id="9" name="Rounded Rectangle 8"/>
          <p:cNvSpPr/>
          <p:nvPr/>
        </p:nvSpPr>
        <p:spPr>
          <a:xfrm>
            <a:off x="1188720" y="2898648"/>
            <a:ext cx="4160520" cy="786384"/>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98448" y="3081528"/>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1" name="TextBox 10"/>
          <p:cNvSpPr txBox="1"/>
          <p:nvPr/>
        </p:nvSpPr>
        <p:spPr>
          <a:xfrm>
            <a:off x="1828800" y="2953512"/>
            <a:ext cx="3474720" cy="731520"/>
          </a:xfrm>
          <a:prstGeom prst="rect">
            <a:avLst/>
          </a:prstGeom>
          <a:noFill/>
        </p:spPr>
        <p:txBody>
          <a:bodyPr wrap="square" lIns="36576" rIns="36576" tIns="18288" bIns="18288" anchor="t">
            <a:spAutoFit/>
          </a:bodyPr>
          <a:lstStyle/>
          <a:p>
            <a:pPr algn="l">
              <a:spcAft>
                <a:spcPts val="0"/>
              </a:spcAft>
            </a:pPr>
            <a:r>
              <a:rPr sz="1350" b="1" i="0">
                <a:solidFill>
                  <a:srgbClr val="0D3889"/>
                </a:solidFill>
                <a:latin typeface="Calibri"/>
              </a:rPr>
              <a:t>Connectivity analysis</a:t>
            </a:r>
          </a:p>
          <a:p>
            <a:pPr algn="l">
              <a:spcAft>
                <a:spcPts val="0"/>
              </a:spcAft>
            </a:pPr>
            <a:r>
              <a:rPr sz="1100" b="0" i="0">
                <a:solidFill>
                  <a:srgbClr val="1A1A1A"/>
                </a:solidFill>
                <a:latin typeface="Calibri"/>
              </a:rPr>
              <a:t>Each patch links to its nearest patches (within 5 km).</a:t>
            </a:r>
          </a:p>
        </p:txBody>
      </p:sp>
      <p:sp>
        <p:nvSpPr>
          <p:cNvPr id="12" name="Rounded Rectangle 11"/>
          <p:cNvSpPr/>
          <p:nvPr/>
        </p:nvSpPr>
        <p:spPr>
          <a:xfrm>
            <a:off x="1188720" y="3776472"/>
            <a:ext cx="4160520" cy="786384"/>
          </a:xfrm>
          <a:prstGeom prst="roundRect">
            <a:avLst>
              <a:gd name="adj" fmla="val 12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298448" y="3959352"/>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4" name="TextBox 13"/>
          <p:cNvSpPr txBox="1"/>
          <p:nvPr/>
        </p:nvSpPr>
        <p:spPr>
          <a:xfrm>
            <a:off x="1828800" y="3831335"/>
            <a:ext cx="3474720" cy="731520"/>
          </a:xfrm>
          <a:prstGeom prst="rect">
            <a:avLst/>
          </a:prstGeom>
          <a:noFill/>
        </p:spPr>
        <p:txBody>
          <a:bodyPr wrap="square" lIns="36576" rIns="36576" tIns="18288" bIns="18288" anchor="t">
            <a:spAutoFit/>
          </a:bodyPr>
          <a:lstStyle/>
          <a:p>
            <a:pPr algn="l">
              <a:spcAft>
                <a:spcPts val="0"/>
              </a:spcAft>
            </a:pPr>
            <a:r>
              <a:rPr sz="1350" b="1" i="0">
                <a:solidFill>
                  <a:srgbClr val="0D3889"/>
                </a:solidFill>
                <a:latin typeface="Calibri"/>
              </a:rPr>
              <a:t>Criticality analysis</a:t>
            </a:r>
          </a:p>
          <a:p>
            <a:pPr algn="l">
              <a:spcAft>
                <a:spcPts val="0"/>
              </a:spcAft>
            </a:pPr>
            <a:r>
              <a:rPr sz="1100" b="0" i="0">
                <a:solidFill>
                  <a:srgbClr val="1A1A1A"/>
                </a:solidFill>
                <a:latin typeface="Calibri"/>
              </a:rPr>
              <a:t>Remove one patch at a time and measure how much connectivity drops.</a:t>
            </a:r>
          </a:p>
        </p:txBody>
      </p:sp>
      <p:sp>
        <p:nvSpPr>
          <p:cNvPr id="15" name="Rounded Rectangle 14"/>
          <p:cNvSpPr/>
          <p:nvPr/>
        </p:nvSpPr>
        <p:spPr>
          <a:xfrm>
            <a:off x="1188720" y="4654296"/>
            <a:ext cx="4160520" cy="786384"/>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298448" y="4837176"/>
            <a:ext cx="402336" cy="402336"/>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7" name="TextBox 16"/>
          <p:cNvSpPr txBox="1"/>
          <p:nvPr/>
        </p:nvSpPr>
        <p:spPr>
          <a:xfrm>
            <a:off x="1828800" y="4709159"/>
            <a:ext cx="3474720" cy="731520"/>
          </a:xfrm>
          <a:prstGeom prst="rect">
            <a:avLst/>
          </a:prstGeom>
          <a:noFill/>
        </p:spPr>
        <p:txBody>
          <a:bodyPr wrap="square" lIns="36576" rIns="36576" tIns="18288" bIns="18288" anchor="t">
            <a:spAutoFit/>
          </a:bodyPr>
          <a:lstStyle/>
          <a:p>
            <a:pPr algn="l">
              <a:spcAft>
                <a:spcPts val="0"/>
              </a:spcAft>
            </a:pPr>
            <a:r>
              <a:rPr sz="1350" b="1" i="0">
                <a:solidFill>
                  <a:srgbClr val="0D3889"/>
                </a:solidFill>
                <a:latin typeface="Calibri"/>
              </a:rPr>
              <a:t>Decision support</a:t>
            </a:r>
          </a:p>
          <a:p>
            <a:pPr algn="l">
              <a:spcAft>
                <a:spcPts val="0"/>
              </a:spcAft>
            </a:pPr>
            <a:r>
              <a:rPr sz="1100" b="0" i="0">
                <a:solidFill>
                  <a:srgbClr val="1A1A1A"/>
                </a:solidFill>
                <a:latin typeface="Calibri"/>
              </a:rPr>
              <a:t>Dashboard shows important patches, what-if results and restoration options.</a:t>
            </a:r>
          </a:p>
        </p:txBody>
      </p:sp>
      <p:pic>
        <p:nvPicPr>
          <p:cNvPr id="18" name="Picture 17" descr="graph.png"/>
          <p:cNvPicPr>
            <a:picLocks noChangeAspect="1"/>
          </p:cNvPicPr>
          <p:nvPr/>
        </p:nvPicPr>
        <p:blipFill>
          <a:blip r:embed="rId2"/>
          <a:stretch>
            <a:fillRect/>
          </a:stretch>
        </p:blipFill>
        <p:spPr>
          <a:xfrm>
            <a:off x="5532120" y="1143000"/>
            <a:ext cx="3246120" cy="1983740"/>
          </a:xfrm>
          <a:prstGeom prst="rect">
            <a:avLst/>
          </a:prstGeom>
          <a:ln w="12700">
            <a:solidFill>
              <a:srgbClr val="C9D3E6"/>
            </a:solidFill>
          </a:ln>
        </p:spPr>
      </p:pic>
      <p:sp>
        <p:nvSpPr>
          <p:cNvPr id="19" name="TextBox 18"/>
          <p:cNvSpPr txBox="1"/>
          <p:nvPr/>
        </p:nvSpPr>
        <p:spPr>
          <a:xfrm>
            <a:off x="5532120" y="3163824"/>
            <a:ext cx="3246120" cy="411480"/>
          </a:xfrm>
          <a:prstGeom prst="rect">
            <a:avLst/>
          </a:prstGeom>
          <a:noFill/>
        </p:spPr>
        <p:txBody>
          <a:bodyPr wrap="square" lIns="36576" rIns="36576" tIns="18288" bIns="18288" anchor="t">
            <a:spAutoFit/>
          </a:bodyPr>
          <a:lstStyle/>
          <a:p>
            <a:pPr algn="ctr">
              <a:spcAft>
                <a:spcPts val="400"/>
              </a:spcAft>
            </a:pPr>
            <a:r>
              <a:rPr sz="1000" b="0" i="1">
                <a:solidFill>
                  <a:srgbClr val="5A6370"/>
                </a:solidFill>
                <a:latin typeface="Calibri"/>
              </a:rPr>
              <a:t>Network view in our app: each circle is a patch, lines are links</a:t>
            </a:r>
          </a:p>
        </p:txBody>
      </p:sp>
      <p:sp>
        <p:nvSpPr>
          <p:cNvPr id="20" name="TextBox 19"/>
          <p:cNvSpPr txBox="1"/>
          <p:nvPr/>
        </p:nvSpPr>
        <p:spPr>
          <a:xfrm>
            <a:off x="5532120" y="3657600"/>
            <a:ext cx="3246120" cy="320040"/>
          </a:xfrm>
          <a:prstGeom prst="rect">
            <a:avLst/>
          </a:prstGeom>
          <a:noFill/>
        </p:spPr>
        <p:txBody>
          <a:bodyPr wrap="square" lIns="36576" rIns="36576" tIns="18288" bIns="18288" anchor="t">
            <a:spAutoFit/>
          </a:bodyPr>
          <a:lstStyle/>
          <a:p>
            <a:pPr algn="l">
              <a:spcAft>
                <a:spcPts val="400"/>
              </a:spcAft>
            </a:pPr>
            <a:r>
              <a:rPr sz="1250" b="1" i="0">
                <a:solidFill>
                  <a:srgbClr val="0D3889"/>
                </a:solidFill>
                <a:latin typeface="Calibri"/>
              </a:rPr>
              <a:t>Built with</a:t>
            </a:r>
          </a:p>
        </p:txBody>
      </p:sp>
      <p:sp>
        <p:nvSpPr>
          <p:cNvPr id="21" name="Rounded Rectangle 20"/>
          <p:cNvSpPr/>
          <p:nvPr/>
        </p:nvSpPr>
        <p:spPr>
          <a:xfrm>
            <a:off x="5532120" y="4023360"/>
            <a:ext cx="612648" cy="310896"/>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E9E74"/>
                </a:solidFill>
                <a:latin typeface="Calibri"/>
              </a:rPr>
              <a:t>Python</a:t>
            </a:r>
          </a:p>
        </p:txBody>
      </p:sp>
      <p:sp>
        <p:nvSpPr>
          <p:cNvPr id="22" name="Rounded Rectangle 21"/>
          <p:cNvSpPr/>
          <p:nvPr/>
        </p:nvSpPr>
        <p:spPr>
          <a:xfrm>
            <a:off x="6217920" y="4023360"/>
            <a:ext cx="690372" cy="310896"/>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E9E74"/>
                </a:solidFill>
                <a:latin typeface="Calibri"/>
              </a:rPr>
              <a:t>PyTorch</a:t>
            </a:r>
          </a:p>
        </p:txBody>
      </p:sp>
      <p:sp>
        <p:nvSpPr>
          <p:cNvPr id="23" name="Rounded Rectangle 22"/>
          <p:cNvSpPr/>
          <p:nvPr/>
        </p:nvSpPr>
        <p:spPr>
          <a:xfrm>
            <a:off x="6981444" y="4023360"/>
            <a:ext cx="690372" cy="310896"/>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E9E74"/>
                </a:solidFill>
                <a:latin typeface="Calibri"/>
              </a:rPr>
              <a:t>FastAPI</a:t>
            </a:r>
          </a:p>
        </p:txBody>
      </p:sp>
      <p:sp>
        <p:nvSpPr>
          <p:cNvPr id="24" name="Rounded Rectangle 23"/>
          <p:cNvSpPr/>
          <p:nvPr/>
        </p:nvSpPr>
        <p:spPr>
          <a:xfrm>
            <a:off x="7744968" y="4023360"/>
            <a:ext cx="612648" cy="310896"/>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E9E74"/>
                </a:solidFill>
                <a:latin typeface="Calibri"/>
              </a:rPr>
              <a:t>SQLite</a:t>
            </a:r>
          </a:p>
        </p:txBody>
      </p:sp>
      <p:sp>
        <p:nvSpPr>
          <p:cNvPr id="25" name="Rounded Rectangle 24"/>
          <p:cNvSpPr/>
          <p:nvPr/>
        </p:nvSpPr>
        <p:spPr>
          <a:xfrm>
            <a:off x="5532120" y="4407408"/>
            <a:ext cx="690372" cy="310896"/>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E9E74"/>
                </a:solidFill>
                <a:latin typeface="Calibri"/>
              </a:rPr>
              <a:t>Next.js</a:t>
            </a:r>
          </a:p>
        </p:txBody>
      </p:sp>
      <p:sp>
        <p:nvSpPr>
          <p:cNvPr id="26" name="Rounded Rectangle 25"/>
          <p:cNvSpPr/>
          <p:nvPr/>
        </p:nvSpPr>
        <p:spPr>
          <a:xfrm>
            <a:off x="6295644" y="4407408"/>
            <a:ext cx="534924" cy="310896"/>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E9E74"/>
                </a:solidFill>
                <a:latin typeface="Calibri"/>
              </a:rPr>
              <a:t>React</a:t>
            </a:r>
          </a:p>
        </p:txBody>
      </p:sp>
      <p:sp>
        <p:nvSpPr>
          <p:cNvPr id="27" name="Rounded Rectangle 26"/>
          <p:cNvSpPr/>
          <p:nvPr/>
        </p:nvSpPr>
        <p:spPr>
          <a:xfrm>
            <a:off x="6903720" y="4407408"/>
            <a:ext cx="690372" cy="310896"/>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E9E74"/>
                </a:solidFill>
                <a:latin typeface="Calibri"/>
              </a:rPr>
              <a:t>Leaflet</a:t>
            </a:r>
          </a:p>
        </p:txBody>
      </p:sp>
      <p:sp>
        <p:nvSpPr>
          <p:cNvPr id="28" name="Rounded Rectangle 27"/>
          <p:cNvSpPr/>
          <p:nvPr/>
        </p:nvSpPr>
        <p:spPr>
          <a:xfrm>
            <a:off x="7667244" y="4407408"/>
            <a:ext cx="923544" cy="310896"/>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E9E74"/>
                </a:solidFill>
                <a:latin typeface="Calibri"/>
              </a:rPr>
              <a:t>React Flow</a:t>
            </a:r>
          </a:p>
        </p:txBody>
      </p:sp>
      <p:sp>
        <p:nvSpPr>
          <p:cNvPr id="29" name="TextBox 28"/>
          <p:cNvSpPr txBox="1"/>
          <p:nvPr/>
        </p:nvSpPr>
        <p:spPr>
          <a:xfrm>
            <a:off x="5532120" y="4892040"/>
            <a:ext cx="3246120" cy="457200"/>
          </a:xfrm>
          <a:prstGeom prst="rect">
            <a:avLst/>
          </a:prstGeom>
          <a:noFill/>
        </p:spPr>
        <p:txBody>
          <a:bodyPr wrap="square" lIns="36576" rIns="36576" tIns="18288" bIns="18288" anchor="t">
            <a:spAutoFit/>
          </a:bodyPr>
          <a:lstStyle/>
          <a:p>
            <a:pPr algn="l">
              <a:spcAft>
                <a:spcPts val="400"/>
              </a:spcAft>
            </a:pPr>
            <a:r>
              <a:rPr sz="1050" b="0" i="0">
                <a:solidFill>
                  <a:srgbClr val="5A6370"/>
                </a:solidFill>
                <a:latin typeface="Calibri"/>
              </a:rPr>
              <a:t>Model: U-Net with EfficientNet-B0 (≈ 6.25 M parameters)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3200">
                <a:solidFill>
                  <a:srgbClr val="1A1A1A"/>
                </a:solidFill>
                <a:latin typeface="Calibri"/>
              </a:rPr>
              <a:t>Results and Key Findings</a:t>
            </a:r>
          </a:p>
        </p:txBody>
      </p:sp>
      <p:sp>
        <p:nvSpPr>
          <p:cNvPr id="3" name="Rounded Rectangle 2"/>
          <p:cNvSpPr/>
          <p:nvPr/>
        </p:nvSpPr>
        <p:spPr>
          <a:xfrm>
            <a:off x="1188720" y="1143000"/>
            <a:ext cx="1828800" cy="1417320"/>
          </a:xfrm>
          <a:prstGeom prst="roundRect">
            <a:avLst>
              <a:gd name="adj" fmla="val 12000"/>
            </a:avLst>
          </a:prstGeom>
          <a:solidFill>
            <a:srgbClr val="FFFFFF"/>
          </a:solidFill>
          <a:ln w="22225">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88720" y="1188720"/>
            <a:ext cx="1828800" cy="685800"/>
          </a:xfrm>
          <a:prstGeom prst="rect">
            <a:avLst/>
          </a:prstGeom>
          <a:noFill/>
        </p:spPr>
        <p:txBody>
          <a:bodyPr wrap="square" lIns="36576" rIns="36576" tIns="18288" bIns="18288" anchor="t">
            <a:spAutoFit/>
          </a:bodyPr>
          <a:lstStyle/>
          <a:p>
            <a:pPr algn="ctr">
              <a:spcAft>
                <a:spcPts val="400"/>
              </a:spcAft>
            </a:pPr>
            <a:r>
              <a:rPr sz="3400" b="1" i="0">
                <a:solidFill>
                  <a:srgbClr val="0D3889"/>
                </a:solidFill>
                <a:latin typeface="Calibri"/>
              </a:rPr>
              <a:t>0.842</a:t>
            </a:r>
          </a:p>
        </p:txBody>
      </p:sp>
      <p:sp>
        <p:nvSpPr>
          <p:cNvPr id="5" name="TextBox 4"/>
          <p:cNvSpPr txBox="1"/>
          <p:nvPr/>
        </p:nvSpPr>
        <p:spPr>
          <a:xfrm>
            <a:off x="1188720" y="1847088"/>
            <a:ext cx="1828800" cy="640080"/>
          </a:xfrm>
          <a:prstGeom prst="rect">
            <a:avLst/>
          </a:prstGeom>
          <a:noFill/>
        </p:spPr>
        <p:txBody>
          <a:bodyPr wrap="square" lIns="36576" rIns="36576" tIns="18288" bIns="18288" anchor="t">
            <a:spAutoFit/>
          </a:bodyPr>
          <a:lstStyle/>
          <a:p>
            <a:pPr algn="ctr">
              <a:spcAft>
                <a:spcPts val="0"/>
              </a:spcAft>
            </a:pPr>
            <a:r>
              <a:rPr sz="1250" b="1" i="0">
                <a:solidFill>
                  <a:srgbClr val="1A1A1A"/>
                </a:solidFill>
                <a:latin typeface="Calibri"/>
              </a:rPr>
              <a:t>Test IoU</a:t>
            </a:r>
          </a:p>
          <a:p>
            <a:pPr algn="ctr">
              <a:spcAft>
                <a:spcPts val="0"/>
              </a:spcAft>
            </a:pPr>
            <a:r>
              <a:rPr sz="1000" b="0" i="0">
                <a:solidFill>
                  <a:srgbClr val="5A6370"/>
                </a:solidFill>
                <a:latin typeface="Calibri"/>
              </a:rPr>
              <a:t>overlap with reference map</a:t>
            </a:r>
          </a:p>
        </p:txBody>
      </p:sp>
      <p:sp>
        <p:nvSpPr>
          <p:cNvPr id="6" name="Rounded Rectangle 5"/>
          <p:cNvSpPr/>
          <p:nvPr/>
        </p:nvSpPr>
        <p:spPr>
          <a:xfrm>
            <a:off x="3154680" y="1143000"/>
            <a:ext cx="1828800" cy="1417320"/>
          </a:xfrm>
          <a:prstGeom prst="roundRect">
            <a:avLst>
              <a:gd name="adj" fmla="val 12000"/>
            </a:avLst>
          </a:prstGeom>
          <a:solidFill>
            <a:srgbClr val="FFFFFF"/>
          </a:solidFill>
          <a:ln w="22225">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154680" y="1188720"/>
            <a:ext cx="1828800" cy="685800"/>
          </a:xfrm>
          <a:prstGeom prst="rect">
            <a:avLst/>
          </a:prstGeom>
          <a:noFill/>
        </p:spPr>
        <p:txBody>
          <a:bodyPr wrap="square" lIns="36576" rIns="36576" tIns="18288" bIns="18288" anchor="t">
            <a:spAutoFit/>
          </a:bodyPr>
          <a:lstStyle/>
          <a:p>
            <a:pPr algn="ctr">
              <a:spcAft>
                <a:spcPts val="400"/>
              </a:spcAft>
            </a:pPr>
            <a:r>
              <a:rPr sz="3400" b="1" i="0">
                <a:solidFill>
                  <a:srgbClr val="0D3889"/>
                </a:solidFill>
                <a:latin typeface="Calibri"/>
              </a:rPr>
              <a:t>0.914</a:t>
            </a:r>
          </a:p>
        </p:txBody>
      </p:sp>
      <p:sp>
        <p:nvSpPr>
          <p:cNvPr id="8" name="TextBox 7"/>
          <p:cNvSpPr txBox="1"/>
          <p:nvPr/>
        </p:nvSpPr>
        <p:spPr>
          <a:xfrm>
            <a:off x="3154680" y="1847088"/>
            <a:ext cx="1828800" cy="640080"/>
          </a:xfrm>
          <a:prstGeom prst="rect">
            <a:avLst/>
          </a:prstGeom>
          <a:noFill/>
        </p:spPr>
        <p:txBody>
          <a:bodyPr wrap="square" lIns="36576" rIns="36576" tIns="18288" bIns="18288" anchor="t">
            <a:spAutoFit/>
          </a:bodyPr>
          <a:lstStyle/>
          <a:p>
            <a:pPr algn="ctr">
              <a:spcAft>
                <a:spcPts val="0"/>
              </a:spcAft>
            </a:pPr>
            <a:r>
              <a:rPr sz="1250" b="1" i="0">
                <a:solidFill>
                  <a:srgbClr val="1A1A1A"/>
                </a:solidFill>
                <a:latin typeface="Calibri"/>
              </a:rPr>
              <a:t>Test F1 score</a:t>
            </a:r>
          </a:p>
          <a:p>
            <a:pPr algn="ctr">
              <a:spcAft>
                <a:spcPts val="0"/>
              </a:spcAft>
            </a:pPr>
            <a:r>
              <a:rPr sz="1000" b="0" i="0">
                <a:solidFill>
                  <a:srgbClr val="5A6370"/>
                </a:solidFill>
                <a:latin typeface="Calibri"/>
              </a:rPr>
              <a:t>balance of precision &amp; recall</a:t>
            </a:r>
          </a:p>
        </p:txBody>
      </p:sp>
      <p:sp>
        <p:nvSpPr>
          <p:cNvPr id="9" name="Rounded Rectangle 8"/>
          <p:cNvSpPr/>
          <p:nvPr/>
        </p:nvSpPr>
        <p:spPr>
          <a:xfrm>
            <a:off x="5166360" y="1143000"/>
            <a:ext cx="3611880" cy="141732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03520" y="1207008"/>
            <a:ext cx="3383280" cy="1325880"/>
          </a:xfrm>
          <a:prstGeom prst="rect">
            <a:avLst/>
          </a:prstGeom>
          <a:noFill/>
        </p:spPr>
        <p:txBody>
          <a:bodyPr wrap="square" lIns="36576" rIns="36576" tIns="18288" bIns="18288" anchor="ctr">
            <a:spAutoFit/>
          </a:bodyPr>
          <a:lstStyle/>
          <a:p>
            <a:pPr algn="l">
              <a:spcAft>
                <a:spcPts val="200"/>
              </a:spcAft>
            </a:pPr>
            <a:r>
              <a:rPr sz="1300" b="1" i="0">
                <a:solidFill>
                  <a:srgbClr val="D96A2B"/>
                </a:solidFill>
                <a:latin typeface="Calibri"/>
              </a:rPr>
              <a:t>Development model result</a:t>
            </a:r>
          </a:p>
          <a:p>
            <a:pPr algn="l">
              <a:spcAft>
                <a:spcPts val="200"/>
              </a:spcAft>
            </a:pPr>
            <a:r>
              <a:rPr sz="1100" b="0" i="0">
                <a:solidFill>
                  <a:srgbClr val="1A1A1A"/>
                </a:solidFill>
                <a:latin typeface="Calibri"/>
              </a:rPr>
              <a:t>Measured on 200 test tiles against Global Mangrove Watch reference labels — not field accuracy. Strongest on Sundarbans; weaker on thin Kerala mangrove strips.</a:t>
            </a:r>
          </a:p>
        </p:txBody>
      </p:sp>
      <p:sp>
        <p:nvSpPr>
          <p:cNvPr id="11" name="TextBox 10"/>
          <p:cNvSpPr txBox="1"/>
          <p:nvPr/>
        </p:nvSpPr>
        <p:spPr>
          <a:xfrm>
            <a:off x="1188720" y="2743200"/>
            <a:ext cx="7589520" cy="365760"/>
          </a:xfrm>
          <a:prstGeom prst="rect">
            <a:avLst/>
          </a:prstGeom>
          <a:noFill/>
        </p:spPr>
        <p:txBody>
          <a:bodyPr wrap="square" lIns="36576" rIns="36576" tIns="18288" bIns="18288" anchor="t">
            <a:spAutoFit/>
          </a:bodyPr>
          <a:lstStyle/>
          <a:p>
            <a:pPr algn="l">
              <a:spcAft>
                <a:spcPts val="400"/>
              </a:spcAft>
            </a:pPr>
            <a:r>
              <a:rPr sz="1600" b="1" i="0">
                <a:solidFill>
                  <a:srgbClr val="0D3889"/>
                </a:solidFill>
                <a:latin typeface="Calibri"/>
              </a:rPr>
              <a:t>Size alone does not tell us which patch is important</a:t>
            </a:r>
          </a:p>
        </p:txBody>
      </p:sp>
      <p:sp>
        <p:nvSpPr>
          <p:cNvPr id="12" name="Rounded Rectangle 11"/>
          <p:cNvSpPr/>
          <p:nvPr/>
        </p:nvSpPr>
        <p:spPr>
          <a:xfrm>
            <a:off x="1188720" y="3200400"/>
            <a:ext cx="2194560" cy="2148840"/>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80160" y="3264408"/>
            <a:ext cx="2011680" cy="365760"/>
          </a:xfrm>
          <a:prstGeom prst="rect">
            <a:avLst/>
          </a:prstGeom>
          <a:noFill/>
        </p:spPr>
        <p:txBody>
          <a:bodyPr wrap="square" lIns="36576" rIns="36576" tIns="18288" bIns="18288" anchor="t">
            <a:spAutoFit/>
          </a:bodyPr>
          <a:lstStyle/>
          <a:p>
            <a:pPr algn="ctr">
              <a:spcAft>
                <a:spcPts val="400"/>
              </a:spcAft>
            </a:pPr>
            <a:r>
              <a:rPr sz="1250" b="1" i="0">
                <a:solidFill>
                  <a:srgbClr val="0D3889"/>
                </a:solidFill>
                <a:latin typeface="Calibri"/>
              </a:rPr>
              <a:t>P01 — largest patch</a:t>
            </a:r>
          </a:p>
        </p:txBody>
      </p:sp>
      <p:sp>
        <p:nvSpPr>
          <p:cNvPr id="14" name="TextBox 13"/>
          <p:cNvSpPr txBox="1"/>
          <p:nvPr/>
        </p:nvSpPr>
        <p:spPr>
          <a:xfrm>
            <a:off x="1280160" y="3675887"/>
            <a:ext cx="2011680" cy="530352"/>
          </a:xfrm>
          <a:prstGeom prst="rect">
            <a:avLst/>
          </a:prstGeom>
          <a:noFill/>
        </p:spPr>
        <p:txBody>
          <a:bodyPr wrap="square" lIns="36576" rIns="36576" tIns="18288" bIns="18288" anchor="t">
            <a:spAutoFit/>
          </a:bodyPr>
          <a:lstStyle/>
          <a:p>
            <a:pPr algn="ctr">
              <a:spcAft>
                <a:spcPts val="0"/>
              </a:spcAft>
            </a:pPr>
            <a:r>
              <a:rPr sz="1600" b="1" i="0">
                <a:solidFill>
                  <a:srgbClr val="0D3889"/>
                </a:solidFill>
                <a:latin typeface="Calibri"/>
              </a:rPr>
              <a:t>35.1 ha</a:t>
            </a:r>
          </a:p>
          <a:p>
            <a:pPr algn="ctr">
              <a:spcAft>
                <a:spcPts val="0"/>
              </a:spcAft>
            </a:pPr>
            <a:r>
              <a:rPr sz="1000" b="0" i="0">
                <a:solidFill>
                  <a:srgbClr val="5A6370"/>
                </a:solidFill>
                <a:latin typeface="Calibri"/>
              </a:rPr>
              <a:t>#1 by size</a:t>
            </a:r>
          </a:p>
        </p:txBody>
      </p:sp>
      <p:sp>
        <p:nvSpPr>
          <p:cNvPr id="15" name="TextBox 14"/>
          <p:cNvSpPr txBox="1"/>
          <p:nvPr/>
        </p:nvSpPr>
        <p:spPr>
          <a:xfrm>
            <a:off x="1280160" y="4224527"/>
            <a:ext cx="2011680" cy="530352"/>
          </a:xfrm>
          <a:prstGeom prst="rect">
            <a:avLst/>
          </a:prstGeom>
          <a:noFill/>
        </p:spPr>
        <p:txBody>
          <a:bodyPr wrap="square" lIns="36576" rIns="36576" tIns="18288" bIns="18288" anchor="t">
            <a:spAutoFit/>
          </a:bodyPr>
          <a:lstStyle/>
          <a:p>
            <a:pPr algn="ctr">
              <a:spcAft>
                <a:spcPts val="0"/>
              </a:spcAft>
            </a:pPr>
            <a:r>
              <a:rPr sz="1600" b="1" i="0">
                <a:solidFill>
                  <a:srgbClr val="0D3889"/>
                </a:solidFill>
                <a:latin typeface="Calibri"/>
              </a:rPr>
              <a:t>−30.7%</a:t>
            </a:r>
          </a:p>
          <a:p>
            <a:pPr algn="ctr">
              <a:spcAft>
                <a:spcPts val="0"/>
              </a:spcAft>
            </a:pPr>
            <a:r>
              <a:rPr sz="1000" b="0" i="0">
                <a:solidFill>
                  <a:srgbClr val="5A6370"/>
                </a:solidFill>
                <a:latin typeface="Calibri"/>
              </a:rPr>
              <a:t>connectivity if removed</a:t>
            </a:r>
          </a:p>
        </p:txBody>
      </p:sp>
      <p:sp>
        <p:nvSpPr>
          <p:cNvPr id="16" name="TextBox 15"/>
          <p:cNvSpPr txBox="1"/>
          <p:nvPr/>
        </p:nvSpPr>
        <p:spPr>
          <a:xfrm>
            <a:off x="1280160" y="4773167"/>
            <a:ext cx="2011680" cy="530352"/>
          </a:xfrm>
          <a:prstGeom prst="rect">
            <a:avLst/>
          </a:prstGeom>
          <a:noFill/>
        </p:spPr>
        <p:txBody>
          <a:bodyPr wrap="square" lIns="36576" rIns="36576" tIns="18288" bIns="18288" anchor="t">
            <a:spAutoFit/>
          </a:bodyPr>
          <a:lstStyle/>
          <a:p>
            <a:pPr algn="ctr">
              <a:spcAft>
                <a:spcPts val="0"/>
              </a:spcAft>
            </a:pPr>
            <a:r>
              <a:rPr sz="1600" b="1" i="0">
                <a:solidFill>
                  <a:srgbClr val="0D3889"/>
                </a:solidFill>
                <a:latin typeface="Calibri"/>
              </a:rPr>
              <a:t>No split</a:t>
            </a:r>
          </a:p>
          <a:p>
            <a:pPr algn="ctr">
              <a:spcAft>
                <a:spcPts val="0"/>
              </a:spcAft>
            </a:pPr>
            <a:r>
              <a:rPr sz="1000" b="0" i="0">
                <a:solidFill>
                  <a:srgbClr val="5A6370"/>
                </a:solidFill>
                <a:latin typeface="Calibri"/>
              </a:rPr>
              <a:t>other routes still connect</a:t>
            </a:r>
          </a:p>
        </p:txBody>
      </p:sp>
      <p:sp>
        <p:nvSpPr>
          <p:cNvPr id="17" name="Rounded Rectangle 16"/>
          <p:cNvSpPr/>
          <p:nvPr/>
        </p:nvSpPr>
        <p:spPr>
          <a:xfrm>
            <a:off x="3520440" y="3200400"/>
            <a:ext cx="2194560" cy="2148840"/>
          </a:xfrm>
          <a:prstGeom prst="roundRect">
            <a:avLst>
              <a:gd name="adj" fmla="val 12000"/>
            </a:avLst>
          </a:prstGeom>
          <a:solidFill>
            <a:srgbClr val="FBEFE6"/>
          </a:solidFill>
          <a:ln w="12700">
            <a:solidFill>
              <a:srgbClr val="D96A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11880" y="3264408"/>
            <a:ext cx="2011680" cy="365760"/>
          </a:xfrm>
          <a:prstGeom prst="rect">
            <a:avLst/>
          </a:prstGeom>
          <a:noFill/>
        </p:spPr>
        <p:txBody>
          <a:bodyPr wrap="square" lIns="36576" rIns="36576" tIns="18288" bIns="18288" anchor="t">
            <a:spAutoFit/>
          </a:bodyPr>
          <a:lstStyle/>
          <a:p>
            <a:pPr algn="ctr">
              <a:spcAft>
                <a:spcPts val="400"/>
              </a:spcAft>
            </a:pPr>
            <a:r>
              <a:rPr sz="1250" b="1" i="0">
                <a:solidFill>
                  <a:srgbClr val="D96A2B"/>
                </a:solidFill>
                <a:latin typeface="Calibri"/>
              </a:rPr>
              <a:t>P17 — small bridge patch</a:t>
            </a:r>
          </a:p>
        </p:txBody>
      </p:sp>
      <p:sp>
        <p:nvSpPr>
          <p:cNvPr id="19" name="TextBox 18"/>
          <p:cNvSpPr txBox="1"/>
          <p:nvPr/>
        </p:nvSpPr>
        <p:spPr>
          <a:xfrm>
            <a:off x="3611880" y="3675887"/>
            <a:ext cx="2011680" cy="530352"/>
          </a:xfrm>
          <a:prstGeom prst="rect">
            <a:avLst/>
          </a:prstGeom>
          <a:noFill/>
        </p:spPr>
        <p:txBody>
          <a:bodyPr wrap="square" lIns="36576" rIns="36576" tIns="18288" bIns="18288" anchor="t">
            <a:spAutoFit/>
          </a:bodyPr>
          <a:lstStyle/>
          <a:p>
            <a:pPr algn="ctr">
              <a:spcAft>
                <a:spcPts val="0"/>
              </a:spcAft>
            </a:pPr>
            <a:r>
              <a:rPr sz="1600" b="1" i="0">
                <a:solidFill>
                  <a:srgbClr val="D96A2B"/>
                </a:solidFill>
                <a:latin typeface="Calibri"/>
              </a:rPr>
              <a:t>3.1 ha</a:t>
            </a:r>
          </a:p>
          <a:p>
            <a:pPr algn="ctr">
              <a:spcAft>
                <a:spcPts val="0"/>
              </a:spcAft>
            </a:pPr>
            <a:r>
              <a:rPr sz="1000" b="0" i="0">
                <a:solidFill>
                  <a:srgbClr val="5A6370"/>
                </a:solidFill>
                <a:latin typeface="Calibri"/>
              </a:rPr>
              <a:t>only #17 by size</a:t>
            </a:r>
          </a:p>
        </p:txBody>
      </p:sp>
      <p:sp>
        <p:nvSpPr>
          <p:cNvPr id="20" name="TextBox 19"/>
          <p:cNvSpPr txBox="1"/>
          <p:nvPr/>
        </p:nvSpPr>
        <p:spPr>
          <a:xfrm>
            <a:off x="3611880" y="4224527"/>
            <a:ext cx="2011680" cy="530352"/>
          </a:xfrm>
          <a:prstGeom prst="rect">
            <a:avLst/>
          </a:prstGeom>
          <a:noFill/>
        </p:spPr>
        <p:txBody>
          <a:bodyPr wrap="square" lIns="36576" rIns="36576" tIns="18288" bIns="18288" anchor="t">
            <a:spAutoFit/>
          </a:bodyPr>
          <a:lstStyle/>
          <a:p>
            <a:pPr algn="ctr">
              <a:spcAft>
                <a:spcPts val="0"/>
              </a:spcAft>
            </a:pPr>
            <a:r>
              <a:rPr sz="1600" b="1" i="0">
                <a:solidFill>
                  <a:srgbClr val="D96A2B"/>
                </a:solidFill>
                <a:latin typeface="Calibri"/>
              </a:rPr>
              <a:t>−27.0%</a:t>
            </a:r>
          </a:p>
          <a:p>
            <a:pPr algn="ctr">
              <a:spcAft>
                <a:spcPts val="0"/>
              </a:spcAft>
            </a:pPr>
            <a:r>
              <a:rPr sz="1000" b="0" i="0">
                <a:solidFill>
                  <a:srgbClr val="5A6370"/>
                </a:solidFill>
                <a:latin typeface="Calibri"/>
              </a:rPr>
              <a:t>connectivity if removed</a:t>
            </a:r>
          </a:p>
        </p:txBody>
      </p:sp>
      <p:sp>
        <p:nvSpPr>
          <p:cNvPr id="21" name="TextBox 20"/>
          <p:cNvSpPr txBox="1"/>
          <p:nvPr/>
        </p:nvSpPr>
        <p:spPr>
          <a:xfrm>
            <a:off x="3611880" y="4773167"/>
            <a:ext cx="2011680" cy="530352"/>
          </a:xfrm>
          <a:prstGeom prst="rect">
            <a:avLst/>
          </a:prstGeom>
          <a:noFill/>
        </p:spPr>
        <p:txBody>
          <a:bodyPr wrap="square" lIns="36576" rIns="36576" tIns="18288" bIns="18288" anchor="t">
            <a:spAutoFit/>
          </a:bodyPr>
          <a:lstStyle/>
          <a:p>
            <a:pPr algn="ctr">
              <a:spcAft>
                <a:spcPts val="0"/>
              </a:spcAft>
            </a:pPr>
            <a:r>
              <a:rPr sz="1600" b="1" i="0">
                <a:solidFill>
                  <a:srgbClr val="D96A2B"/>
                </a:solidFill>
                <a:latin typeface="Calibri"/>
              </a:rPr>
              <a:t>2 → 3 groups</a:t>
            </a:r>
          </a:p>
          <a:p>
            <a:pPr algn="ctr">
              <a:spcAft>
                <a:spcPts val="0"/>
              </a:spcAft>
            </a:pPr>
            <a:r>
              <a:rPr sz="1000" b="0" i="0">
                <a:solidFill>
                  <a:srgbClr val="5A6370"/>
                </a:solidFill>
                <a:latin typeface="Calibri"/>
              </a:rPr>
              <a:t>network breaks apart</a:t>
            </a:r>
          </a:p>
        </p:txBody>
      </p:sp>
      <p:pic>
        <p:nvPicPr>
          <p:cNvPr id="22" name="Picture 21" descr="graph_zoom.png"/>
          <p:cNvPicPr>
            <a:picLocks noChangeAspect="1"/>
          </p:cNvPicPr>
          <p:nvPr/>
        </p:nvPicPr>
        <p:blipFill>
          <a:blip r:embed="rId2"/>
          <a:stretch>
            <a:fillRect/>
          </a:stretch>
        </p:blipFill>
        <p:spPr>
          <a:xfrm>
            <a:off x="6510528" y="3200400"/>
            <a:ext cx="1619416" cy="2148840"/>
          </a:xfrm>
          <a:prstGeom prst="rect">
            <a:avLst/>
          </a:prstGeom>
          <a:ln w="12700">
            <a:solidFill>
              <a:srgbClr val="C9D3E6"/>
            </a:solidFill>
          </a:ln>
        </p:spPr>
      </p:pic>
      <p:sp>
        <p:nvSpPr>
          <p:cNvPr id="23" name="TextBox 22"/>
          <p:cNvSpPr txBox="1"/>
          <p:nvPr/>
        </p:nvSpPr>
        <p:spPr>
          <a:xfrm>
            <a:off x="5852160" y="5394960"/>
            <a:ext cx="2926080" cy="411480"/>
          </a:xfrm>
          <a:prstGeom prst="rect">
            <a:avLst/>
          </a:prstGeom>
          <a:noFill/>
        </p:spPr>
        <p:txBody>
          <a:bodyPr wrap="square" lIns="36576" rIns="36576" tIns="18288" bIns="18288" anchor="t">
            <a:spAutoFit/>
          </a:bodyPr>
          <a:lstStyle/>
          <a:p>
            <a:pPr algn="ctr">
              <a:spcAft>
                <a:spcPts val="400"/>
              </a:spcAft>
            </a:pPr>
            <a:r>
              <a:rPr sz="1000" b="0" i="1">
                <a:solidFill>
                  <a:srgbClr val="5A6370"/>
                </a:solidFill>
                <a:latin typeface="Calibri"/>
              </a:rPr>
              <a:t>Network in our app — P17 and P07 are the only “bridge” patches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3200">
                <a:solidFill>
                  <a:srgbClr val="1A1A1A"/>
                </a:solidFill>
                <a:latin typeface="Calibri"/>
              </a:rPr>
              <a:t>What-if and Restoration</a:t>
            </a:r>
          </a:p>
        </p:txBody>
      </p:sp>
      <p:sp>
        <p:nvSpPr>
          <p:cNvPr id="3" name="Rounded Rectangle 2"/>
          <p:cNvSpPr/>
          <p:nvPr/>
        </p:nvSpPr>
        <p:spPr>
          <a:xfrm>
            <a:off x="1188720" y="1097280"/>
            <a:ext cx="3749039" cy="4251960"/>
          </a:xfrm>
          <a:prstGeom prst="roundRect">
            <a:avLst>
              <a:gd name="adj" fmla="val 12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25880" y="1161288"/>
            <a:ext cx="3566160" cy="411480"/>
          </a:xfrm>
          <a:prstGeom prst="rect">
            <a:avLst/>
          </a:prstGeom>
          <a:noFill/>
        </p:spPr>
        <p:txBody>
          <a:bodyPr wrap="square" lIns="36576" rIns="36576" tIns="18288" bIns="18288" anchor="t">
            <a:spAutoFit/>
          </a:bodyPr>
          <a:lstStyle/>
          <a:p>
            <a:pPr algn="l">
              <a:spcAft>
                <a:spcPts val="400"/>
              </a:spcAft>
            </a:pPr>
            <a:r>
              <a:rPr sz="1500" b="1" i="0">
                <a:solidFill>
                  <a:srgbClr val="0D3889"/>
                </a:solidFill>
                <a:latin typeface="Calibri"/>
              </a:rPr>
              <a:t>What happens if a patch is lost?</a:t>
            </a:r>
          </a:p>
        </p:txBody>
      </p:sp>
      <p:graphicFrame>
        <p:nvGraphicFramePr>
          <p:cNvPr id="5" name="Chart 4"/>
          <p:cNvGraphicFramePr>
            <a:graphicFrameLocks noGrp="1"/>
          </p:cNvGraphicFramePr>
          <p:nvPr/>
        </p:nvGraphicFramePr>
        <p:xfrm>
          <a:off x="1280160" y="1600200"/>
          <a:ext cx="3566160" cy="2788920"/>
        </p:xfrm>
        <a:graphic>
          <a:graphicData uri="http://schemas.openxmlformats.org/drawingml/2006/chart">
            <c:chart xmlns:c="http://schemas.openxmlformats.org/drawingml/2006/chart" r:id="rId2"/>
          </a:graphicData>
        </a:graphic>
      </p:graphicFrame>
      <p:sp>
        <p:nvSpPr>
          <p:cNvPr id="6" name="TextBox 5"/>
          <p:cNvSpPr txBox="1"/>
          <p:nvPr/>
        </p:nvSpPr>
        <p:spPr>
          <a:xfrm>
            <a:off x="1325880" y="4434840"/>
            <a:ext cx="3566160" cy="868680"/>
          </a:xfrm>
          <a:prstGeom prst="rect">
            <a:avLst/>
          </a:prstGeom>
          <a:noFill/>
        </p:spPr>
        <p:txBody>
          <a:bodyPr wrap="square" lIns="36576" rIns="36576" tIns="18288" bIns="18288" anchor="t">
            <a:spAutoFit/>
          </a:bodyPr>
          <a:lstStyle/>
          <a:p>
            <a:pPr algn="l">
              <a:spcAft>
                <a:spcPts val="100"/>
              </a:spcAft>
            </a:pPr>
            <a:r>
              <a:rPr sz="1100" b="0" i="0">
                <a:solidFill>
                  <a:srgbClr val="1A1A1A"/>
                </a:solidFill>
                <a:latin typeface="Calibri"/>
              </a:rPr>
              <a:t>P17 is tiny but costs almost as much connectivity as the biggest patch. </a:t>
            </a:r>
          </a:p>
          <a:p>
            <a:pPr algn="l">
              <a:spcAft>
                <a:spcPts val="100"/>
              </a:spcAft>
            </a:pPr>
            <a:r>
              <a:rPr sz="1000" b="0" i="1">
                <a:solidFill>
                  <a:srgbClr val="5A6370"/>
                </a:solidFill>
                <a:latin typeface="Calibri"/>
              </a:rPr>
              <a:t>Simulated scenario under project assumptions.</a:t>
            </a:r>
          </a:p>
        </p:txBody>
      </p:sp>
      <p:sp>
        <p:nvSpPr>
          <p:cNvPr id="7" name="Rounded Rectangle 6"/>
          <p:cNvSpPr/>
          <p:nvPr/>
        </p:nvSpPr>
        <p:spPr>
          <a:xfrm>
            <a:off x="5120640" y="1097280"/>
            <a:ext cx="3657600" cy="4251960"/>
          </a:xfrm>
          <a:prstGeom prst="roundRect">
            <a:avLst>
              <a:gd name="adj" fmla="val 12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57800" y="1161288"/>
            <a:ext cx="3474720" cy="411480"/>
          </a:xfrm>
          <a:prstGeom prst="rect">
            <a:avLst/>
          </a:prstGeom>
          <a:noFill/>
        </p:spPr>
        <p:txBody>
          <a:bodyPr wrap="square" lIns="36576" rIns="36576" tIns="18288" bIns="18288" anchor="t">
            <a:spAutoFit/>
          </a:bodyPr>
          <a:lstStyle/>
          <a:p>
            <a:pPr algn="l">
              <a:spcAft>
                <a:spcPts val="400"/>
              </a:spcAft>
            </a:pPr>
            <a:r>
              <a:rPr sz="1500" b="1" i="0">
                <a:solidFill>
                  <a:srgbClr val="0E9E74"/>
                </a:solidFill>
                <a:latin typeface="Calibri"/>
              </a:rPr>
              <a:t>What happens if we restore an area?</a:t>
            </a:r>
          </a:p>
        </p:txBody>
      </p:sp>
      <p:sp>
        <p:nvSpPr>
          <p:cNvPr id="9" name="Rounded Rectangle 8"/>
          <p:cNvSpPr/>
          <p:nvPr/>
        </p:nvSpPr>
        <p:spPr>
          <a:xfrm>
            <a:off x="5349240" y="1645920"/>
            <a:ext cx="3200400" cy="384048"/>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9E74"/>
                </a:solidFill>
                <a:latin typeface="Calibri"/>
              </a:rPr>
              <a:t>Candidate C1 (1.6 ha)</a:t>
            </a:r>
          </a:p>
        </p:txBody>
      </p:sp>
      <p:sp>
        <p:nvSpPr>
          <p:cNvPr id="10" name="Down Arrow 9"/>
          <p:cNvSpPr/>
          <p:nvPr/>
        </p:nvSpPr>
        <p:spPr>
          <a:xfrm>
            <a:off x="6839712" y="2048256"/>
            <a:ext cx="201168" cy="128016"/>
          </a:xfrm>
          <a:prstGeom prst="down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349240" y="2194560"/>
            <a:ext cx="3200400" cy="384048"/>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9E74"/>
                </a:solidFill>
                <a:latin typeface="Calibri"/>
              </a:rPr>
              <a:t>Added to the network</a:t>
            </a:r>
          </a:p>
        </p:txBody>
      </p:sp>
      <p:sp>
        <p:nvSpPr>
          <p:cNvPr id="12" name="Down Arrow 11"/>
          <p:cNvSpPr/>
          <p:nvPr/>
        </p:nvSpPr>
        <p:spPr>
          <a:xfrm>
            <a:off x="6839712" y="2596896"/>
            <a:ext cx="201168" cy="128016"/>
          </a:xfrm>
          <a:prstGeom prst="down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349240" y="2743200"/>
            <a:ext cx="3200400" cy="384048"/>
          </a:xfrm>
          <a:prstGeom prst="roundRect">
            <a:avLst>
              <a:gd name="adj" fmla="val 12000"/>
            </a:avLst>
          </a:prstGeom>
          <a:solidFill>
            <a:srgbClr val="0E9E74"/>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+1.29% connectivity · 3 new links</a:t>
            </a:r>
          </a:p>
        </p:txBody>
      </p:sp>
      <p:pic>
        <p:nvPicPr>
          <p:cNvPr id="14" name="Picture 13" descr="restoration.png"/>
          <p:cNvPicPr>
            <a:picLocks noChangeAspect="1"/>
          </p:cNvPicPr>
          <p:nvPr/>
        </p:nvPicPr>
        <p:blipFill>
          <a:blip r:embed="rId3"/>
          <a:stretch>
            <a:fillRect/>
          </a:stretch>
        </p:blipFill>
        <p:spPr>
          <a:xfrm>
            <a:off x="5257800" y="3310128"/>
            <a:ext cx="3383280" cy="1353312"/>
          </a:xfrm>
          <a:prstGeom prst="rect">
            <a:avLst/>
          </a:prstGeom>
          <a:ln w="12700">
            <a:solidFill>
              <a:srgbClr val="C9D3E6"/>
            </a:solidFill>
          </a:ln>
        </p:spPr>
      </p:pic>
      <p:sp>
        <p:nvSpPr>
          <p:cNvPr id="15" name="TextBox 14"/>
          <p:cNvSpPr txBox="1"/>
          <p:nvPr/>
        </p:nvSpPr>
        <p:spPr>
          <a:xfrm>
            <a:off x="5257800" y="4681728"/>
            <a:ext cx="3429000" cy="640080"/>
          </a:xfrm>
          <a:prstGeom prst="rect">
            <a:avLst/>
          </a:prstGeom>
          <a:noFill/>
        </p:spPr>
        <p:txBody>
          <a:bodyPr wrap="square" lIns="36576" rIns="36576" tIns="18288" bIns="18288" anchor="t">
            <a:spAutoFit/>
          </a:bodyPr>
          <a:lstStyle/>
          <a:p>
            <a:pPr algn="l">
              <a:spcAft>
                <a:spcPts val="0"/>
              </a:spcAft>
            </a:pPr>
            <a:r>
              <a:rPr sz="1000" b="0" i="0">
                <a:solidFill>
                  <a:srgbClr val="1A1A1A"/>
                </a:solidFill>
                <a:latin typeface="Calibri"/>
              </a:rPr>
              <a:t>Potential candidates from model outputs — not field-confirmed. </a:t>
            </a:r>
          </a:p>
          <a:p>
            <a:pPr algn="l">
              <a:spcAft>
                <a:spcPts val="0"/>
              </a:spcAft>
            </a:pPr>
            <a:r>
              <a:rPr sz="1000" b="0" i="1">
                <a:solidFill>
                  <a:srgbClr val="5A6370"/>
                </a:solidFill>
                <a:latin typeface="Calibri"/>
              </a:rPr>
              <a:t>No cost data yet, so candidates are ranked by connectivity gain.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28600"/>
            <a:ext cx="7863840" cy="868680"/>
          </a:xfrm>
        </p:spPr>
        <p:txBody>
          <a:bodyPr/>
          <a:lstStyle/>
          <a:p>
            <a:pPr algn="ctr"/>
            <a:r>
              <a:rPr sz="3200">
                <a:solidFill>
                  <a:srgbClr val="1A1A1A"/>
                </a:solidFill>
                <a:latin typeface="Calibri"/>
              </a:rPr>
              <a:t>Conclusion and Future Work</a:t>
            </a:r>
          </a:p>
        </p:txBody>
      </p:sp>
      <p:sp>
        <p:nvSpPr>
          <p:cNvPr id="3" name="Rounded Rectangle 2"/>
          <p:cNvSpPr/>
          <p:nvPr/>
        </p:nvSpPr>
        <p:spPr>
          <a:xfrm>
            <a:off x="1188720" y="1188720"/>
            <a:ext cx="1481328" cy="566928"/>
          </a:xfrm>
          <a:prstGeom prst="roundRect">
            <a:avLst>
              <a:gd name="adj" fmla="val 12000"/>
            </a:avLst>
          </a:prstGeom>
          <a:solidFill>
            <a:srgbClr val="EEF2F8"/>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D3889"/>
                </a:solidFill>
                <a:latin typeface="Calibri"/>
              </a:rPr>
              <a:t>Satellite data</a:t>
            </a:r>
          </a:p>
        </p:txBody>
      </p:sp>
      <p:sp>
        <p:nvSpPr>
          <p:cNvPr id="4" name="TextBox 3"/>
          <p:cNvSpPr txBox="1"/>
          <p:nvPr/>
        </p:nvSpPr>
        <p:spPr>
          <a:xfrm>
            <a:off x="2670048" y="1216152"/>
            <a:ext cx="365760" cy="502920"/>
          </a:xfrm>
          <a:prstGeom prst="rect">
            <a:avLst/>
          </a:prstGeom>
          <a:noFill/>
        </p:spPr>
        <p:txBody>
          <a:bodyPr wrap="square" lIns="36576" rIns="36576" tIns="18288" bIns="18288" anchor="t">
            <a:spAutoFit/>
          </a:bodyPr>
          <a:lstStyle/>
          <a:p>
            <a:pPr algn="ctr">
              <a:spcAft>
                <a:spcPts val="400"/>
              </a:spcAft>
            </a:pPr>
            <a:r>
              <a:rPr sz="2200" b="1" i="0">
                <a:solidFill>
                  <a:srgbClr val="0D3889"/>
                </a:solidFill>
                <a:latin typeface="Calibri"/>
              </a:rPr>
              <a:t>+</a:t>
            </a:r>
          </a:p>
        </p:txBody>
      </p:sp>
      <p:sp>
        <p:nvSpPr>
          <p:cNvPr id="5" name="Rounded Rectangle 4"/>
          <p:cNvSpPr/>
          <p:nvPr/>
        </p:nvSpPr>
        <p:spPr>
          <a:xfrm>
            <a:off x="3035808" y="1188720"/>
            <a:ext cx="1481328" cy="566928"/>
          </a:xfrm>
          <a:prstGeom prst="roundRect">
            <a:avLst>
              <a:gd name="adj" fmla="val 12000"/>
            </a:avLst>
          </a:prstGeom>
          <a:solidFill>
            <a:srgbClr val="EEF2F8"/>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D3889"/>
                </a:solidFill>
                <a:latin typeface="Calibri"/>
              </a:rPr>
              <a:t>AI habitat detection</a:t>
            </a:r>
          </a:p>
        </p:txBody>
      </p:sp>
      <p:sp>
        <p:nvSpPr>
          <p:cNvPr id="6" name="TextBox 5"/>
          <p:cNvSpPr txBox="1"/>
          <p:nvPr/>
        </p:nvSpPr>
        <p:spPr>
          <a:xfrm>
            <a:off x="4517136" y="1216152"/>
            <a:ext cx="365760" cy="502920"/>
          </a:xfrm>
          <a:prstGeom prst="rect">
            <a:avLst/>
          </a:prstGeom>
          <a:noFill/>
        </p:spPr>
        <p:txBody>
          <a:bodyPr wrap="square" lIns="36576" rIns="36576" tIns="18288" bIns="18288" anchor="t">
            <a:spAutoFit/>
          </a:bodyPr>
          <a:lstStyle/>
          <a:p>
            <a:pPr algn="ctr">
              <a:spcAft>
                <a:spcPts val="400"/>
              </a:spcAft>
            </a:pPr>
            <a:r>
              <a:rPr sz="2200" b="1" i="0">
                <a:solidFill>
                  <a:srgbClr val="0D3889"/>
                </a:solidFill>
                <a:latin typeface="Calibri"/>
              </a:rPr>
              <a:t>+</a:t>
            </a:r>
          </a:p>
        </p:txBody>
      </p:sp>
      <p:sp>
        <p:nvSpPr>
          <p:cNvPr id="7" name="Rounded Rectangle 6"/>
          <p:cNvSpPr/>
          <p:nvPr/>
        </p:nvSpPr>
        <p:spPr>
          <a:xfrm>
            <a:off x="4882896" y="1188720"/>
            <a:ext cx="1481328" cy="566928"/>
          </a:xfrm>
          <a:prstGeom prst="roundRect">
            <a:avLst>
              <a:gd name="adj" fmla="val 12000"/>
            </a:avLst>
          </a:prstGeom>
          <a:solidFill>
            <a:srgbClr val="EEF2F8"/>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D3889"/>
                </a:solidFill>
                <a:latin typeface="Calibri"/>
              </a:rPr>
              <a:t>Connectivity analysis</a:t>
            </a:r>
          </a:p>
        </p:txBody>
      </p:sp>
      <p:sp>
        <p:nvSpPr>
          <p:cNvPr id="8" name="TextBox 7"/>
          <p:cNvSpPr txBox="1"/>
          <p:nvPr/>
        </p:nvSpPr>
        <p:spPr>
          <a:xfrm>
            <a:off x="6364224" y="1216152"/>
            <a:ext cx="365760" cy="502920"/>
          </a:xfrm>
          <a:prstGeom prst="rect">
            <a:avLst/>
          </a:prstGeom>
          <a:noFill/>
        </p:spPr>
        <p:txBody>
          <a:bodyPr wrap="square" lIns="36576" rIns="36576" tIns="18288" bIns="18288" anchor="t">
            <a:spAutoFit/>
          </a:bodyPr>
          <a:lstStyle/>
          <a:p>
            <a:pPr algn="ctr">
              <a:spcAft>
                <a:spcPts val="400"/>
              </a:spcAft>
            </a:pPr>
            <a:r>
              <a:rPr sz="2200" b="1" i="0">
                <a:solidFill>
                  <a:srgbClr val="0D3889"/>
                </a:solidFill>
                <a:latin typeface="Calibri"/>
              </a:rPr>
              <a:t>+</a:t>
            </a:r>
          </a:p>
        </p:txBody>
      </p:sp>
      <p:sp>
        <p:nvSpPr>
          <p:cNvPr id="9" name="Rounded Rectangle 8"/>
          <p:cNvSpPr/>
          <p:nvPr/>
        </p:nvSpPr>
        <p:spPr>
          <a:xfrm>
            <a:off x="6729983" y="1188720"/>
            <a:ext cx="1481328" cy="566928"/>
          </a:xfrm>
          <a:prstGeom prst="roundRect">
            <a:avLst>
              <a:gd name="adj" fmla="val 12000"/>
            </a:avLst>
          </a:prstGeom>
          <a:solidFill>
            <a:srgbClr val="EEF2F8"/>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D3889"/>
                </a:solidFill>
                <a:latin typeface="Calibri"/>
              </a:rPr>
              <a:t>What-if scenarios</a:t>
            </a:r>
          </a:p>
        </p:txBody>
      </p:sp>
      <p:sp>
        <p:nvSpPr>
          <p:cNvPr id="10" name="Down Arrow 9"/>
          <p:cNvSpPr/>
          <p:nvPr/>
        </p:nvSpPr>
        <p:spPr>
          <a:xfrm>
            <a:off x="4846320" y="1847088"/>
            <a:ext cx="237744" cy="237744"/>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017520" y="2148840"/>
            <a:ext cx="3931920" cy="502920"/>
          </a:xfrm>
          <a:prstGeom prst="roundRect">
            <a:avLst>
              <a:gd name="adj" fmla="val 12000"/>
            </a:avLst>
          </a:prstGeom>
          <a:solidFill>
            <a:srgbClr val="0D3889"/>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FFFFFF"/>
                </a:solidFill>
                <a:latin typeface="Calibri"/>
              </a:rPr>
              <a:t>Support for coastal conservation decisions</a:t>
            </a:r>
          </a:p>
        </p:txBody>
      </p:sp>
      <p:sp>
        <p:nvSpPr>
          <p:cNvPr id="12" name="Rounded Rectangle 11"/>
          <p:cNvSpPr/>
          <p:nvPr/>
        </p:nvSpPr>
        <p:spPr>
          <a:xfrm>
            <a:off x="1188720" y="2880360"/>
            <a:ext cx="3703320" cy="214884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25880" y="2999232"/>
            <a:ext cx="365760" cy="365760"/>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4" name="TextBox 13"/>
          <p:cNvSpPr txBox="1"/>
          <p:nvPr/>
        </p:nvSpPr>
        <p:spPr>
          <a:xfrm>
            <a:off x="1783080" y="2999232"/>
            <a:ext cx="2926080" cy="384048"/>
          </a:xfrm>
          <a:prstGeom prst="rect">
            <a:avLst/>
          </a:prstGeom>
          <a:noFill/>
        </p:spPr>
        <p:txBody>
          <a:bodyPr wrap="square" lIns="36576" rIns="36576" tIns="18288" bIns="18288" anchor="t">
            <a:spAutoFit/>
          </a:bodyPr>
          <a:lstStyle/>
          <a:p>
            <a:pPr algn="l">
              <a:spcAft>
                <a:spcPts val="400"/>
              </a:spcAft>
            </a:pPr>
            <a:r>
              <a:rPr sz="1600" b="1" i="0">
                <a:solidFill>
                  <a:srgbClr val="D96A2B"/>
                </a:solidFill>
                <a:latin typeface="Calibri"/>
              </a:rPr>
              <a:t>Limitations</a:t>
            </a:r>
          </a:p>
        </p:txBody>
      </p:sp>
      <p:sp>
        <p:nvSpPr>
          <p:cNvPr id="15" name="Oval 14"/>
          <p:cNvSpPr/>
          <p:nvPr/>
        </p:nvSpPr>
        <p:spPr>
          <a:xfrm>
            <a:off x="1371600" y="3566160"/>
            <a:ext cx="82296" cy="82296"/>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36192" y="3474720"/>
            <a:ext cx="3246120" cy="50292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Current model is a development version</a:t>
            </a:r>
          </a:p>
        </p:txBody>
      </p:sp>
      <p:sp>
        <p:nvSpPr>
          <p:cNvPr id="17" name="Oval 16"/>
          <p:cNvSpPr/>
          <p:nvPr/>
        </p:nvSpPr>
        <p:spPr>
          <a:xfrm>
            <a:off x="1371600" y="4069079"/>
            <a:ext cx="82296" cy="82296"/>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536192" y="3977639"/>
            <a:ext cx="3246120" cy="50292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Reference labels are not field-verified ground truth</a:t>
            </a:r>
          </a:p>
        </p:txBody>
      </p:sp>
      <p:sp>
        <p:nvSpPr>
          <p:cNvPr id="19" name="Oval 18"/>
          <p:cNvSpPr/>
          <p:nvPr/>
        </p:nvSpPr>
        <p:spPr>
          <a:xfrm>
            <a:off x="1371600" y="4571999"/>
            <a:ext cx="82296" cy="82296"/>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536192" y="4480559"/>
            <a:ext cx="3246120" cy="50292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Field validation and real restoration cost data still needed</a:t>
            </a:r>
          </a:p>
        </p:txBody>
      </p:sp>
      <p:sp>
        <p:nvSpPr>
          <p:cNvPr id="21" name="Rounded Rectangle 20"/>
          <p:cNvSpPr/>
          <p:nvPr/>
        </p:nvSpPr>
        <p:spPr>
          <a:xfrm>
            <a:off x="5074920" y="2880360"/>
            <a:ext cx="3703320" cy="214884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212080" y="2999232"/>
            <a:ext cx="365760" cy="365760"/>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23" name="TextBox 22"/>
          <p:cNvSpPr txBox="1"/>
          <p:nvPr/>
        </p:nvSpPr>
        <p:spPr>
          <a:xfrm>
            <a:off x="5669280" y="2999232"/>
            <a:ext cx="2926080" cy="384048"/>
          </a:xfrm>
          <a:prstGeom prst="rect">
            <a:avLst/>
          </a:prstGeom>
          <a:noFill/>
        </p:spPr>
        <p:txBody>
          <a:bodyPr wrap="square" lIns="36576" rIns="36576" tIns="18288" bIns="18288" anchor="t">
            <a:spAutoFit/>
          </a:bodyPr>
          <a:lstStyle/>
          <a:p>
            <a:pPr algn="l">
              <a:spcAft>
                <a:spcPts val="400"/>
              </a:spcAft>
            </a:pPr>
            <a:r>
              <a:rPr sz="1600" b="1" i="0">
                <a:solidFill>
                  <a:srgbClr val="0E9E74"/>
                </a:solidFill>
                <a:latin typeface="Calibri"/>
              </a:rPr>
              <a:t>Future Work</a:t>
            </a:r>
          </a:p>
        </p:txBody>
      </p:sp>
      <p:sp>
        <p:nvSpPr>
          <p:cNvPr id="24" name="Oval 23"/>
          <p:cNvSpPr/>
          <p:nvPr/>
        </p:nvSpPr>
        <p:spPr>
          <a:xfrm>
            <a:off x="5257800" y="3566160"/>
            <a:ext cx="82296" cy="82296"/>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22392" y="3474720"/>
            <a:ext cx="3246120" cy="41148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Improve the model for each region (full UNB7 model)</a:t>
            </a:r>
          </a:p>
        </p:txBody>
      </p:sp>
      <p:sp>
        <p:nvSpPr>
          <p:cNvPr id="26" name="Oval 25"/>
          <p:cNvSpPr/>
          <p:nvPr/>
        </p:nvSpPr>
        <p:spPr>
          <a:xfrm>
            <a:off x="5257800" y="3950207"/>
            <a:ext cx="82296" cy="82296"/>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22392" y="3858768"/>
            <a:ext cx="3246120" cy="41148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Add field validation</a:t>
            </a:r>
          </a:p>
        </p:txBody>
      </p:sp>
      <p:sp>
        <p:nvSpPr>
          <p:cNvPr id="28" name="Oval 27"/>
          <p:cNvSpPr/>
          <p:nvPr/>
        </p:nvSpPr>
        <p:spPr>
          <a:xfrm>
            <a:off x="5257800" y="4334255"/>
            <a:ext cx="82296" cy="82296"/>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422392" y="4242816"/>
            <a:ext cx="3246120" cy="41148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Use real restoration cost information</a:t>
            </a:r>
          </a:p>
        </p:txBody>
      </p:sp>
      <p:sp>
        <p:nvSpPr>
          <p:cNvPr id="30" name="Oval 29"/>
          <p:cNvSpPr/>
          <p:nvPr/>
        </p:nvSpPr>
        <p:spPr>
          <a:xfrm>
            <a:off x="5257800" y="4718303"/>
            <a:ext cx="82296" cy="82296"/>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22392" y="4626864"/>
            <a:ext cx="3246120" cy="41148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Prepare the system for larger-scale use</a:t>
            </a:r>
          </a:p>
        </p:txBody>
      </p:sp>
      <p:sp>
        <p:nvSpPr>
          <p:cNvPr id="32" name="Rounded Rectangle 31"/>
          <p:cNvSpPr/>
          <p:nvPr/>
        </p:nvSpPr>
        <p:spPr>
          <a:xfrm>
            <a:off x="1188720" y="5193792"/>
            <a:ext cx="7589520" cy="457200"/>
          </a:xfrm>
          <a:prstGeom prst="roundRect">
            <a:avLst>
              <a:gd name="adj" fmla="val 18000"/>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i="1">
                <a:solidFill>
                  <a:srgbClr val="FFD54A"/>
                </a:solidFill>
                <a:latin typeface="Calibri"/>
              </a:rPr>
              <a:t>From mapping habitat to understanding which habitat matters.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